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81" r:id="rId13"/>
    <p:sldId id="267" r:id="rId14"/>
    <p:sldId id="268" r:id="rId15"/>
    <p:sldId id="270" r:id="rId16"/>
    <p:sldId id="269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2" r:id="rId27"/>
    <p:sldId id="283" r:id="rId28"/>
    <p:sldId id="284" r:id="rId29"/>
    <p:sldId id="280" r:id="rId30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4" Type="http://schemas.openxmlformats.org/officeDocument/2006/relationships/image" Target="../media/image7.wmf"/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6.vml.rels><?xml version="1.0" encoding="UTF-8" standalone="yes"?>
<Relationships xmlns="http://schemas.openxmlformats.org/package/2006/relationships"><Relationship Id="rId4" Type="http://schemas.openxmlformats.org/officeDocument/2006/relationships/image" Target="../media/image19.wmf"/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10.vml.rels><?xml version="1.0" encoding="UTF-8" standalone="yes"?>
<Relationships xmlns="http://schemas.openxmlformats.org/package/2006/relationships"><Relationship Id="rId6" Type="http://schemas.openxmlformats.org/officeDocument/2006/relationships/image" Target="../media/image29.wmf"/><Relationship Id="rId5" Type="http://schemas.openxmlformats.org/officeDocument/2006/relationships/image" Target="../media/image28.wmf"/><Relationship Id="rId4" Type="http://schemas.openxmlformats.org/officeDocument/2006/relationships/image" Target="../media/image27.wmf"/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7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6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5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4.wmf"/><Relationship Id="rId10" Type="http://schemas.openxmlformats.org/officeDocument/2006/relationships/vmlDrawing" Target="../drawings/vmlDrawing1.vml"/><Relationship Id="rId1" Type="http://schemas.openxmlformats.org/officeDocument/2006/relationships/oleObject" Target="../embeddings/oleObject1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9.wmf"/><Relationship Id="rId3" Type="http://schemas.openxmlformats.org/officeDocument/2006/relationships/oleObject" Target="../embeddings/oleObject6.bin"/><Relationship Id="rId2" Type="http://schemas.openxmlformats.org/officeDocument/2006/relationships/image" Target="../media/image8.wmf"/><Relationship Id="rId1" Type="http://schemas.openxmlformats.org/officeDocument/2006/relationships/oleObject" Target="../embeddings/oleObject5.bin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1.wmf"/><Relationship Id="rId3" Type="http://schemas.openxmlformats.org/officeDocument/2006/relationships/oleObject" Target="../embeddings/oleObject8.bin"/><Relationship Id="rId2" Type="http://schemas.openxmlformats.org/officeDocument/2006/relationships/image" Target="../media/image10.wmf"/><Relationship Id="rId1" Type="http://schemas.openxmlformats.org/officeDocument/2006/relationships/oleObject" Target="../embeddings/oleObject7.bin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4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3.wmf"/><Relationship Id="rId3" Type="http://schemas.openxmlformats.org/officeDocument/2006/relationships/oleObject" Target="../embeddings/oleObject10.bin"/><Relationship Id="rId2" Type="http://schemas.openxmlformats.org/officeDocument/2006/relationships/image" Target="../media/image12.wmf"/><Relationship Id="rId1" Type="http://schemas.openxmlformats.org/officeDocument/2006/relationships/oleObject" Target="../embeddings/oleObject9.bin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wmf"/><Relationship Id="rId1" Type="http://schemas.openxmlformats.org/officeDocument/2006/relationships/oleObject" Target="../embeddings/oleObject12.bin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9.wmf"/><Relationship Id="rId7" Type="http://schemas.openxmlformats.org/officeDocument/2006/relationships/oleObject" Target="../embeddings/oleObject16.bin"/><Relationship Id="rId6" Type="http://schemas.openxmlformats.org/officeDocument/2006/relationships/image" Target="../media/image18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7.wmf"/><Relationship Id="rId3" Type="http://schemas.openxmlformats.org/officeDocument/2006/relationships/oleObject" Target="../embeddings/oleObject14.bin"/><Relationship Id="rId2" Type="http://schemas.openxmlformats.org/officeDocument/2006/relationships/image" Target="../media/image16.wmf"/><Relationship Id="rId10" Type="http://schemas.openxmlformats.org/officeDocument/2006/relationships/vmlDrawing" Target="../drawings/vmlDrawing6.vml"/><Relationship Id="rId1" Type="http://schemas.openxmlformats.org/officeDocument/2006/relationships/oleObject" Target="../embeddings/oleObject13.bin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0.wmf"/><Relationship Id="rId1" Type="http://schemas.openxmlformats.org/officeDocument/2006/relationships/oleObject" Target="../embeddings/oleObject17.bin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8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1.wmf"/><Relationship Id="rId1" Type="http://schemas.openxmlformats.org/officeDocument/2006/relationships/oleObject" Target="../embeddings/oleObject18.bin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9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3.wmf"/><Relationship Id="rId3" Type="http://schemas.openxmlformats.org/officeDocument/2006/relationships/oleObject" Target="../embeddings/oleObject20.bin"/><Relationship Id="rId2" Type="http://schemas.openxmlformats.org/officeDocument/2006/relationships/image" Target="../media/image22.wmf"/><Relationship Id="rId1" Type="http://schemas.openxmlformats.org/officeDocument/2006/relationships/oleObject" Target="../embeddings/oleObject19.bin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5.bin"/><Relationship Id="rId8" Type="http://schemas.openxmlformats.org/officeDocument/2006/relationships/image" Target="../media/image27.wmf"/><Relationship Id="rId7" Type="http://schemas.openxmlformats.org/officeDocument/2006/relationships/oleObject" Target="../embeddings/oleObject24.bin"/><Relationship Id="rId6" Type="http://schemas.openxmlformats.org/officeDocument/2006/relationships/image" Target="../media/image26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25.wmf"/><Relationship Id="rId3" Type="http://schemas.openxmlformats.org/officeDocument/2006/relationships/oleObject" Target="../embeddings/oleObject22.bin"/><Relationship Id="rId2" Type="http://schemas.openxmlformats.org/officeDocument/2006/relationships/image" Target="../media/image24.wmf"/><Relationship Id="rId16" Type="http://schemas.openxmlformats.org/officeDocument/2006/relationships/vmlDrawing" Target="../drawings/vmlDrawing10.vml"/><Relationship Id="rId15" Type="http://schemas.openxmlformats.org/officeDocument/2006/relationships/slideLayout" Target="../slideLayouts/slideLayout7.xml"/><Relationship Id="rId14" Type="http://schemas.openxmlformats.org/officeDocument/2006/relationships/oleObject" Target="../embeddings/oleObject28.bin"/><Relationship Id="rId13" Type="http://schemas.openxmlformats.org/officeDocument/2006/relationships/image" Target="../media/image29.wmf"/><Relationship Id="rId12" Type="http://schemas.openxmlformats.org/officeDocument/2006/relationships/oleObject" Target="../embeddings/oleObject27.bin"/><Relationship Id="rId11" Type="http://schemas.openxmlformats.org/officeDocument/2006/relationships/image" Target="../media/image28.wmf"/><Relationship Id="rId10" Type="http://schemas.openxmlformats.org/officeDocument/2006/relationships/oleObject" Target="../embeddings/oleObject26.bin"/><Relationship Id="rId1" Type="http://schemas.openxmlformats.org/officeDocument/2006/relationships/oleObject" Target="../embeddings/oleObject21.bin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 sz="4000" b="1">
                <a:latin typeface="宋体" panose="02010600030101010101" pitchFamily="2" charset="-122"/>
                <a:ea typeface="宋体" panose="02010600030101010101" pitchFamily="2" charset="-122"/>
              </a:rPr>
              <a:t>算法竞赛中的二分图和数论（选讲）</a:t>
            </a:r>
            <a:endParaRPr lang="zh-CN" altLang="en-US" sz="40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altLang="zh-CN"/>
              <a:t>						</a:t>
            </a:r>
            <a:r>
              <a:rPr lang="en-US" altLang="zh-CN" sz="2800"/>
              <a:t>by HRY</a:t>
            </a:r>
            <a:endParaRPr lang="en-US" altLang="zh-CN" sz="2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1007745" y="842010"/>
            <a:ext cx="1004506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/>
              <a:t>图（</a:t>
            </a:r>
            <a:r>
              <a:rPr lang="en-US" altLang="zh-CN" sz="2400"/>
              <a:t>graph</a:t>
            </a:r>
            <a:r>
              <a:rPr lang="zh-CN" altLang="en-US" sz="2400"/>
              <a:t>）是指图论中研究的由若干给定的</a:t>
            </a:r>
            <a:r>
              <a:rPr lang="zh-CN" altLang="en-US" sz="2400" b="1"/>
              <a:t>点</a:t>
            </a:r>
            <a:r>
              <a:rPr lang="zh-CN" altLang="en-US" sz="2400"/>
              <a:t>和</a:t>
            </a:r>
            <a:r>
              <a:rPr lang="zh-CN" altLang="en-US" sz="2400" b="1"/>
              <a:t>连接两点的边</a:t>
            </a:r>
            <a:r>
              <a:rPr lang="zh-CN" altLang="en-US" sz="2400"/>
              <a:t>构成的图形</a:t>
            </a:r>
            <a:endParaRPr lang="zh-CN" altLang="en-US" sz="2400"/>
          </a:p>
        </p:txBody>
      </p:sp>
      <p:sp>
        <p:nvSpPr>
          <p:cNvPr id="4" name="文本框 3"/>
          <p:cNvSpPr txBox="1"/>
          <p:nvPr/>
        </p:nvSpPr>
        <p:spPr>
          <a:xfrm>
            <a:off x="1007745" y="2092325"/>
            <a:ext cx="3535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/>
              <a:t>二分图则是一种特殊的图</a:t>
            </a:r>
            <a:endParaRPr lang="zh-CN" altLang="en-US" sz="2400"/>
          </a:p>
        </p:txBody>
      </p:sp>
      <p:sp>
        <p:nvSpPr>
          <p:cNvPr id="5" name="文本框 4"/>
          <p:cNvSpPr txBox="1"/>
          <p:nvPr/>
        </p:nvSpPr>
        <p:spPr>
          <a:xfrm>
            <a:off x="1007745" y="3606165"/>
            <a:ext cx="10090785" cy="156845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/>
              <a:t>设</a:t>
            </a:r>
            <a:r>
              <a:rPr lang="en-US" altLang="zh-CN" sz="2400"/>
              <a:t>G=( V, E)</a:t>
            </a:r>
            <a:r>
              <a:rPr lang="zh-CN" altLang="en-US" sz="2400"/>
              <a:t>是一个无向图，如果顶点集</a:t>
            </a:r>
            <a:r>
              <a:rPr lang="en-US" altLang="zh-CN" sz="2400"/>
              <a:t>V</a:t>
            </a:r>
            <a:r>
              <a:rPr lang="zh-CN" altLang="en-US" sz="2400"/>
              <a:t>可以分割成两个不相交的点集</a:t>
            </a:r>
            <a:r>
              <a:rPr lang="en-US" altLang="zh-CN" sz="2400"/>
              <a:t>A,B</a:t>
            </a:r>
            <a:r>
              <a:rPr lang="zh-CN" altLang="en-US" sz="2400"/>
              <a:t>，</a:t>
            </a:r>
            <a:endParaRPr lang="zh-CN" altLang="en-US" sz="2400"/>
          </a:p>
          <a:p>
            <a:r>
              <a:rPr lang="zh-CN" altLang="en-US" sz="2400"/>
              <a:t>并且图中的所有边都是连接</a:t>
            </a:r>
            <a:r>
              <a:rPr lang="en-US" altLang="zh-CN" sz="2400"/>
              <a:t>A</a:t>
            </a:r>
            <a:r>
              <a:rPr lang="zh-CN" altLang="en-US" sz="2400"/>
              <a:t>中的点和</a:t>
            </a:r>
            <a:r>
              <a:rPr lang="en-US" altLang="zh-CN" sz="2400"/>
              <a:t>B</a:t>
            </a:r>
            <a:r>
              <a:rPr lang="zh-CN" altLang="en-US" sz="2400"/>
              <a:t>中的点，则称图</a:t>
            </a:r>
            <a:r>
              <a:rPr lang="en-US" altLang="zh-CN" sz="2400"/>
              <a:t>G</a:t>
            </a:r>
            <a:r>
              <a:rPr lang="zh-CN" altLang="en-US" sz="2400"/>
              <a:t>是一个二分图。</a:t>
            </a:r>
            <a:endParaRPr lang="zh-CN" altLang="en-US" sz="2400"/>
          </a:p>
          <a:p>
            <a:r>
              <a:rPr lang="zh-CN" altLang="en-US" sz="2400"/>
              <a:t>二分图的最小染色数是</a:t>
            </a:r>
            <a:r>
              <a:rPr lang="en-US" altLang="zh-CN" sz="2400"/>
              <a:t>2</a:t>
            </a:r>
            <a:r>
              <a:rPr lang="zh-CN" altLang="en-US" sz="2400"/>
              <a:t>，也就是说用两种颜色给二分图染色，可以使相邻</a:t>
            </a:r>
            <a:endParaRPr lang="zh-CN" altLang="en-US" sz="2400"/>
          </a:p>
          <a:p>
            <a:r>
              <a:rPr lang="zh-CN" altLang="en-US" sz="2400"/>
              <a:t>顶点颜色均不同。</a:t>
            </a:r>
            <a:endParaRPr lang="zh-CN" altLang="en-US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113155" y="1065530"/>
            <a:ext cx="340042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b="1">
                <a:latin typeface="+mj-ea"/>
                <a:ea typeface="+mj-ea"/>
              </a:rPr>
              <a:t>一个二分图的例子：</a:t>
            </a:r>
            <a:endParaRPr lang="zh-CN" altLang="en-US" sz="2800" b="1">
              <a:latin typeface="+mj-ea"/>
              <a:ea typeface="+mj-ea"/>
            </a:endParaRPr>
          </a:p>
        </p:txBody>
      </p:sp>
      <p:pic>
        <p:nvPicPr>
          <p:cNvPr id="3" name="图片 2" descr="GWM~F24)OE$IRUF5%YTXYS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8215" y="2046605"/>
            <a:ext cx="8803005" cy="33064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639570" y="1065530"/>
            <a:ext cx="30276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/>
              <a:t>二染色之后的图：</a:t>
            </a:r>
            <a:endParaRPr lang="zh-CN" altLang="en-US" sz="2800"/>
          </a:p>
        </p:txBody>
      </p:sp>
      <p:pic>
        <p:nvPicPr>
          <p:cNvPr id="3" name="图片 2" descr="BCUGTV}4VY%2I[2U}NKQPI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6640" y="2224405"/>
            <a:ext cx="8723630" cy="32175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488440" y="1236980"/>
            <a:ext cx="32308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/>
              <a:t>如何进行二分图判定？</a:t>
            </a:r>
            <a:endParaRPr lang="zh-CN" altLang="en-US" sz="2400"/>
          </a:p>
        </p:txBody>
      </p:sp>
      <p:sp>
        <p:nvSpPr>
          <p:cNvPr id="3" name="文本框 2"/>
          <p:cNvSpPr txBox="1"/>
          <p:nvPr/>
        </p:nvSpPr>
        <p:spPr>
          <a:xfrm>
            <a:off x="1488440" y="2842895"/>
            <a:ext cx="10241280" cy="11988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我们知道能够二染色是二分图的充要条件，那么可以利用二染色的性质，使用两种颜色给图染色。</a:t>
            </a:r>
            <a:endParaRPr lang="zh-CN" altLang="en-US"/>
          </a:p>
          <a:p>
            <a:r>
              <a:rPr lang="zh-CN" altLang="en-US"/>
              <a:t>确定一个点的颜色之后，与该点相邻的点的颜色全部能够确定。因此可以任意选择图中一个点出发，</a:t>
            </a:r>
            <a:endParaRPr lang="zh-CN" altLang="en-US"/>
          </a:p>
          <a:p>
            <a:r>
              <a:rPr lang="zh-CN" altLang="en-US"/>
              <a:t>依次确定相邻点的颜色，如果出现矛盾则判定为非二分图，否则判定为二分图。这个过程可以很容易</a:t>
            </a:r>
            <a:endParaRPr lang="zh-CN" altLang="en-US"/>
          </a:p>
          <a:p>
            <a:r>
              <a:rPr lang="zh-CN" altLang="en-US"/>
              <a:t>用</a:t>
            </a:r>
            <a:r>
              <a:rPr lang="en-US" altLang="zh-CN"/>
              <a:t>DFS</a:t>
            </a:r>
            <a:r>
              <a:rPr lang="zh-CN" altLang="en-US"/>
              <a:t>或</a:t>
            </a:r>
            <a:r>
              <a:rPr lang="en-US" altLang="zh-CN"/>
              <a:t>BFS</a:t>
            </a:r>
            <a:r>
              <a:rPr lang="zh-CN" altLang="en-US"/>
              <a:t>来完成。时间复杂度为</a:t>
            </a:r>
            <a:r>
              <a:rPr lang="en-US" altLang="zh-CN"/>
              <a:t>O(V+E)</a:t>
            </a:r>
            <a:endParaRPr lang="en-US" alt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606550" y="1289685"/>
            <a:ext cx="591566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二分图上的两种问题：</a:t>
            </a:r>
            <a:r>
              <a:rPr lang="zh-CN" altLang="en-US" b="1"/>
              <a:t>二分图匹配</a:t>
            </a:r>
            <a:r>
              <a:rPr lang="zh-CN" altLang="en-US"/>
              <a:t>和</a:t>
            </a:r>
            <a:r>
              <a:rPr lang="zh-CN" altLang="en-US" b="1"/>
              <a:t>二分图最大权值匹配</a:t>
            </a:r>
            <a:endParaRPr lang="zh-CN" altLang="en-US" b="1"/>
          </a:p>
        </p:txBody>
      </p:sp>
      <p:sp>
        <p:nvSpPr>
          <p:cNvPr id="3" name="文本框 2"/>
          <p:cNvSpPr txBox="1"/>
          <p:nvPr/>
        </p:nvSpPr>
        <p:spPr>
          <a:xfrm>
            <a:off x="1606550" y="2645410"/>
            <a:ext cx="875411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二分图匹配是指一个原图</a:t>
            </a:r>
            <a:r>
              <a:rPr lang="en-US" altLang="zh-CN"/>
              <a:t>G</a:t>
            </a:r>
            <a:r>
              <a:rPr lang="zh-CN" altLang="en-US"/>
              <a:t>（</a:t>
            </a:r>
            <a:r>
              <a:rPr lang="en-US" altLang="zh-CN"/>
              <a:t>V,E </a:t>
            </a:r>
            <a:r>
              <a:rPr lang="zh-CN" altLang="en-US"/>
              <a:t>）中的一个边集</a:t>
            </a:r>
            <a:r>
              <a:rPr lang="en-US" altLang="zh-CN"/>
              <a:t>E'</a:t>
            </a:r>
            <a:r>
              <a:rPr lang="zh-CN" altLang="en-US"/>
              <a:t>，</a:t>
            </a:r>
            <a:r>
              <a:rPr lang="en-US" altLang="zh-CN"/>
              <a:t>E'</a:t>
            </a:r>
            <a:r>
              <a:rPr lang="zh-CN" altLang="en-US"/>
              <a:t>中所有边都不指向同一个顶点。</a:t>
            </a:r>
            <a:endParaRPr lang="zh-CN" altLang="en-US"/>
          </a:p>
          <a:p>
            <a:r>
              <a:rPr lang="zh-CN" altLang="en-US"/>
              <a:t>一般需要求二分图最大匹配，也就是使</a:t>
            </a:r>
            <a:r>
              <a:rPr lang="en-US" altLang="zh-CN"/>
              <a:t>E'</a:t>
            </a:r>
            <a:r>
              <a:rPr lang="zh-CN" altLang="en-US"/>
              <a:t>中</a:t>
            </a:r>
            <a:r>
              <a:rPr lang="zh-CN" altLang="en-US" b="1"/>
              <a:t>边数</a:t>
            </a:r>
            <a:r>
              <a:rPr lang="zh-CN" altLang="en-US"/>
              <a:t>最多</a:t>
            </a:r>
            <a:r>
              <a:rPr lang="zh-CN" altLang="en-US"/>
              <a:t>。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606550" y="4382770"/>
            <a:ext cx="874141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二分图最大权值匹配是指二分图中每条边赋有一个权值，求一个匹配</a:t>
            </a:r>
            <a:r>
              <a:rPr lang="en-US" altLang="zh-CN"/>
              <a:t>E'</a:t>
            </a:r>
            <a:r>
              <a:rPr lang="zh-CN" altLang="en-US"/>
              <a:t>是</a:t>
            </a:r>
            <a:r>
              <a:rPr lang="en-US" altLang="zh-CN"/>
              <a:t>E'</a:t>
            </a:r>
            <a:r>
              <a:rPr lang="zh-CN" altLang="en-US"/>
              <a:t>中</a:t>
            </a:r>
            <a:r>
              <a:rPr lang="zh-CN" altLang="en-US" b="1"/>
              <a:t>所有边的</a:t>
            </a:r>
            <a:endParaRPr lang="zh-CN" altLang="en-US" b="1"/>
          </a:p>
          <a:p>
            <a:r>
              <a:rPr lang="zh-CN" altLang="en-US" b="1"/>
              <a:t>权值的和</a:t>
            </a:r>
            <a:r>
              <a:rPr lang="zh-CN" altLang="en-US"/>
              <a:t>最大。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593215" y="1263015"/>
            <a:ext cx="2621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/>
              <a:t>一个二分图匹配：</a:t>
            </a:r>
            <a:endParaRPr lang="zh-CN" altLang="en-US" sz="2400"/>
          </a:p>
        </p:txBody>
      </p:sp>
      <p:pic>
        <p:nvPicPr>
          <p:cNvPr id="3" name="图片 2" descr="`@G]`BDE_[B{KD%)}({)OK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8705" y="2073910"/>
            <a:ext cx="8437245" cy="33102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395730" y="1329055"/>
            <a:ext cx="783463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/>
              <a:t>二分图最大匹配可以使用匈牙利算法或最大流算法来解决</a:t>
            </a:r>
            <a:endParaRPr lang="zh-CN" altLang="en-US" sz="2400" b="1"/>
          </a:p>
        </p:txBody>
      </p:sp>
      <p:sp>
        <p:nvSpPr>
          <p:cNvPr id="3" name="文本框 2"/>
          <p:cNvSpPr txBox="1"/>
          <p:nvPr/>
        </p:nvSpPr>
        <p:spPr>
          <a:xfrm>
            <a:off x="1395730" y="3244850"/>
            <a:ext cx="826833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/>
              <a:t>二分图最大权值匹配可以使用</a:t>
            </a:r>
            <a:r>
              <a:rPr lang="en-US" altLang="zh-CN" sz="2400" b="1"/>
              <a:t>KM</a:t>
            </a:r>
            <a:r>
              <a:rPr lang="zh-CN" altLang="en-US" sz="2400" b="1"/>
              <a:t>算法或最小费用流算法解决</a:t>
            </a:r>
            <a:endParaRPr lang="zh-CN" altLang="en-US" sz="2400"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527810" y="751840"/>
            <a:ext cx="8629650" cy="56311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>
                <a:latin typeface="Consolas" panose="020B0609020204030204" charset="0"/>
              </a:rPr>
              <a:t>const int N=100;</a:t>
            </a:r>
            <a:endParaRPr lang="zh-CN" altLang="en-US">
              <a:latin typeface="Consolas" panose="020B0609020204030204" charset="0"/>
            </a:endParaRPr>
          </a:p>
          <a:p>
            <a:pPr algn="l"/>
            <a:r>
              <a:rPr lang="zh-CN" altLang="en-US">
                <a:latin typeface="Consolas" panose="020B0609020204030204" charset="0"/>
              </a:rPr>
              <a:t>vector&lt;int&gt;G[N];</a:t>
            </a:r>
            <a:endParaRPr lang="zh-CN" altLang="en-US">
              <a:latin typeface="Consolas" panose="020B0609020204030204" charset="0"/>
            </a:endParaRPr>
          </a:p>
          <a:p>
            <a:pPr algn="l"/>
            <a:r>
              <a:rPr lang="zh-CN" altLang="en-US">
                <a:latin typeface="Consolas" panose="020B0609020204030204" charset="0"/>
              </a:rPr>
              <a:t>//col数组的值是0，表示i点没有被经历过，是1表示染成白色，是2表示染成黑色。</a:t>
            </a:r>
            <a:endParaRPr lang="zh-CN" altLang="en-US">
              <a:latin typeface="Consolas" panose="020B0609020204030204" charset="0"/>
            </a:endParaRPr>
          </a:p>
          <a:p>
            <a:pPr algn="l"/>
            <a:r>
              <a:rPr lang="zh-CN" altLang="en-US">
                <a:latin typeface="Consolas" panose="020B0609020204030204" charset="0"/>
              </a:rPr>
              <a:t>int col[N];</a:t>
            </a:r>
            <a:endParaRPr lang="zh-CN" altLang="en-US">
              <a:latin typeface="Consolas" panose="020B0609020204030204" charset="0"/>
            </a:endParaRPr>
          </a:p>
          <a:p>
            <a:pPr algn="l"/>
            <a:endParaRPr lang="zh-CN" altLang="en-US">
              <a:latin typeface="Consolas" panose="020B0609020204030204" charset="0"/>
            </a:endParaRPr>
          </a:p>
          <a:p>
            <a:pPr algn="l"/>
            <a:r>
              <a:rPr lang="zh-CN" altLang="en-US">
                <a:latin typeface="Consolas" panose="020B0609020204030204" charset="0"/>
              </a:rPr>
              <a:t>//返回值为0说明不是二分图</a:t>
            </a:r>
            <a:endParaRPr lang="zh-CN" altLang="en-US">
              <a:latin typeface="Consolas" panose="020B0609020204030204" charset="0"/>
            </a:endParaRPr>
          </a:p>
          <a:p>
            <a:pPr algn="l"/>
            <a:r>
              <a:rPr lang="zh-CN" altLang="en-US">
                <a:latin typeface="Consolas" panose="020B0609020204030204" charset="0"/>
              </a:rPr>
              <a:t>bool dfs(int u){</a:t>
            </a:r>
            <a:endParaRPr lang="zh-CN" altLang="en-US">
              <a:latin typeface="Consolas" panose="020B0609020204030204" charset="0"/>
            </a:endParaRPr>
          </a:p>
          <a:p>
            <a:pPr algn="l"/>
            <a:r>
              <a:rPr lang="zh-CN" altLang="en-US">
                <a:latin typeface="Consolas" panose="020B0609020204030204" charset="0"/>
              </a:rPr>
              <a:t>	for(int i=0;i&lt;G[u].size();i++){</a:t>
            </a:r>
            <a:endParaRPr lang="zh-CN" altLang="en-US">
              <a:latin typeface="Consolas" panose="020B0609020204030204" charset="0"/>
            </a:endParaRPr>
          </a:p>
          <a:p>
            <a:pPr algn="l"/>
            <a:r>
              <a:rPr lang="zh-CN" altLang="en-US">
                <a:latin typeface="Consolas" panose="020B0609020204030204" charset="0"/>
              </a:rPr>
              <a:t>		int v=G[u][i];</a:t>
            </a:r>
            <a:endParaRPr lang="zh-CN" altLang="en-US">
              <a:latin typeface="Consolas" panose="020B0609020204030204" charset="0"/>
            </a:endParaRPr>
          </a:p>
          <a:p>
            <a:pPr algn="l"/>
            <a:r>
              <a:rPr lang="zh-CN" altLang="en-US">
                <a:latin typeface="Consolas" panose="020B0609020204030204" charset="0"/>
              </a:rPr>
              <a:t>		if(col[v]==0){</a:t>
            </a:r>
            <a:endParaRPr lang="zh-CN" altLang="en-US">
              <a:latin typeface="Consolas" panose="020B0609020204030204" charset="0"/>
            </a:endParaRPr>
          </a:p>
          <a:p>
            <a:pPr algn="l"/>
            <a:r>
              <a:rPr lang="zh-CN" altLang="en-US">
                <a:latin typeface="Consolas" panose="020B0609020204030204" charset="0"/>
              </a:rPr>
              <a:t>			col[v]=3-col[u];</a:t>
            </a:r>
            <a:endParaRPr lang="zh-CN" altLang="en-US">
              <a:latin typeface="Consolas" panose="020B0609020204030204" charset="0"/>
            </a:endParaRPr>
          </a:p>
          <a:p>
            <a:pPr algn="l"/>
            <a:r>
              <a:rPr lang="zh-CN" altLang="en-US">
                <a:latin typeface="Consolas" panose="020B0609020204030204" charset="0"/>
              </a:rPr>
              <a:t>			if(!dfs(v)) return 0;</a:t>
            </a:r>
            <a:endParaRPr lang="zh-CN" altLang="en-US">
              <a:latin typeface="Consolas" panose="020B0609020204030204" charset="0"/>
            </a:endParaRPr>
          </a:p>
          <a:p>
            <a:pPr algn="l"/>
            <a:r>
              <a:rPr lang="zh-CN" altLang="en-US">
                <a:latin typeface="Consolas" panose="020B0609020204030204" charset="0"/>
              </a:rPr>
              <a:t>		}</a:t>
            </a:r>
            <a:endParaRPr lang="zh-CN" altLang="en-US">
              <a:latin typeface="Consolas" panose="020B0609020204030204" charset="0"/>
            </a:endParaRPr>
          </a:p>
          <a:p>
            <a:pPr algn="l"/>
            <a:r>
              <a:rPr lang="zh-CN" altLang="en-US">
                <a:latin typeface="Consolas" panose="020B0609020204030204" charset="0"/>
              </a:rPr>
              <a:t>		else{</a:t>
            </a:r>
            <a:endParaRPr lang="zh-CN" altLang="en-US">
              <a:latin typeface="Consolas" panose="020B0609020204030204" charset="0"/>
            </a:endParaRPr>
          </a:p>
          <a:p>
            <a:pPr algn="l"/>
            <a:r>
              <a:rPr lang="en-US" altLang="zh-CN">
                <a:latin typeface="Consolas" panose="020B0609020204030204" charset="0"/>
              </a:rPr>
              <a:t>			</a:t>
            </a:r>
            <a:r>
              <a:rPr lang="zh-CN" altLang="en-US">
                <a:latin typeface="Consolas" panose="020B0609020204030204" charset="0"/>
                <a:sym typeface="+mn-ea"/>
              </a:rPr>
              <a:t>//说明u,v两点颜色一样</a:t>
            </a:r>
            <a:endParaRPr lang="en-US" altLang="zh-CN">
              <a:latin typeface="Consolas" panose="020B0609020204030204" charset="0"/>
            </a:endParaRPr>
          </a:p>
          <a:p>
            <a:pPr algn="l"/>
            <a:r>
              <a:rPr lang="zh-CN" altLang="en-US">
                <a:latin typeface="Consolas" panose="020B0609020204030204" charset="0"/>
              </a:rPr>
              <a:t>			if(col[u]+col[v]!=3) return 0; </a:t>
            </a:r>
            <a:endParaRPr lang="zh-CN" altLang="en-US">
              <a:latin typeface="Consolas" panose="020B0609020204030204" charset="0"/>
            </a:endParaRPr>
          </a:p>
          <a:p>
            <a:pPr algn="l"/>
            <a:r>
              <a:rPr lang="zh-CN" altLang="en-US">
                <a:latin typeface="Consolas" panose="020B0609020204030204" charset="0"/>
              </a:rPr>
              <a:t>		}</a:t>
            </a:r>
            <a:endParaRPr lang="zh-CN" altLang="en-US">
              <a:latin typeface="Consolas" panose="020B0609020204030204" charset="0"/>
            </a:endParaRPr>
          </a:p>
          <a:p>
            <a:pPr algn="l"/>
            <a:r>
              <a:rPr lang="zh-CN" altLang="en-US">
                <a:latin typeface="Consolas" panose="020B0609020204030204" charset="0"/>
              </a:rPr>
              <a:t>	}</a:t>
            </a:r>
            <a:endParaRPr lang="zh-CN" altLang="en-US">
              <a:latin typeface="Consolas" panose="020B0609020204030204" charset="0"/>
            </a:endParaRPr>
          </a:p>
          <a:p>
            <a:pPr algn="l"/>
            <a:r>
              <a:rPr lang="zh-CN" altLang="en-US">
                <a:latin typeface="Consolas" panose="020B0609020204030204" charset="0"/>
              </a:rPr>
              <a:t>	return 1;</a:t>
            </a:r>
            <a:endParaRPr lang="zh-CN" altLang="en-US">
              <a:latin typeface="Consolas" panose="020B0609020204030204" charset="0"/>
            </a:endParaRPr>
          </a:p>
          <a:p>
            <a:pPr algn="l"/>
            <a:r>
              <a:rPr lang="zh-CN" altLang="en-US">
                <a:latin typeface="Consolas" panose="020B0609020204030204" charset="0"/>
              </a:rPr>
              <a:t>}</a:t>
            </a:r>
            <a:endParaRPr lang="zh-CN" altLang="en-US">
              <a:latin typeface="Consolas" panose="020B06090202040302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672590" y="1513205"/>
            <a:ext cx="658050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400" b="1"/>
              <a:t>数论？开局一个</a:t>
            </a:r>
            <a:r>
              <a:rPr lang="en-US" altLang="zh-CN" sz="2400" b="1"/>
              <a:t>GCD</a:t>
            </a:r>
            <a:r>
              <a:rPr lang="zh-CN" altLang="en-US" sz="2400" b="1"/>
              <a:t>，剩下全靠想象力 (￣ε(#￣)</a:t>
            </a:r>
            <a:endParaRPr lang="zh-CN" altLang="en-US" sz="2400" b="1"/>
          </a:p>
        </p:txBody>
      </p:sp>
      <p:sp>
        <p:nvSpPr>
          <p:cNvPr id="3" name="文本框 2"/>
          <p:cNvSpPr txBox="1"/>
          <p:nvPr/>
        </p:nvSpPr>
        <p:spPr>
          <a:xfrm>
            <a:off x="1672590" y="2987675"/>
            <a:ext cx="675703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/>
              <a:t>首先推荐一个有众多数论题的</a:t>
            </a:r>
            <a:r>
              <a:rPr lang="en-US" altLang="zh-CN" sz="2400"/>
              <a:t>OJ: </a:t>
            </a:r>
            <a:r>
              <a:rPr lang="en-US" altLang="zh-CN" sz="2400" b="1"/>
              <a:t>www.51nod.com</a:t>
            </a:r>
            <a:endParaRPr lang="en-US" altLang="zh-CN" sz="2400"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428750" y="868045"/>
            <a:ext cx="5669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这里我们首先介绍一些数论公式里面常用的几个符号：</a:t>
            </a:r>
            <a:endParaRPr lang="zh-CN" altLang="en-US"/>
          </a:p>
        </p:txBody>
      </p:sp>
      <p:graphicFrame>
        <p:nvGraphicFramePr>
          <p:cNvPr id="3" name="对象 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593850" y="1427480"/>
          <a:ext cx="612005" cy="3853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7" name="" r:id="rId1" imgW="342900" imgH="215900" progId="Equation.KSEE3">
                  <p:embed/>
                </p:oleObj>
              </mc:Choice>
              <mc:Fallback>
                <p:oleObj name="" r:id="rId1" imgW="342900" imgH="215900" progId="Equation.KSEE3">
                  <p:embed/>
                  <p:pic>
                    <p:nvPicPr>
                      <p:cNvPr id="0" name="图片 921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93850" y="1427480"/>
                        <a:ext cx="612005" cy="3853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2350770" y="1444625"/>
            <a:ext cx="179451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表示</a:t>
            </a:r>
            <a:r>
              <a:rPr lang="en-US" altLang="zh-CN"/>
              <a:t>d</a:t>
            </a:r>
            <a:r>
              <a:rPr lang="zh-CN" altLang="en-US"/>
              <a:t>是</a:t>
            </a:r>
            <a:r>
              <a:rPr lang="en-US" altLang="zh-CN"/>
              <a:t>n</a:t>
            </a:r>
            <a:r>
              <a:rPr lang="zh-CN" altLang="en-US"/>
              <a:t>的因子</a:t>
            </a:r>
            <a:endParaRPr lang="zh-CN" altLang="en-US"/>
          </a:p>
        </p:txBody>
      </p:sp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593850" y="1933575"/>
          <a:ext cx="468003" cy="4187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8" name="" r:id="rId3" imgW="241300" imgH="215900" progId="Equation.KSEE3">
                  <p:embed/>
                </p:oleObj>
              </mc:Choice>
              <mc:Fallback>
                <p:oleObj name="" r:id="rId3" imgW="241300" imgH="215900" progId="Equation.KSEE3">
                  <p:embed/>
                  <p:pic>
                    <p:nvPicPr>
                      <p:cNvPr id="0" name="图片 921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3850" y="1933575"/>
                        <a:ext cx="468003" cy="4187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2350770" y="1983740"/>
            <a:ext cx="682371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表示一个指示符号，</a:t>
            </a:r>
            <a:r>
              <a:rPr lang="en-US" altLang="zh-CN"/>
              <a:t>X</a:t>
            </a:r>
            <a:r>
              <a:rPr lang="zh-CN" altLang="en-US"/>
              <a:t>是一个命题，如果</a:t>
            </a:r>
            <a:r>
              <a:rPr lang="en-US" altLang="zh-CN"/>
              <a:t>X</a:t>
            </a:r>
            <a:r>
              <a:rPr lang="zh-CN" altLang="en-US"/>
              <a:t>为真，返回</a:t>
            </a:r>
            <a:r>
              <a:rPr lang="en-US" altLang="zh-CN"/>
              <a:t>1</a:t>
            </a:r>
            <a:r>
              <a:rPr lang="zh-CN" altLang="en-US"/>
              <a:t>，否则返回</a:t>
            </a:r>
            <a:r>
              <a:rPr lang="en-US" altLang="zh-CN"/>
              <a:t>0</a:t>
            </a:r>
            <a:endParaRPr lang="en-US" altLang="zh-CN"/>
          </a:p>
        </p:txBody>
      </p:sp>
      <p:graphicFrame>
        <p:nvGraphicFramePr>
          <p:cNvPr id="7" name="对象 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593850" y="2507615"/>
          <a:ext cx="504004" cy="4788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9" name="" r:id="rId5" imgW="254000" imgH="241300" progId="Equation.KSEE3">
                  <p:embed/>
                </p:oleObj>
              </mc:Choice>
              <mc:Fallback>
                <p:oleObj name="" r:id="rId5" imgW="254000" imgH="241300" progId="Equation.KSEE3">
                  <p:embed/>
                  <p:pic>
                    <p:nvPicPr>
                      <p:cNvPr id="0" name="图片 921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93850" y="2507615"/>
                        <a:ext cx="504004" cy="4788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2350770" y="2562860"/>
            <a:ext cx="1554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表示向下取整</a:t>
            </a:r>
            <a:endParaRPr lang="zh-CN" altLang="en-US"/>
          </a:p>
        </p:txBody>
      </p:sp>
      <p:graphicFrame>
        <p:nvGraphicFramePr>
          <p:cNvPr id="9" name="对象 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580515" y="3176905"/>
          <a:ext cx="530530" cy="504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0" name="" r:id="rId7" imgW="254000" imgH="241300" progId="Equation.KSEE3">
                  <p:embed/>
                </p:oleObj>
              </mc:Choice>
              <mc:Fallback>
                <p:oleObj name="" r:id="rId7" imgW="254000" imgH="241300" progId="Equation.KSEE3">
                  <p:embed/>
                  <p:pic>
                    <p:nvPicPr>
                      <p:cNvPr id="0" name="图片 921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0515" y="3176905"/>
                        <a:ext cx="530530" cy="5040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2350770" y="3244850"/>
            <a:ext cx="1554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表示向上取整</a:t>
            </a:r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540510" y="1552575"/>
            <a:ext cx="63652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b="1"/>
              <a:t>最大公约数问题</a:t>
            </a:r>
            <a:r>
              <a:rPr lang="zh-CN" altLang="en-US"/>
              <a:t>：给定两个正整数</a:t>
            </a:r>
            <a:r>
              <a:rPr lang="en-US" altLang="zh-CN"/>
              <a:t>a</a:t>
            </a:r>
            <a:r>
              <a:rPr lang="zh-CN" altLang="en-US"/>
              <a:t>和</a:t>
            </a:r>
            <a:r>
              <a:rPr lang="en-US" altLang="zh-CN"/>
              <a:t>b</a:t>
            </a:r>
            <a:r>
              <a:rPr lang="zh-CN" altLang="en-US"/>
              <a:t>，求</a:t>
            </a:r>
            <a:r>
              <a:rPr lang="en-US" altLang="zh-CN"/>
              <a:t>a</a:t>
            </a:r>
            <a:r>
              <a:rPr lang="zh-CN" altLang="en-US"/>
              <a:t>和</a:t>
            </a:r>
            <a:r>
              <a:rPr lang="en-US" altLang="zh-CN"/>
              <a:t>b</a:t>
            </a:r>
            <a:r>
              <a:rPr lang="zh-CN" altLang="en-US"/>
              <a:t>的最大公约数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540510" y="2829560"/>
            <a:ext cx="384746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 b="1"/>
              <a:t>so easy!!!</a:t>
            </a:r>
            <a:r>
              <a:rPr lang="zh-CN" altLang="en-US" sz="2400" b="1"/>
              <a:t>这还能难倒我？？</a:t>
            </a:r>
            <a:endParaRPr lang="zh-CN" altLang="en-US" sz="2400" b="1"/>
          </a:p>
        </p:txBody>
      </p:sp>
      <p:sp>
        <p:nvSpPr>
          <p:cNvPr id="5" name="文本框 4"/>
          <p:cNvSpPr txBox="1"/>
          <p:nvPr/>
        </p:nvSpPr>
        <p:spPr>
          <a:xfrm>
            <a:off x="1540510" y="3948430"/>
            <a:ext cx="5595620" cy="22453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endParaRPr lang="zh-CN" altLang="en-US" sz="2800" b="1">
              <a:latin typeface="Consolas" panose="020B0609020204030204" charset="0"/>
            </a:endParaRPr>
          </a:p>
          <a:p>
            <a:pPr algn="l"/>
            <a:r>
              <a:rPr lang="zh-CN" altLang="en-US" sz="2800" b="1">
                <a:latin typeface="Consolas" panose="020B0609020204030204" charset="0"/>
              </a:rPr>
              <a:t>int gcd(int a,int b){</a:t>
            </a:r>
            <a:endParaRPr lang="zh-CN" altLang="en-US" sz="2800" b="1">
              <a:latin typeface="Consolas" panose="020B0609020204030204" charset="0"/>
            </a:endParaRPr>
          </a:p>
          <a:p>
            <a:pPr algn="l"/>
            <a:r>
              <a:rPr lang="zh-CN" altLang="en-US" sz="2800" b="1">
                <a:latin typeface="Consolas" panose="020B0609020204030204" charset="0"/>
              </a:rPr>
              <a:t>	return !b?a:gcd(b,a%b);</a:t>
            </a:r>
            <a:endParaRPr lang="zh-CN" altLang="en-US" sz="2800" b="1">
              <a:latin typeface="Consolas" panose="020B0609020204030204" charset="0"/>
            </a:endParaRPr>
          </a:p>
          <a:p>
            <a:pPr algn="l"/>
            <a:r>
              <a:rPr lang="zh-CN" altLang="en-US" sz="2800" b="1">
                <a:latin typeface="Consolas" panose="020B0609020204030204" charset="0"/>
              </a:rPr>
              <a:t>}</a:t>
            </a:r>
            <a:endParaRPr lang="zh-CN" altLang="en-US" sz="2800" b="1">
              <a:latin typeface="Consolas" panose="020B0609020204030204" charset="0"/>
            </a:endParaRPr>
          </a:p>
          <a:p>
            <a:endParaRPr lang="zh-CN" altLang="en-US" sz="2800" b="1">
              <a:latin typeface="Consolas" panose="020B060902020403020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567180" y="1289685"/>
            <a:ext cx="63652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b="1"/>
              <a:t>最小公倍数问题</a:t>
            </a:r>
            <a:r>
              <a:rPr lang="zh-CN" altLang="en-US"/>
              <a:t>：给定一个正整数</a:t>
            </a:r>
            <a:r>
              <a:rPr lang="en-US" altLang="zh-CN"/>
              <a:t>a</a:t>
            </a:r>
            <a:r>
              <a:rPr lang="zh-CN" altLang="en-US"/>
              <a:t>和</a:t>
            </a:r>
            <a:r>
              <a:rPr lang="en-US" altLang="zh-CN"/>
              <a:t>b</a:t>
            </a:r>
            <a:r>
              <a:rPr lang="zh-CN" altLang="en-US"/>
              <a:t>，求</a:t>
            </a:r>
            <a:r>
              <a:rPr lang="en-US" altLang="zh-CN"/>
              <a:t>a</a:t>
            </a:r>
            <a:r>
              <a:rPr lang="zh-CN" altLang="en-US"/>
              <a:t>和</a:t>
            </a:r>
            <a:r>
              <a:rPr lang="en-US" altLang="zh-CN"/>
              <a:t>b</a:t>
            </a:r>
            <a:r>
              <a:rPr lang="zh-CN" altLang="en-US"/>
              <a:t>的最小公倍数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567180" y="3013710"/>
            <a:ext cx="23253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喵喵喵？？？？</a:t>
            </a:r>
            <a:endParaRPr lang="zh-CN" altLang="en-US" sz="2400" b="1"/>
          </a:p>
        </p:txBody>
      </p:sp>
      <p:sp>
        <p:nvSpPr>
          <p:cNvPr id="4" name="文本框 3"/>
          <p:cNvSpPr txBox="1"/>
          <p:nvPr/>
        </p:nvSpPr>
        <p:spPr>
          <a:xfrm>
            <a:off x="1567180" y="4474845"/>
            <a:ext cx="4888230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800" b="1">
                <a:latin typeface="Consolas" panose="020B0609020204030204" charset="0"/>
              </a:rPr>
              <a:t>int lcm(int a,int b){</a:t>
            </a:r>
            <a:endParaRPr lang="zh-CN" altLang="en-US" sz="2800" b="1">
              <a:latin typeface="Consolas" panose="020B0609020204030204" charset="0"/>
            </a:endParaRPr>
          </a:p>
          <a:p>
            <a:pPr algn="l"/>
            <a:r>
              <a:rPr lang="zh-CN" altLang="en-US" sz="2800" b="1">
                <a:latin typeface="Consolas" panose="020B0609020204030204" charset="0"/>
              </a:rPr>
              <a:t>	return a*b/gcd(a,b);</a:t>
            </a:r>
            <a:endParaRPr lang="zh-CN" altLang="en-US" sz="2800" b="1">
              <a:latin typeface="Consolas" panose="020B0609020204030204" charset="0"/>
            </a:endParaRPr>
          </a:p>
          <a:p>
            <a:pPr algn="l"/>
            <a:r>
              <a:rPr lang="zh-CN" altLang="en-US" sz="2800" b="1">
                <a:latin typeface="Consolas" panose="020B0609020204030204" charset="0"/>
              </a:rPr>
              <a:t>}</a:t>
            </a:r>
            <a:endParaRPr lang="zh-CN" altLang="en-US" sz="2800" b="1">
              <a:latin typeface="Consolas" panose="020B0609020204030204" charset="0"/>
            </a:endParaRPr>
          </a:p>
          <a:p>
            <a:endParaRPr lang="zh-CN" altLang="en-US" sz="2800" b="1">
              <a:latin typeface="Consolas" panose="020B060902020403020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527810" y="1065530"/>
            <a:ext cx="982853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400" b="1"/>
              <a:t>质数筛问题：</a:t>
            </a:r>
            <a:r>
              <a:rPr lang="zh-CN" altLang="en-US" sz="2400">
                <a:sym typeface="+mn-ea"/>
              </a:rPr>
              <a:t>给定一个</a:t>
            </a:r>
            <a:r>
              <a:rPr lang="en-US" altLang="zh-CN" sz="2400">
                <a:sym typeface="+mn-ea"/>
              </a:rPr>
              <a:t>n</a:t>
            </a:r>
            <a:r>
              <a:rPr lang="zh-CN" altLang="en-US" sz="2400">
                <a:sym typeface="+mn-ea"/>
              </a:rPr>
              <a:t>，求</a:t>
            </a:r>
            <a:r>
              <a:rPr lang="en-US" altLang="zh-CN" sz="2400">
                <a:sym typeface="+mn-ea"/>
              </a:rPr>
              <a:t>1</a:t>
            </a:r>
            <a:r>
              <a:rPr lang="zh-CN" altLang="en-US" sz="2400">
                <a:sym typeface="+mn-ea"/>
              </a:rPr>
              <a:t>到</a:t>
            </a:r>
            <a:r>
              <a:rPr lang="en-US" altLang="zh-CN" sz="2400">
                <a:sym typeface="+mn-ea"/>
              </a:rPr>
              <a:t>n</a:t>
            </a:r>
            <a:r>
              <a:rPr lang="zh-CN" altLang="en-US" sz="2400">
                <a:sym typeface="+mn-ea"/>
              </a:rPr>
              <a:t>中有多少个数是素数？（</a:t>
            </a:r>
            <a:r>
              <a:rPr lang="en-US" altLang="zh-CN" sz="2400">
                <a:sym typeface="+mn-ea"/>
              </a:rPr>
              <a:t>n&lt;=1000000</a:t>
            </a:r>
            <a:r>
              <a:rPr lang="zh-CN" altLang="en-US" sz="2400">
                <a:sym typeface="+mn-ea"/>
              </a:rPr>
              <a:t>）</a:t>
            </a:r>
            <a:endParaRPr lang="zh-CN" altLang="en-US" sz="2400" b="1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527810" y="2671445"/>
            <a:ext cx="47548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考虑朴素的暴力，每次素数判定时间复杂度是</a:t>
            </a:r>
            <a:endParaRPr lang="en-US" altLang="zh-CN"/>
          </a:p>
        </p:txBody>
      </p:sp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282690" y="2518410"/>
          <a:ext cx="972007" cy="521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" r:id="rId1" imgW="520700" imgH="279400" progId="Equation.KSEE3">
                  <p:embed/>
                </p:oleObj>
              </mc:Choice>
              <mc:Fallback>
                <p:oleObj name="" r:id="rId1" imgW="520700" imgH="279400" progId="Equation.KSEE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282690" y="2518410"/>
                        <a:ext cx="972007" cy="5215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1527810" y="3882390"/>
            <a:ext cx="1783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总时间复杂度是</a:t>
            </a:r>
            <a:endParaRPr lang="zh-CN" altLang="en-US"/>
          </a:p>
        </p:txBody>
      </p:sp>
      <p:graphicFrame>
        <p:nvGraphicFramePr>
          <p:cNvPr id="7" name="对象 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310588" y="3511558"/>
          <a:ext cx="2208530" cy="9359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" r:id="rId3" imgW="1168400" imgH="495300" progId="Equation.KSEE3">
                  <p:embed/>
                </p:oleObj>
              </mc:Choice>
              <mc:Fallback>
                <p:oleObj name="" r:id="rId3" imgW="1168400" imgH="495300" progId="Equation.KSEE3">
                  <p:embed/>
                  <p:pic>
                    <p:nvPicPr>
                      <p:cNvPr id="0" name="图片 204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10588" y="3511558"/>
                        <a:ext cx="2208530" cy="9359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383030" y="1263015"/>
            <a:ext cx="990219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考虑筛法，我们知道大于等于</a:t>
            </a:r>
            <a:r>
              <a:rPr lang="en-US" altLang="zh-CN"/>
              <a:t>2</a:t>
            </a:r>
            <a:r>
              <a:rPr lang="zh-CN" altLang="en-US"/>
              <a:t>任何整数乘以大于等于</a:t>
            </a:r>
            <a:r>
              <a:rPr lang="en-US" altLang="zh-CN"/>
              <a:t>2</a:t>
            </a:r>
            <a:r>
              <a:rPr lang="zh-CN" altLang="en-US"/>
              <a:t>的数都是合数，不被除</a:t>
            </a:r>
            <a:r>
              <a:rPr lang="en-US" altLang="zh-CN"/>
              <a:t>1</a:t>
            </a:r>
            <a:r>
              <a:rPr lang="zh-CN" altLang="en-US"/>
              <a:t>和自身以外的所有</a:t>
            </a:r>
            <a:endParaRPr lang="zh-CN" altLang="en-US"/>
          </a:p>
          <a:p>
            <a:r>
              <a:rPr lang="zh-CN" altLang="en-US"/>
              <a:t>数整除的数是素数。那么可以有这种操作：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817370" y="2737485"/>
            <a:ext cx="8345170" cy="34766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000" b="1">
                <a:latin typeface="Consolas" panose="020B0609020204030204" charset="0"/>
              </a:rPr>
              <a:t>bool is_prime[N];</a:t>
            </a:r>
            <a:endParaRPr lang="zh-CN" altLang="en-US" sz="2000" b="1">
              <a:latin typeface="Consolas" panose="020B0609020204030204" charset="0"/>
            </a:endParaRPr>
          </a:p>
          <a:p>
            <a:pPr algn="l"/>
            <a:r>
              <a:rPr lang="zh-CN" altLang="en-US" sz="2000" b="1">
                <a:latin typeface="Consolas" panose="020B0609020204030204" charset="0"/>
              </a:rPr>
              <a:t>void fuck(int n){</a:t>
            </a:r>
            <a:endParaRPr lang="zh-CN" altLang="en-US" sz="2000" b="1">
              <a:latin typeface="Consolas" panose="020B0609020204030204" charset="0"/>
            </a:endParaRPr>
          </a:p>
          <a:p>
            <a:pPr algn="l"/>
            <a:r>
              <a:rPr lang="zh-CN" altLang="en-US" sz="2000" b="1">
                <a:latin typeface="Consolas" panose="020B0609020204030204" charset="0"/>
              </a:rPr>
              <a:t>	for(int i=1;i&lt;=n;i++) is_prime[i]=1;</a:t>
            </a:r>
            <a:endParaRPr lang="zh-CN" altLang="en-US" sz="2000" b="1">
              <a:latin typeface="Consolas" panose="020B0609020204030204" charset="0"/>
            </a:endParaRPr>
          </a:p>
          <a:p>
            <a:pPr algn="l"/>
            <a:endParaRPr lang="zh-CN" altLang="en-US" sz="2000" b="1">
              <a:latin typeface="Consolas" panose="020B0609020204030204" charset="0"/>
            </a:endParaRPr>
          </a:p>
          <a:p>
            <a:pPr algn="l"/>
            <a:r>
              <a:rPr lang="zh-CN" altLang="en-US" sz="2000" b="1">
                <a:latin typeface="Consolas" panose="020B0609020204030204" charset="0"/>
              </a:rPr>
              <a:t>	is_prime[1]=0;</a:t>
            </a:r>
            <a:endParaRPr lang="zh-CN" altLang="en-US" sz="2000" b="1">
              <a:latin typeface="Consolas" panose="020B0609020204030204" charset="0"/>
            </a:endParaRPr>
          </a:p>
          <a:p>
            <a:pPr algn="l"/>
            <a:r>
              <a:rPr lang="zh-CN" altLang="en-US" sz="2000" b="1">
                <a:latin typeface="Consolas" panose="020B0609020204030204" charset="0"/>
              </a:rPr>
              <a:t>	for(int i=2;i&lt;=n;i++){</a:t>
            </a:r>
            <a:endParaRPr lang="zh-CN" altLang="en-US" sz="2000" b="1">
              <a:latin typeface="Consolas" panose="020B0609020204030204" charset="0"/>
            </a:endParaRPr>
          </a:p>
          <a:p>
            <a:pPr algn="l"/>
            <a:r>
              <a:rPr lang="zh-CN" altLang="en-US" sz="2000" b="1">
                <a:latin typeface="Consolas" panose="020B0609020204030204" charset="0"/>
              </a:rPr>
              <a:t>		if(is_prime[i]){</a:t>
            </a:r>
            <a:endParaRPr lang="zh-CN" altLang="en-US" sz="2000" b="1">
              <a:latin typeface="Consolas" panose="020B0609020204030204" charset="0"/>
            </a:endParaRPr>
          </a:p>
          <a:p>
            <a:pPr algn="l"/>
            <a:r>
              <a:rPr lang="zh-CN" altLang="en-US" sz="2000" b="1">
                <a:latin typeface="Consolas" panose="020B0609020204030204" charset="0"/>
              </a:rPr>
              <a:t>			for(int j=2*i;j&lt;=n;j+=i) is_prime[j]=0;</a:t>
            </a:r>
            <a:endParaRPr lang="zh-CN" altLang="en-US" sz="2000" b="1">
              <a:latin typeface="Consolas" panose="020B0609020204030204" charset="0"/>
            </a:endParaRPr>
          </a:p>
          <a:p>
            <a:pPr algn="l"/>
            <a:r>
              <a:rPr lang="zh-CN" altLang="en-US" sz="2000" b="1">
                <a:latin typeface="Consolas" panose="020B0609020204030204" charset="0"/>
              </a:rPr>
              <a:t>		}</a:t>
            </a:r>
            <a:endParaRPr lang="zh-CN" altLang="en-US" sz="2000" b="1">
              <a:latin typeface="Consolas" panose="020B0609020204030204" charset="0"/>
            </a:endParaRPr>
          </a:p>
          <a:p>
            <a:pPr algn="l"/>
            <a:r>
              <a:rPr lang="zh-CN" altLang="en-US" sz="2000" b="1">
                <a:latin typeface="Consolas" panose="020B0609020204030204" charset="0"/>
              </a:rPr>
              <a:t>	}</a:t>
            </a:r>
            <a:endParaRPr lang="zh-CN" altLang="en-US" sz="2000" b="1">
              <a:latin typeface="Consolas" panose="020B0609020204030204" charset="0"/>
            </a:endParaRPr>
          </a:p>
          <a:p>
            <a:pPr algn="l"/>
            <a:r>
              <a:rPr lang="zh-CN" altLang="en-US" sz="2000" b="1">
                <a:latin typeface="Consolas" panose="020B0609020204030204" charset="0"/>
              </a:rPr>
              <a:t>}</a:t>
            </a:r>
            <a:endParaRPr lang="zh-CN" altLang="en-US" sz="2000" b="1">
              <a:latin typeface="Consolas" panose="020B060902020403020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表格 1"/>
          <p:cNvGraphicFramePr/>
          <p:nvPr/>
        </p:nvGraphicFramePr>
        <p:xfrm>
          <a:off x="2048510" y="480695"/>
          <a:ext cx="8014335" cy="7886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6160"/>
                <a:gridCol w="728345"/>
                <a:gridCol w="877570"/>
                <a:gridCol w="797560"/>
                <a:gridCol w="685800"/>
                <a:gridCol w="728345"/>
                <a:gridCol w="863600"/>
                <a:gridCol w="741680"/>
                <a:gridCol w="877570"/>
                <a:gridCol w="687705"/>
              </a:tblGrid>
              <a:tr h="394335"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7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9</a:t>
                      </a:r>
                      <a:endParaRPr lang="en-US" altLang="zh-CN"/>
                    </a:p>
                  </a:txBody>
                  <a:tcPr/>
                </a:tc>
              </a:tr>
              <a:tr h="3943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is_prime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altLang="zh-CN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altLang="zh-CN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altLang="zh-CN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126490" y="677545"/>
            <a:ext cx="92202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i=2</a:t>
            </a:r>
            <a:r>
              <a:rPr lang="zh-CN" altLang="en-US"/>
              <a:t>时：</a:t>
            </a:r>
            <a:endParaRPr lang="zh-CN" altLang="en-US"/>
          </a:p>
        </p:txBody>
      </p:sp>
      <p:graphicFrame>
        <p:nvGraphicFramePr>
          <p:cNvPr id="4" name="表格 3"/>
          <p:cNvGraphicFramePr/>
          <p:nvPr/>
        </p:nvGraphicFramePr>
        <p:xfrm>
          <a:off x="2048510" y="2518410"/>
          <a:ext cx="8014335" cy="7600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6160"/>
                <a:gridCol w="728345"/>
                <a:gridCol w="877570"/>
                <a:gridCol w="797560"/>
                <a:gridCol w="685800"/>
                <a:gridCol w="741680"/>
                <a:gridCol w="850265"/>
                <a:gridCol w="741680"/>
                <a:gridCol w="877570"/>
                <a:gridCol w="687705"/>
              </a:tblGrid>
              <a:tr h="0"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7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9</a:t>
                      </a:r>
                      <a:endParaRPr lang="en-US" altLang="zh-CN"/>
                    </a:p>
                  </a:txBody>
                  <a:tcPr/>
                </a:tc>
              </a:tr>
              <a:tr h="3943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is_prime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altLang="zh-CN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126490" y="2910205"/>
            <a:ext cx="92202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i=3</a:t>
            </a:r>
            <a:r>
              <a:rPr lang="zh-CN" altLang="zh-CN"/>
              <a:t>时：</a:t>
            </a:r>
            <a:endParaRPr lang="zh-CN" altLang="zh-C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718945" y="1381760"/>
            <a:ext cx="4983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根据算法过程很容易知道该算法时间复杂度是：</a:t>
            </a:r>
            <a:endParaRPr lang="zh-CN" altLang="en-US"/>
          </a:p>
        </p:txBody>
      </p:sp>
      <p:graphicFrame>
        <p:nvGraphicFramePr>
          <p:cNvPr id="3" name="对象 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874828" y="1028700"/>
          <a:ext cx="2147831" cy="8640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" r:id="rId1" imgW="1231265" imgH="495300" progId="Equation.KSEE3">
                  <p:embed/>
                </p:oleObj>
              </mc:Choice>
              <mc:Fallback>
                <p:oleObj name="" r:id="rId1" imgW="1231265" imgH="495300" progId="Equation.KSEE3">
                  <p:embed/>
                  <p:pic>
                    <p:nvPicPr>
                      <p:cNvPr id="0" name="图片 307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874828" y="1028700"/>
                        <a:ext cx="2147831" cy="8640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718945" y="3369310"/>
            <a:ext cx="88474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考虑更进一步的问题，给定两个整数</a:t>
            </a:r>
            <a:r>
              <a:rPr lang="en-US" altLang="zh-CN" sz="2400" b="1"/>
              <a:t>a</a:t>
            </a:r>
            <a:r>
              <a:rPr lang="zh-CN" altLang="en-US" sz="2400" b="1"/>
              <a:t>和</a:t>
            </a:r>
            <a:r>
              <a:rPr lang="en-US" altLang="zh-CN" sz="2400" b="1"/>
              <a:t>b</a:t>
            </a:r>
            <a:r>
              <a:rPr lang="zh-CN" altLang="en-US" sz="2400" b="1"/>
              <a:t>，求</a:t>
            </a:r>
            <a:r>
              <a:rPr lang="en-US" altLang="zh-CN" sz="2400" b="1"/>
              <a:t>[a,b]</a:t>
            </a:r>
            <a:r>
              <a:rPr lang="zh-CN" altLang="en-US" sz="2400" b="1"/>
              <a:t>有多少个素数？</a:t>
            </a:r>
            <a:endParaRPr lang="en-US" altLang="zh-CN" sz="2400" b="1"/>
          </a:p>
        </p:txBody>
      </p:sp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863725" y="4072255"/>
          <a:ext cx="3699456" cy="4680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" r:id="rId3" imgW="2108200" imgH="266700" progId="Equation.KSEE3">
                  <p:embed/>
                </p:oleObj>
              </mc:Choice>
              <mc:Fallback>
                <p:oleObj name="" r:id="rId3" imgW="2108200" imgH="266700" progId="Equation.KSEE3">
                  <p:embed/>
                  <p:pic>
                    <p:nvPicPr>
                      <p:cNvPr id="0" name="图片 307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63725" y="4072255"/>
                        <a:ext cx="3699456" cy="4680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757555" y="1065530"/>
            <a:ext cx="854392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我们知道，如果一个数</a:t>
            </a:r>
            <a:r>
              <a:rPr lang="en-US" altLang="zh-CN"/>
              <a:t>n</a:t>
            </a:r>
            <a:r>
              <a:rPr lang="zh-CN" altLang="en-US"/>
              <a:t>可以分解为</a:t>
            </a:r>
            <a:r>
              <a:rPr lang="en-US" altLang="zh-CN"/>
              <a:t>n=a*b</a:t>
            </a:r>
            <a:r>
              <a:rPr lang="zh-CN" altLang="en-US"/>
              <a:t>，那么</a:t>
            </a:r>
            <a:r>
              <a:rPr lang="en-US" altLang="zh-CN"/>
              <a:t>a</a:t>
            </a:r>
            <a:r>
              <a:rPr lang="zh-CN" altLang="en-US"/>
              <a:t>和</a:t>
            </a:r>
            <a:r>
              <a:rPr lang="en-US" altLang="zh-CN"/>
              <a:t>b</a:t>
            </a:r>
            <a:r>
              <a:rPr lang="zh-CN" altLang="en-US"/>
              <a:t>的最小值必定小于等于根号</a:t>
            </a:r>
            <a:r>
              <a:rPr lang="en-US" altLang="zh-CN"/>
              <a:t>n</a:t>
            </a:r>
            <a:r>
              <a:rPr lang="zh-CN" altLang="en-US"/>
              <a:t>。</a:t>
            </a:r>
            <a:endParaRPr lang="zh-CN" altLang="en-US"/>
          </a:p>
          <a:p>
            <a:r>
              <a:rPr lang="zh-CN" altLang="en-US"/>
              <a:t>可以用反证法证明。显然素数只能分解成</a:t>
            </a:r>
            <a:r>
              <a:rPr lang="en-US" altLang="zh-CN"/>
              <a:t>n=1*n</a:t>
            </a:r>
            <a:r>
              <a:rPr lang="zh-CN" altLang="en-US"/>
              <a:t>。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57555" y="1710690"/>
            <a:ext cx="701675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那么</a:t>
            </a:r>
            <a:r>
              <a:rPr lang="en-US" altLang="zh-CN"/>
              <a:t>[a,b]</a:t>
            </a:r>
            <a:r>
              <a:rPr lang="zh-CN" altLang="en-US"/>
              <a:t>的所有合数必定有一个大于等于</a:t>
            </a:r>
            <a:r>
              <a:rPr lang="en-US" altLang="zh-CN"/>
              <a:t>2</a:t>
            </a:r>
            <a:r>
              <a:rPr lang="zh-CN" altLang="en-US"/>
              <a:t>，</a:t>
            </a:r>
            <a:r>
              <a:rPr lang="zh-CN" altLang="en-US"/>
              <a:t>小于等于根号</a:t>
            </a:r>
            <a:r>
              <a:rPr lang="en-US" altLang="zh-CN"/>
              <a:t>b</a:t>
            </a:r>
            <a:r>
              <a:rPr lang="zh-CN" altLang="en-US"/>
              <a:t>的因子。</a:t>
            </a:r>
            <a:endParaRPr lang="zh-CN" altLang="en-US"/>
          </a:p>
          <a:p>
            <a:r>
              <a:rPr lang="zh-CN" altLang="en-US"/>
              <a:t>那么就有下面的这种操作：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57555" y="2355850"/>
            <a:ext cx="10344150" cy="42462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b="1">
                <a:latin typeface="Consolas" panose="020B0609020204030204" charset="0"/>
              </a:rPr>
              <a:t>const int N=1e6+10;</a:t>
            </a:r>
            <a:endParaRPr lang="zh-CN" altLang="en-US" b="1">
              <a:latin typeface="Consolas" panose="020B0609020204030204" charset="0"/>
            </a:endParaRPr>
          </a:p>
          <a:p>
            <a:pPr algn="l"/>
            <a:r>
              <a:rPr lang="zh-CN" altLang="en-US" b="1">
                <a:latin typeface="Consolas" panose="020B0609020204030204" charset="0"/>
              </a:rPr>
              <a:t>bool is_prime_small[N]</a:t>
            </a:r>
            <a:r>
              <a:rPr lang="en-US" altLang="zh-CN" b="1">
                <a:latin typeface="Consolas" panose="020B0609020204030204" charset="0"/>
              </a:rPr>
              <a:t>,</a:t>
            </a:r>
            <a:r>
              <a:rPr lang="zh-CN" altLang="en-US" b="1">
                <a:latin typeface="Consolas" panose="020B0609020204030204" charset="0"/>
              </a:rPr>
              <a:t>is_prime_big[N];</a:t>
            </a:r>
            <a:endParaRPr lang="zh-CN" altLang="en-US" b="1">
              <a:latin typeface="Consolas" panose="020B0609020204030204" charset="0"/>
            </a:endParaRPr>
          </a:p>
          <a:p>
            <a:pPr algn="l"/>
            <a:r>
              <a:rPr lang="zh-CN" altLang="en-US" b="1">
                <a:latin typeface="Consolas" panose="020B0609020204030204" charset="0"/>
              </a:rPr>
              <a:t>int fuck(ll a,ll b)</a:t>
            </a:r>
            <a:r>
              <a:rPr lang="en-US" altLang="zh-CN" b="1">
                <a:latin typeface="Consolas" panose="020B0609020204030204" charset="0"/>
              </a:rPr>
              <a:t>{</a:t>
            </a:r>
            <a:endParaRPr lang="en-US" altLang="zh-CN" b="1">
              <a:latin typeface="Consolas" panose="020B0609020204030204" charset="0"/>
            </a:endParaRPr>
          </a:p>
          <a:p>
            <a:pPr algn="l"/>
            <a:r>
              <a:rPr lang="zh-CN" altLang="en-US" b="1">
                <a:latin typeface="Consolas" panose="020B0609020204030204" charset="0"/>
              </a:rPr>
              <a:t>	//假设我们已经处理好[1,1000000]的素数表，is_prime_small[i]表示i是否是素数</a:t>
            </a:r>
            <a:endParaRPr lang="zh-CN" altLang="en-US" b="1">
              <a:latin typeface="Consolas" panose="020B0609020204030204" charset="0"/>
            </a:endParaRPr>
          </a:p>
          <a:p>
            <a:pPr algn="l"/>
            <a:r>
              <a:rPr lang="zh-CN" altLang="en-US" b="1">
                <a:latin typeface="Consolas" panose="020B0609020204030204" charset="0"/>
              </a:rPr>
              <a:t>	//is_prime_big[i]表示i+a是否是素数</a:t>
            </a:r>
            <a:endParaRPr lang="zh-CN" altLang="en-US" b="1">
              <a:latin typeface="Consolas" panose="020B0609020204030204" charset="0"/>
            </a:endParaRPr>
          </a:p>
          <a:p>
            <a:pPr algn="l"/>
            <a:r>
              <a:rPr lang="zh-CN" altLang="en-US" b="1">
                <a:latin typeface="Consolas" panose="020B0609020204030204" charset="0"/>
              </a:rPr>
              <a:t>	for(int i=0;i&lt;=b-a;i++) is_prime_big[i]=1;</a:t>
            </a:r>
            <a:endParaRPr lang="zh-CN" altLang="en-US" b="1">
              <a:latin typeface="Consolas" panose="020B0609020204030204" charset="0"/>
            </a:endParaRPr>
          </a:p>
          <a:p>
            <a:pPr algn="l"/>
            <a:r>
              <a:rPr lang="zh-CN" altLang="en-US" b="1">
                <a:latin typeface="Consolas" panose="020B0609020204030204" charset="0"/>
              </a:rPr>
              <a:t>	if(a==1) is_prime_big[0]=0;</a:t>
            </a:r>
            <a:endParaRPr lang="zh-CN" altLang="en-US" b="1">
              <a:latin typeface="Consolas" panose="020B0609020204030204" charset="0"/>
            </a:endParaRPr>
          </a:p>
          <a:p>
            <a:pPr algn="l"/>
            <a:r>
              <a:rPr lang="zh-CN" altLang="en-US" b="1">
                <a:latin typeface="Consolas" panose="020B0609020204030204" charset="0"/>
              </a:rPr>
              <a:t>	for(int i=2;i&lt;=(int)sqrt(b);i++){</a:t>
            </a:r>
            <a:endParaRPr lang="zh-CN" altLang="en-US" b="1">
              <a:latin typeface="Consolas" panose="020B0609020204030204" charset="0"/>
            </a:endParaRPr>
          </a:p>
          <a:p>
            <a:pPr algn="l"/>
            <a:r>
              <a:rPr lang="zh-CN" altLang="en-US" b="1">
                <a:latin typeface="Consolas" panose="020B0609020204030204" charset="0"/>
              </a:rPr>
              <a:t>		if(is_prime[i]){</a:t>
            </a:r>
            <a:endParaRPr lang="zh-CN" altLang="en-US" b="1">
              <a:latin typeface="Consolas" panose="020B0609020204030204" charset="0"/>
            </a:endParaRPr>
          </a:p>
          <a:p>
            <a:pPr algn="l"/>
            <a:r>
              <a:rPr lang="zh-CN" altLang="en-US" b="1">
                <a:latin typeface="Consolas" panose="020B0609020204030204" charset="0"/>
              </a:rPr>
              <a:t>			for(ll j=max(2,(a+i-1)/i)*i;j&lt;=b;j+=i) is_prime_big[j-a]=1;</a:t>
            </a:r>
            <a:endParaRPr lang="zh-CN" altLang="en-US" b="1">
              <a:latin typeface="Consolas" panose="020B0609020204030204" charset="0"/>
            </a:endParaRPr>
          </a:p>
          <a:p>
            <a:pPr algn="l"/>
            <a:r>
              <a:rPr lang="zh-CN" altLang="en-US" b="1">
                <a:latin typeface="Consolas" panose="020B0609020204030204" charset="0"/>
              </a:rPr>
              <a:t>		}</a:t>
            </a:r>
            <a:endParaRPr lang="zh-CN" altLang="en-US" b="1">
              <a:latin typeface="Consolas" panose="020B0609020204030204" charset="0"/>
            </a:endParaRPr>
          </a:p>
          <a:p>
            <a:pPr algn="l"/>
            <a:r>
              <a:rPr lang="zh-CN" altLang="en-US" b="1">
                <a:latin typeface="Consolas" panose="020B0609020204030204" charset="0"/>
              </a:rPr>
              <a:t>	}</a:t>
            </a:r>
            <a:endParaRPr lang="zh-CN" altLang="en-US" b="1">
              <a:latin typeface="Consolas" panose="020B0609020204030204" charset="0"/>
            </a:endParaRPr>
          </a:p>
          <a:p>
            <a:pPr algn="l"/>
            <a:r>
              <a:rPr lang="zh-CN" altLang="en-US" b="1">
                <a:latin typeface="Consolas" panose="020B0609020204030204" charset="0"/>
              </a:rPr>
              <a:t>}</a:t>
            </a:r>
            <a:endParaRPr lang="zh-CN" altLang="en-US" b="1">
              <a:latin typeface="Consolas" panose="020B0609020204030204" charset="0"/>
            </a:endParaRPr>
          </a:p>
          <a:p>
            <a:pPr algn="l"/>
            <a:endParaRPr lang="zh-CN" altLang="en-US" b="1">
              <a:latin typeface="Consolas" panose="020B0609020204030204" charset="0"/>
            </a:endParaRPr>
          </a:p>
          <a:p>
            <a:endParaRPr lang="zh-CN" altLang="en-US" b="1">
              <a:latin typeface="Consolas" panose="020B060902020403020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468755" y="1249680"/>
            <a:ext cx="69011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/>
              <a:t>下面介绍两个数论函数：</a:t>
            </a:r>
            <a:r>
              <a:rPr lang="zh-CN" altLang="en-US" sz="2400" b="1"/>
              <a:t>欧拉函数</a:t>
            </a:r>
            <a:r>
              <a:rPr lang="zh-CN" altLang="en-US" sz="2400"/>
              <a:t>和</a:t>
            </a:r>
            <a:r>
              <a:rPr lang="zh-CN" altLang="en-US" sz="2400" b="1"/>
              <a:t>莫比乌斯函数</a:t>
            </a:r>
            <a:endParaRPr lang="zh-CN" altLang="en-US" sz="2400" b="1"/>
          </a:p>
        </p:txBody>
      </p:sp>
      <p:sp>
        <p:nvSpPr>
          <p:cNvPr id="3" name="文本框 2"/>
          <p:cNvSpPr txBox="1"/>
          <p:nvPr/>
        </p:nvSpPr>
        <p:spPr>
          <a:xfrm>
            <a:off x="1468755" y="2289810"/>
            <a:ext cx="82746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欧拉函数</a:t>
            </a:r>
            <a:r>
              <a:rPr lang="en-US" altLang="zh-CN" sz="2400"/>
              <a:t>phi(n)</a:t>
            </a:r>
            <a:r>
              <a:rPr lang="zh-CN" altLang="en-US" sz="2400"/>
              <a:t>是表示小于等于</a:t>
            </a:r>
            <a:r>
              <a:rPr lang="en-US" altLang="zh-CN" sz="2400"/>
              <a:t>n</a:t>
            </a:r>
            <a:r>
              <a:rPr lang="zh-CN" altLang="en-US" sz="2400"/>
              <a:t>的数中与</a:t>
            </a:r>
            <a:r>
              <a:rPr lang="en-US" altLang="zh-CN" sz="2400"/>
              <a:t>n</a:t>
            </a:r>
            <a:r>
              <a:rPr lang="zh-CN" altLang="en-US" sz="2400"/>
              <a:t>互质的数的个数。</a:t>
            </a:r>
            <a:endParaRPr lang="zh-CN" altLang="en-US" sz="2400"/>
          </a:p>
        </p:txBody>
      </p:sp>
      <p:graphicFrame>
        <p:nvGraphicFramePr>
          <p:cNvPr id="4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707130" y="2943225"/>
          <a:ext cx="3539102" cy="9720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" name="" r:id="rId1" imgW="1803400" imgH="495300" progId="Equation.KSEE3">
                  <p:embed/>
                </p:oleObj>
              </mc:Choice>
              <mc:Fallback>
                <p:oleObj name="" r:id="rId1" imgW="1803400" imgH="495300" progId="Equation.KSEE3">
                  <p:embed/>
                  <p:pic>
                    <p:nvPicPr>
                      <p:cNvPr id="0" name="图片 409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707130" y="2943225"/>
                        <a:ext cx="3539102" cy="9720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1468755" y="4636135"/>
            <a:ext cx="55245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由唯一分解定理，把</a:t>
            </a:r>
            <a:r>
              <a:rPr lang="en-US" altLang="zh-CN" sz="2400"/>
              <a:t>n</a:t>
            </a:r>
            <a:r>
              <a:rPr lang="zh-CN" altLang="en-US" sz="2400"/>
              <a:t>分解成素数的乘积</a:t>
            </a:r>
            <a:endParaRPr lang="zh-CN" altLang="en-US" sz="2400"/>
          </a:p>
        </p:txBody>
      </p:sp>
      <p:graphicFrame>
        <p:nvGraphicFramePr>
          <p:cNvPr id="7" name="对象 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993255" y="4484370"/>
          <a:ext cx="1596533" cy="6120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" r:id="rId3" imgW="762000" imgH="292100" progId="Equation.KSEE3">
                  <p:embed/>
                </p:oleObj>
              </mc:Choice>
              <mc:Fallback>
                <p:oleObj name="" r:id="rId3" imgW="762000" imgH="292100" progId="Equation.KSEE3">
                  <p:embed/>
                  <p:pic>
                    <p:nvPicPr>
                      <p:cNvPr id="0" name="图片 409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993255" y="4484370"/>
                        <a:ext cx="1596533" cy="6120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1468755" y="5382895"/>
            <a:ext cx="7924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/>
              <a:t>那么</a:t>
            </a:r>
            <a:endParaRPr lang="zh-CN" altLang="en-US" sz="2400"/>
          </a:p>
        </p:txBody>
      </p:sp>
      <p:graphicFrame>
        <p:nvGraphicFramePr>
          <p:cNvPr id="9" name="对象 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261235" y="5325110"/>
          <a:ext cx="3456025" cy="576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" r:id="rId5" imgW="1752600" imgH="292100" progId="Equation.KSEE3">
                  <p:embed/>
                </p:oleObj>
              </mc:Choice>
              <mc:Fallback>
                <p:oleObj name="" r:id="rId5" imgW="1752600" imgH="292100" progId="Equation.KSEE3">
                  <p:embed/>
                  <p:pic>
                    <p:nvPicPr>
                      <p:cNvPr id="0" name="图片 409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61235" y="5325110"/>
                        <a:ext cx="3456025" cy="5760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1468755" y="6094095"/>
            <a:ext cx="32435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/>
              <a:t>可以使用容斥定理证明</a:t>
            </a:r>
            <a:endParaRPr lang="zh-CN" altLang="en-US" sz="2400" b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428750" y="894715"/>
            <a:ext cx="1049020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/>
              <a:t>莫比乌斯函数</a:t>
            </a:r>
            <a:r>
              <a:rPr lang="en-US" altLang="zh-CN" sz="2400" b="1"/>
              <a:t>: </a:t>
            </a:r>
            <a:r>
              <a:rPr lang="zh-CN" altLang="en-US" sz="2400"/>
              <a:t>对整数</a:t>
            </a:r>
            <a:r>
              <a:rPr lang="en-US" altLang="zh-CN" sz="2400"/>
              <a:t>n</a:t>
            </a:r>
            <a:r>
              <a:rPr lang="zh-CN" altLang="en-US" sz="2400"/>
              <a:t>来说，如果</a:t>
            </a:r>
            <a:r>
              <a:rPr lang="en-US" altLang="zh-CN" sz="2400"/>
              <a:t>n</a:t>
            </a:r>
            <a:r>
              <a:rPr lang="zh-CN" altLang="en-US" sz="2400"/>
              <a:t>存在平方因子（</a:t>
            </a:r>
            <a:r>
              <a:rPr lang="en-US" altLang="zh-CN" sz="2400"/>
              <a:t>4,9,16</a:t>
            </a:r>
            <a:r>
              <a:rPr lang="zh-CN" altLang="en-US" sz="2400"/>
              <a:t>等），那么</a:t>
            </a:r>
            <a:r>
              <a:rPr lang="en-US" altLang="zh-CN" sz="2400"/>
              <a:t>mo(n)=0.</a:t>
            </a:r>
            <a:endParaRPr lang="en-US" altLang="zh-CN" sz="2400"/>
          </a:p>
          <a:p>
            <a:r>
              <a:rPr lang="zh-CN" altLang="en-US" sz="2400"/>
              <a:t>否则</a:t>
            </a:r>
            <a:r>
              <a:rPr lang="en-US" altLang="zh-CN" sz="2400"/>
              <a:t>mo(n)=(-1)^k,</a:t>
            </a:r>
            <a:r>
              <a:rPr lang="zh-CN" altLang="en-US" sz="2400"/>
              <a:t>这里的</a:t>
            </a:r>
            <a:r>
              <a:rPr lang="en-US" altLang="zh-CN" sz="2400"/>
              <a:t>k</a:t>
            </a:r>
            <a:r>
              <a:rPr lang="zh-CN" altLang="en-US" sz="2400"/>
              <a:t>是</a:t>
            </a:r>
            <a:r>
              <a:rPr lang="en-US" altLang="zh-CN" sz="2400"/>
              <a:t>n</a:t>
            </a:r>
            <a:r>
              <a:rPr lang="zh-CN" altLang="en-US" sz="2400"/>
              <a:t>的素数因子个数。</a:t>
            </a:r>
            <a:endParaRPr lang="zh-CN" altLang="en-US" sz="2400"/>
          </a:p>
        </p:txBody>
      </p:sp>
      <p:sp>
        <p:nvSpPr>
          <p:cNvPr id="4" name="文本框 3"/>
          <p:cNvSpPr txBox="1"/>
          <p:nvPr/>
        </p:nvSpPr>
        <p:spPr>
          <a:xfrm>
            <a:off x="1428750" y="2118995"/>
            <a:ext cx="933323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/>
              <a:t>这里的欧拉函数和莫比乌斯函数都是数论函数，同时也是</a:t>
            </a:r>
            <a:r>
              <a:rPr lang="zh-CN" altLang="en-US" sz="2400" b="1"/>
              <a:t>积性函数。</a:t>
            </a:r>
            <a:endParaRPr lang="zh-CN" altLang="en-US" sz="2400" b="1"/>
          </a:p>
          <a:p>
            <a:r>
              <a:rPr lang="zh-CN" altLang="en-US" sz="2400"/>
              <a:t>积性函数是指对互质的两个正整数</a:t>
            </a:r>
            <a:r>
              <a:rPr lang="en-US" altLang="zh-CN" sz="2400"/>
              <a:t>a</a:t>
            </a:r>
            <a:r>
              <a:rPr lang="zh-CN" altLang="en-US" sz="2400"/>
              <a:t>和</a:t>
            </a:r>
            <a:r>
              <a:rPr lang="en-US" altLang="zh-CN" sz="2400"/>
              <a:t>b</a:t>
            </a:r>
            <a:r>
              <a:rPr lang="zh-CN" altLang="en-US" sz="2400"/>
              <a:t>满足：</a:t>
            </a:r>
            <a:endParaRPr lang="en-US" altLang="zh-CN" sz="2400"/>
          </a:p>
        </p:txBody>
      </p:sp>
      <p:graphicFrame>
        <p:nvGraphicFramePr>
          <p:cNvPr id="6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398010" y="3213100"/>
          <a:ext cx="3024022" cy="4320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" name="" r:id="rId1" imgW="1600200" imgH="228600" progId="Equation.KSEE3">
                  <p:embed/>
                </p:oleObj>
              </mc:Choice>
              <mc:Fallback>
                <p:oleObj name="" r:id="rId1" imgW="1600200" imgH="228600" progId="Equation.KSEE3">
                  <p:embed/>
                  <p:pic>
                    <p:nvPicPr>
                      <p:cNvPr id="0" name="图片 512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398010" y="3213100"/>
                        <a:ext cx="3024022" cy="4320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表格 7"/>
          <p:cNvGraphicFramePr/>
          <p:nvPr/>
        </p:nvGraphicFramePr>
        <p:xfrm>
          <a:off x="1750060" y="4140200"/>
          <a:ext cx="8533765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7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9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phi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6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表格 8"/>
          <p:cNvGraphicFramePr/>
          <p:nvPr/>
        </p:nvGraphicFramePr>
        <p:xfrm>
          <a:off x="1750060" y="5162550"/>
          <a:ext cx="8528050" cy="7886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</a:tblGrid>
              <a:tr h="39433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7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9</a:t>
                      </a:r>
                      <a:endParaRPr lang="en-US" altLang="zh-CN"/>
                    </a:p>
                  </a:txBody>
                  <a:tcPr/>
                </a:tc>
              </a:tr>
              <a:tr h="3943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mo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-1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-1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-1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-1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744980" y="1381760"/>
            <a:ext cx="9163050" cy="11988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400"/>
              <a:t>下面来看看这两个数论函数到底有啥用。(｡･ω･｡)ﾉ♡</a:t>
            </a:r>
            <a:endParaRPr lang="zh-CN" altLang="en-US" sz="2400"/>
          </a:p>
          <a:p>
            <a:pPr algn="l"/>
            <a:r>
              <a:rPr lang="zh-CN" altLang="en-US" sz="2400"/>
              <a:t>给定正整数</a:t>
            </a:r>
            <a:r>
              <a:rPr lang="en-US" altLang="zh-CN" sz="2400"/>
              <a:t>n</a:t>
            </a:r>
            <a:r>
              <a:rPr lang="zh-CN" altLang="en-US" sz="2400"/>
              <a:t>，求</a:t>
            </a:r>
            <a:r>
              <a:rPr lang="en-US" altLang="zh-CN" sz="2400"/>
              <a:t>1</a:t>
            </a:r>
            <a:r>
              <a:rPr lang="zh-CN" altLang="en-US" sz="2400"/>
              <a:t>到</a:t>
            </a:r>
            <a:r>
              <a:rPr lang="en-US" altLang="zh-CN" sz="2400"/>
              <a:t>n</a:t>
            </a:r>
            <a:r>
              <a:rPr lang="zh-CN" altLang="en-US" sz="2400"/>
              <a:t>所有整数与</a:t>
            </a:r>
            <a:r>
              <a:rPr lang="en-US" altLang="zh-CN" sz="2400"/>
              <a:t>n</a:t>
            </a:r>
            <a:r>
              <a:rPr lang="zh-CN" altLang="en-US" sz="2400"/>
              <a:t>的最大公约数的和。（*/∇＼*）</a:t>
            </a:r>
            <a:endParaRPr lang="zh-CN" altLang="en-US" sz="2400"/>
          </a:p>
          <a:p>
            <a:pPr algn="l"/>
            <a:r>
              <a:rPr lang="zh-CN" altLang="en-US" sz="2400"/>
              <a:t>也就是求：</a:t>
            </a:r>
            <a:endParaRPr lang="zh-CN" altLang="en-US" sz="2400"/>
          </a:p>
        </p:txBody>
      </p:sp>
      <p:graphicFrame>
        <p:nvGraphicFramePr>
          <p:cNvPr id="3" name="对象 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901985" y="2424705"/>
          <a:ext cx="2324063" cy="8640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5" name="" r:id="rId1" imgW="1333500" imgH="495300" progId="Equation.KSEE3">
                  <p:embed/>
                </p:oleObj>
              </mc:Choice>
              <mc:Fallback>
                <p:oleObj name="" r:id="rId1" imgW="1333500" imgH="495300" progId="Equation.KSEE3">
                  <p:embed/>
                  <p:pic>
                    <p:nvPicPr>
                      <p:cNvPr id="0" name="图片 614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01985" y="2424705"/>
                        <a:ext cx="2324063" cy="8640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744980" y="3711575"/>
            <a:ext cx="2621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/>
              <a:t>下面推一波公式：</a:t>
            </a:r>
            <a:endParaRPr lang="zh-CN" altLang="en-US" sz="2400"/>
          </a:p>
        </p:txBody>
      </p:sp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356286" y="5287803"/>
          <a:ext cx="7703820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" r:id="rId3" imgW="4431665" imgH="520700" progId="Equation.KSEE3">
                  <p:embed/>
                </p:oleObj>
              </mc:Choice>
              <mc:Fallback>
                <p:oleObj name="" r:id="rId3" imgW="4431665" imgH="520700" progId="Equation.KSEE3">
                  <p:embed/>
                  <p:pic>
                    <p:nvPicPr>
                      <p:cNvPr id="0" name="图片 614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56286" y="5287803"/>
                        <a:ext cx="7703820" cy="904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566070" y="4171967"/>
          <a:ext cx="9554845" cy="972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" name="" r:id="rId5" imgW="5117465" imgH="520700" progId="Equation.KSEE3">
                  <p:embed/>
                </p:oleObj>
              </mc:Choice>
              <mc:Fallback>
                <p:oleObj name="" r:id="rId5" imgW="5117465" imgH="520700" progId="Equation.KSEE3">
                  <p:embed/>
                  <p:pic>
                    <p:nvPicPr>
                      <p:cNvPr id="0" name="图片 614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66070" y="4171967"/>
                        <a:ext cx="9554845" cy="9721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703060" y="2640965"/>
          <a:ext cx="2880021" cy="4320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" name="" r:id="rId7" imgW="1524000" imgH="228600" progId="Equation.KSEE3">
                  <p:embed/>
                </p:oleObj>
              </mc:Choice>
              <mc:Fallback>
                <p:oleObj name="" r:id="rId7" imgW="1524000" imgH="228600" progId="Equation.KSEE3">
                  <p:embed/>
                  <p:pic>
                    <p:nvPicPr>
                      <p:cNvPr id="0" name="图片 614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703060" y="2640965"/>
                        <a:ext cx="2880021" cy="4320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165600" y="871855"/>
          <a:ext cx="3168023" cy="10080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9" name="" r:id="rId1" imgW="1676400" imgH="533400" progId="Equation.KSEE3">
                  <p:embed/>
                </p:oleObj>
              </mc:Choice>
              <mc:Fallback>
                <p:oleObj name="" r:id="rId1" imgW="1676400" imgH="533400" progId="Equation.KSEE3">
                  <p:embed/>
                  <p:pic>
                    <p:nvPicPr>
                      <p:cNvPr id="0" name="图片 716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165600" y="871855"/>
                        <a:ext cx="3168023" cy="10080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560830" y="2632075"/>
            <a:ext cx="7279005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/>
              <a:t>定义平方数为具有平方因子的数，比如</a:t>
            </a:r>
            <a:r>
              <a:rPr lang="en-US" altLang="zh-CN" sz="2400"/>
              <a:t>4,8,9,32</a:t>
            </a:r>
            <a:r>
              <a:rPr lang="zh-CN" altLang="en-US" sz="2400"/>
              <a:t>等等。</a:t>
            </a:r>
            <a:endParaRPr lang="zh-CN" altLang="en-US" sz="2400"/>
          </a:p>
          <a:p>
            <a:r>
              <a:rPr lang="zh-CN" altLang="en-US" sz="2400"/>
              <a:t>求第</a:t>
            </a:r>
            <a:r>
              <a:rPr lang="en-US" altLang="zh-CN" sz="2400"/>
              <a:t>k</a:t>
            </a:r>
            <a:r>
              <a:rPr lang="zh-CN" altLang="en-US" sz="2400"/>
              <a:t>个非平方数（</a:t>
            </a:r>
            <a:r>
              <a:rPr lang="en-US" altLang="zh-CN" sz="2400"/>
              <a:t>k&lt;=1000000000</a:t>
            </a:r>
            <a:r>
              <a:rPr lang="zh-CN" altLang="en-US" sz="2400"/>
              <a:t>）</a:t>
            </a:r>
            <a:endParaRPr lang="zh-CN" altLang="en-US" sz="2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209165" y="2145030"/>
            <a:ext cx="7774305" cy="193802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/>
              <a:t>设</a:t>
            </a:r>
            <a:r>
              <a:rPr lang="en-US" altLang="zh-CN" sz="2400"/>
              <a:t>f(n)</a:t>
            </a:r>
            <a:r>
              <a:rPr lang="zh-CN" altLang="en-US" sz="2400"/>
              <a:t>为</a:t>
            </a:r>
            <a:r>
              <a:rPr lang="en-US" altLang="zh-CN" sz="2400"/>
              <a:t>1</a:t>
            </a:r>
            <a:r>
              <a:rPr lang="zh-CN" altLang="en-US" sz="2400"/>
              <a:t>到</a:t>
            </a:r>
            <a:r>
              <a:rPr lang="en-US" altLang="zh-CN" sz="2400"/>
              <a:t>n</a:t>
            </a:r>
            <a:r>
              <a:rPr lang="zh-CN" altLang="en-US" sz="2400"/>
              <a:t>非平方数的个数，显然</a:t>
            </a:r>
            <a:r>
              <a:rPr lang="en-US" altLang="zh-CN" sz="2400"/>
              <a:t>f(n)</a:t>
            </a:r>
            <a:r>
              <a:rPr lang="zh-CN" altLang="en-US" sz="2400"/>
              <a:t>是非严格递增的。</a:t>
            </a:r>
            <a:endParaRPr lang="zh-CN" altLang="en-US" sz="2400"/>
          </a:p>
          <a:p>
            <a:r>
              <a:rPr lang="zh-CN" altLang="en-US" sz="2400"/>
              <a:t>考虑二分求解此题。</a:t>
            </a:r>
            <a:endParaRPr lang="zh-CN" altLang="en-US" sz="2400"/>
          </a:p>
          <a:p>
            <a:r>
              <a:rPr lang="zh-CN" altLang="en-US" sz="2400"/>
              <a:t>显然我们知道</a:t>
            </a:r>
            <a:r>
              <a:rPr lang="en-US" altLang="zh-CN" sz="2400"/>
              <a:t>1</a:t>
            </a:r>
            <a:r>
              <a:rPr lang="zh-CN" altLang="en-US" sz="2400"/>
              <a:t>到</a:t>
            </a:r>
            <a:r>
              <a:rPr lang="en-US" altLang="zh-CN" sz="2400"/>
              <a:t>n</a:t>
            </a:r>
            <a:r>
              <a:rPr lang="zh-CN" altLang="en-US" sz="2400"/>
              <a:t>平方数个数就能知道</a:t>
            </a:r>
            <a:r>
              <a:rPr lang="en-US" altLang="zh-CN" sz="2400"/>
              <a:t>f(n)</a:t>
            </a:r>
            <a:r>
              <a:rPr lang="zh-CN" altLang="en-US" sz="2400"/>
              <a:t>的大小了。</a:t>
            </a:r>
            <a:endParaRPr lang="zh-CN" altLang="en-US" sz="2400"/>
          </a:p>
          <a:p>
            <a:r>
              <a:rPr lang="zh-CN" altLang="en-US" sz="2400"/>
              <a:t>考虑如何求前</a:t>
            </a:r>
            <a:r>
              <a:rPr lang="en-US" altLang="zh-CN" sz="2400"/>
              <a:t>n</a:t>
            </a:r>
            <a:r>
              <a:rPr lang="zh-CN" altLang="en-US" sz="2400"/>
              <a:t>个数中平方数的个数，设为</a:t>
            </a:r>
            <a:r>
              <a:rPr lang="en-US" altLang="zh-CN" sz="2400"/>
              <a:t>g(n)</a:t>
            </a:r>
            <a:r>
              <a:rPr lang="zh-CN" altLang="en-US" sz="2400"/>
              <a:t>。</a:t>
            </a:r>
            <a:endParaRPr lang="zh-CN" altLang="en-US" sz="2400"/>
          </a:p>
          <a:p>
            <a:endParaRPr lang="zh-CN" altLang="en-US" sz="24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179599" y="1140934"/>
          <a:ext cx="307594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3" name="" r:id="rId1" imgW="1435100" imgH="533400" progId="Equation.KSEE3">
                  <p:embed/>
                </p:oleObj>
              </mc:Choice>
              <mc:Fallback>
                <p:oleObj name="" r:id="rId1" imgW="1435100" imgH="533400" progId="Equation.KSEE3">
                  <p:embed/>
                  <p:pic>
                    <p:nvPicPr>
                      <p:cNvPr id="0" name="图片 819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179599" y="1140934"/>
                        <a:ext cx="3075940" cy="1143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666240" y="3224530"/>
            <a:ext cx="978662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考虑容斥就能得到上述结果。枚举全部平方因子，然后容斥，比如枚举到</a:t>
            </a:r>
            <a:r>
              <a:rPr lang="en-US" altLang="zh-CN"/>
              <a:t>4</a:t>
            </a:r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的平方）</a:t>
            </a:r>
            <a:r>
              <a:rPr lang="zh-CN" altLang="en-US"/>
              <a:t>的时候</a:t>
            </a:r>
            <a:endParaRPr lang="zh-CN" altLang="en-US"/>
          </a:p>
          <a:p>
            <a:r>
              <a:rPr lang="zh-CN" altLang="en-US"/>
              <a:t>会把</a:t>
            </a:r>
            <a:r>
              <a:rPr lang="en-US" altLang="zh-CN"/>
              <a:t>36</a:t>
            </a:r>
            <a:r>
              <a:rPr lang="zh-CN" altLang="en-US"/>
              <a:t>当做平方数去掉，枚举到</a:t>
            </a:r>
            <a:r>
              <a:rPr lang="en-US" altLang="zh-CN"/>
              <a:t>9</a:t>
            </a:r>
            <a:r>
              <a:rPr lang="zh-CN" altLang="en-US"/>
              <a:t>（</a:t>
            </a:r>
            <a:r>
              <a:rPr lang="en-US" altLang="zh-CN"/>
              <a:t>3</a:t>
            </a:r>
            <a:r>
              <a:rPr lang="zh-CN" altLang="en-US"/>
              <a:t>的平方）</a:t>
            </a:r>
            <a:r>
              <a:rPr lang="zh-CN" altLang="en-US"/>
              <a:t>的时候也会把</a:t>
            </a:r>
            <a:r>
              <a:rPr lang="en-US" altLang="zh-CN"/>
              <a:t>36</a:t>
            </a:r>
            <a:r>
              <a:rPr lang="zh-CN" altLang="en-US"/>
              <a:t>当做平方数去掉，那么枚举到</a:t>
            </a:r>
            <a:r>
              <a:rPr lang="en-US" altLang="zh-CN"/>
              <a:t>36</a:t>
            </a:r>
            <a:endParaRPr lang="en-US" altLang="zh-CN"/>
          </a:p>
          <a:p>
            <a:r>
              <a:rPr lang="zh-CN" altLang="en-US"/>
              <a:t>的时候要把</a:t>
            </a:r>
            <a:r>
              <a:rPr lang="en-US" altLang="zh-CN"/>
              <a:t>36</a:t>
            </a:r>
            <a:r>
              <a:rPr lang="zh-CN" altLang="en-US"/>
              <a:t>加回来。保证每个非平方数都不重不漏统计进来，每个平方数都不重不漏地减掉。</a:t>
            </a:r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402715" y="1092200"/>
            <a:ext cx="5440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最后介绍一下一个神奇的分块，考虑这样一个问题：</a:t>
            </a:r>
            <a:endParaRPr lang="zh-CN" altLang="en-US"/>
          </a:p>
        </p:txBody>
      </p:sp>
      <p:graphicFrame>
        <p:nvGraphicFramePr>
          <p:cNvPr id="3" name="对象 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053205" y="2226945"/>
          <a:ext cx="2243093" cy="10800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1" name="" r:id="rId1" imgW="1028700" imgH="495300" progId="Equation.KSEE3">
                  <p:embed/>
                </p:oleObj>
              </mc:Choice>
              <mc:Fallback>
                <p:oleObj name="" r:id="rId1" imgW="1028700" imgH="495300" progId="Equation.KSEE3">
                  <p:embed/>
                  <p:pic>
                    <p:nvPicPr>
                      <p:cNvPr id="0" name="图片 1024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053205" y="2226945"/>
                        <a:ext cx="2243093" cy="10800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245350" y="2551430"/>
          <a:ext cx="1193693" cy="504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2" name="" r:id="rId3" imgW="571500" imgH="241300" progId="Equation.KSEE3">
                  <p:embed/>
                </p:oleObj>
              </mc:Choice>
              <mc:Fallback>
                <p:oleObj name="" r:id="rId3" imgW="571500" imgH="241300" progId="Equation.KSEE3">
                  <p:embed/>
                  <p:pic>
                    <p:nvPicPr>
                      <p:cNvPr id="0" name="图片 1024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245350" y="2551430"/>
                        <a:ext cx="1193693" cy="5040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1705610" y="4856480"/>
            <a:ext cx="9293225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/>
              <a:t>这个函数其实就是</a:t>
            </a:r>
            <a:r>
              <a:rPr lang="en-US" altLang="zh-CN" sz="2400"/>
              <a:t>1</a:t>
            </a:r>
            <a:r>
              <a:rPr lang="zh-CN" altLang="en-US" sz="2400"/>
              <a:t>到</a:t>
            </a:r>
            <a:r>
              <a:rPr lang="en-US" altLang="zh-CN" sz="2400"/>
              <a:t>n</a:t>
            </a:r>
            <a:r>
              <a:rPr lang="zh-CN" altLang="en-US" sz="2400"/>
              <a:t>所有数的约数个数的和。</a:t>
            </a:r>
            <a:endParaRPr lang="zh-CN" altLang="en-US" sz="2400"/>
          </a:p>
          <a:p>
            <a:r>
              <a:rPr lang="zh-CN" altLang="en-US" sz="2400"/>
              <a:t>考虑枚举约数</a:t>
            </a:r>
            <a:r>
              <a:rPr lang="en-US" altLang="zh-CN" sz="2400"/>
              <a:t>i</a:t>
            </a:r>
            <a:r>
              <a:rPr lang="zh-CN" altLang="en-US" sz="2400"/>
              <a:t>，显然</a:t>
            </a:r>
            <a:r>
              <a:rPr lang="en-US" altLang="zh-CN" sz="2400"/>
              <a:t>i</a:t>
            </a:r>
            <a:r>
              <a:rPr lang="zh-CN" altLang="en-US" sz="2400"/>
              <a:t>是</a:t>
            </a:r>
            <a:r>
              <a:rPr lang="en-US" altLang="zh-CN" sz="2400"/>
              <a:t>1</a:t>
            </a:r>
            <a:r>
              <a:rPr lang="zh-CN" altLang="en-US" sz="2400"/>
              <a:t>到</a:t>
            </a:r>
            <a:r>
              <a:rPr lang="en-US" altLang="zh-CN" sz="2400"/>
              <a:t>n</a:t>
            </a:r>
            <a:r>
              <a:rPr lang="zh-CN" altLang="en-US" sz="2400"/>
              <a:t>的，容易知道在</a:t>
            </a:r>
            <a:r>
              <a:rPr lang="en-US" altLang="zh-CN" sz="2400"/>
              <a:t>1</a:t>
            </a:r>
            <a:r>
              <a:rPr lang="zh-CN" altLang="en-US" sz="2400"/>
              <a:t>到</a:t>
            </a:r>
            <a:r>
              <a:rPr lang="en-US" altLang="zh-CN" sz="2400"/>
              <a:t>n</a:t>
            </a:r>
            <a:r>
              <a:rPr lang="zh-CN" altLang="en-US" sz="2400"/>
              <a:t>中</a:t>
            </a:r>
            <a:r>
              <a:rPr lang="en-US" altLang="zh-CN" sz="2400"/>
              <a:t>i</a:t>
            </a:r>
            <a:r>
              <a:rPr lang="zh-CN" altLang="en-US" sz="2400"/>
              <a:t>的倍数有</a:t>
            </a:r>
            <a:r>
              <a:rPr lang="en-US" altLang="zh-CN" sz="2400"/>
              <a:t>n/i</a:t>
            </a:r>
            <a:r>
              <a:rPr lang="zh-CN" altLang="en-US" sz="2400"/>
              <a:t>个。</a:t>
            </a:r>
            <a:endParaRPr lang="zh-CN" altLang="en-US" sz="24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508125" y="1144905"/>
            <a:ext cx="1554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我们可以证明</a:t>
            </a:r>
            <a:endParaRPr lang="en-US" altLang="zh-CN"/>
          </a:p>
        </p:txBody>
      </p:sp>
      <p:graphicFrame>
        <p:nvGraphicFramePr>
          <p:cNvPr id="3" name="对象 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160078" y="829310"/>
          <a:ext cx="437588" cy="6840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5" name="" r:id="rId1" imgW="316865" imgH="495300" progId="Equation.KSEE3">
                  <p:embed/>
                </p:oleObj>
              </mc:Choice>
              <mc:Fallback>
                <p:oleObj name="" r:id="rId1" imgW="316865" imgH="495300" progId="Equation.KSEE3">
                  <p:embed/>
                  <p:pic>
                    <p:nvPicPr>
                      <p:cNvPr id="0" name="图片 1126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160078" y="829310"/>
                        <a:ext cx="437588" cy="6840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3772535" y="1144905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只有最多</a:t>
            </a:r>
            <a:endParaRPr lang="en-US" altLang="zh-CN"/>
          </a:p>
        </p:txBody>
      </p:sp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948555" y="1081405"/>
          <a:ext cx="805097" cy="4320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6" name="" r:id="rId3" imgW="520700" imgH="279400" progId="Equation.KSEE3">
                  <p:embed/>
                </p:oleObj>
              </mc:Choice>
              <mc:Fallback>
                <p:oleObj name="" r:id="rId3" imgW="520700" imgH="279400" progId="Equation.KSEE3">
                  <p:embed/>
                  <p:pic>
                    <p:nvPicPr>
                      <p:cNvPr id="0" name="图片 1126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48555" y="1081405"/>
                        <a:ext cx="805097" cy="4320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5775960" y="1144905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个值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758315" y="2790190"/>
            <a:ext cx="1325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证明：如果</a:t>
            </a:r>
            <a:endParaRPr lang="en-US" altLang="zh-CN"/>
          </a:p>
        </p:txBody>
      </p:sp>
      <p:graphicFrame>
        <p:nvGraphicFramePr>
          <p:cNvPr id="8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160395" y="2726690"/>
          <a:ext cx="842406" cy="4320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7" name="" r:id="rId5" imgW="495300" imgH="254000" progId="Equation.KSEE3">
                  <p:embed/>
                </p:oleObj>
              </mc:Choice>
              <mc:Fallback>
                <p:oleObj name="" r:id="rId5" imgW="495300" imgH="254000" progId="Equation.KSEE3">
                  <p:embed/>
                  <p:pic>
                    <p:nvPicPr>
                      <p:cNvPr id="0" name="图片 1126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60395" y="2726690"/>
                        <a:ext cx="842406" cy="4320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638800" y="3308350"/>
          <a:ext cx="9144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8" name="" r:id="rId7" imgW="914400" imgH="241300" progId="Equation.KSEE3">
                  <p:embed/>
                </p:oleObj>
              </mc:Choice>
              <mc:Fallback>
                <p:oleObj name="" r:id="rId7" imgW="914400" imgH="241300" progId="Equation.KSEE3">
                  <p:embed/>
                  <p:pic>
                    <p:nvPicPr>
                      <p:cNvPr id="0" name="图片 1126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638800" y="3308350"/>
                        <a:ext cx="9144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4101465" y="2790190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显然会有</a:t>
            </a:r>
            <a:endParaRPr lang="zh-CN" altLang="en-US"/>
          </a:p>
        </p:txBody>
      </p:sp>
      <p:graphicFrame>
        <p:nvGraphicFramePr>
          <p:cNvPr id="11" name="对象 1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198745" y="2726690"/>
          <a:ext cx="805097" cy="4320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6" name="" r:id="rId9" imgW="520700" imgH="279400" progId="Equation.KSEE3">
                  <p:embed/>
                </p:oleObj>
              </mc:Choice>
              <mc:Fallback>
                <p:oleObj name="" r:id="rId9" imgW="520700" imgH="279400" progId="Equation.KSEE3">
                  <p:embed/>
                  <p:pic>
                    <p:nvPicPr>
                      <p:cNvPr id="0" name="图片 1126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98745" y="2726690"/>
                        <a:ext cx="805097" cy="4320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6003925" y="2790190"/>
            <a:ext cx="1783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个不同的取值。</a:t>
            </a:r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2444115" y="3595370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如果</a:t>
            </a:r>
            <a:endParaRPr lang="zh-CN" altLang="en-US"/>
          </a:p>
        </p:txBody>
      </p:sp>
      <p:graphicFrame>
        <p:nvGraphicFramePr>
          <p:cNvPr id="16" name="对象 1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160395" y="3531870"/>
          <a:ext cx="842406" cy="4320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0" name="" r:id="rId10" imgW="495300" imgH="254000" progId="Equation.KSEE3">
                  <p:embed/>
                </p:oleObj>
              </mc:Choice>
              <mc:Fallback>
                <p:oleObj name="" r:id="rId10" imgW="495300" imgH="254000" progId="Equation.KSEE3">
                  <p:embed/>
                  <p:pic>
                    <p:nvPicPr>
                      <p:cNvPr id="0" name="图片 11269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160395" y="3531870"/>
                        <a:ext cx="842406" cy="4320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4101465" y="3595370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那么</a:t>
            </a:r>
            <a:endParaRPr lang="zh-CN" altLang="en-US"/>
          </a:p>
        </p:txBody>
      </p:sp>
      <p:graphicFrame>
        <p:nvGraphicFramePr>
          <p:cNvPr id="18" name="对象 1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869815" y="3455670"/>
          <a:ext cx="792006" cy="6480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1" name="" r:id="rId12" imgW="558800" imgH="457200" progId="Equation.KSEE3">
                  <p:embed/>
                </p:oleObj>
              </mc:Choice>
              <mc:Fallback>
                <p:oleObj name="" r:id="rId12" imgW="558800" imgH="457200" progId="Equation.KSEE3">
                  <p:embed/>
                  <p:pic>
                    <p:nvPicPr>
                      <p:cNvPr id="0" name="图片 11270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869815" y="3455670"/>
                        <a:ext cx="792006" cy="6480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18"/>
          <p:cNvSpPr txBox="1"/>
          <p:nvPr/>
        </p:nvSpPr>
        <p:spPr>
          <a:xfrm>
            <a:off x="5775960" y="3595370"/>
            <a:ext cx="1325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此时也只有</a:t>
            </a:r>
            <a:endParaRPr lang="zh-CN" altLang="en-US"/>
          </a:p>
        </p:txBody>
      </p:sp>
      <p:graphicFrame>
        <p:nvGraphicFramePr>
          <p:cNvPr id="20" name="对象 1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101840" y="3549650"/>
          <a:ext cx="805097" cy="4320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" name="" r:id="rId14" imgW="520700" imgH="279400" progId="Equation.KSEE3">
                  <p:embed/>
                </p:oleObj>
              </mc:Choice>
              <mc:Fallback>
                <p:oleObj name="" r:id="rId14" imgW="520700" imgH="279400" progId="Equation.KSEE3">
                  <p:embed/>
                  <p:pic>
                    <p:nvPicPr>
                      <p:cNvPr id="0" name="图片 1126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101840" y="3549650"/>
                        <a:ext cx="805097" cy="4320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文本框 21"/>
          <p:cNvSpPr txBox="1"/>
          <p:nvPr/>
        </p:nvSpPr>
        <p:spPr>
          <a:xfrm>
            <a:off x="7907020" y="3613150"/>
            <a:ext cx="1633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个不同的取值</a:t>
            </a:r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521460" y="907415"/>
            <a:ext cx="723582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/>
              <a:t>那么可以进行这样的操作来求出所有</a:t>
            </a:r>
            <a:r>
              <a:rPr lang="en-US" altLang="zh-CN" sz="2400"/>
              <a:t>n/i</a:t>
            </a:r>
            <a:r>
              <a:rPr lang="zh-CN" altLang="en-US" sz="2400"/>
              <a:t>相同的区间：</a:t>
            </a:r>
            <a:endParaRPr lang="zh-CN" altLang="en-US" sz="2400"/>
          </a:p>
        </p:txBody>
      </p:sp>
      <p:sp>
        <p:nvSpPr>
          <p:cNvPr id="3" name="文本框 2"/>
          <p:cNvSpPr txBox="1"/>
          <p:nvPr/>
        </p:nvSpPr>
        <p:spPr>
          <a:xfrm>
            <a:off x="1521460" y="1998345"/>
            <a:ext cx="7769860" cy="28613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endParaRPr lang="zh-CN" altLang="en-US" b="1">
              <a:latin typeface="Consolas" panose="020B0609020204030204" charset="0"/>
            </a:endParaRPr>
          </a:p>
          <a:p>
            <a:pPr algn="l"/>
            <a:r>
              <a:rPr lang="zh-CN" altLang="en-US" b="1">
                <a:latin typeface="Consolas" panose="020B0609020204030204" charset="0"/>
              </a:rPr>
              <a:t>void wodemaya(int n){</a:t>
            </a:r>
            <a:endParaRPr lang="zh-CN" altLang="en-US" b="1">
              <a:latin typeface="Consolas" panose="020B0609020204030204" charset="0"/>
            </a:endParaRPr>
          </a:p>
          <a:p>
            <a:pPr algn="l"/>
            <a:r>
              <a:rPr lang="zh-CN" altLang="en-US" b="1">
                <a:latin typeface="Consolas" panose="020B0609020204030204" charset="0"/>
              </a:rPr>
              <a:t>	vector&lt;pii&gt;ans;</a:t>
            </a:r>
            <a:endParaRPr lang="zh-CN" altLang="en-US" b="1">
              <a:latin typeface="Consolas" panose="020B0609020204030204" charset="0"/>
            </a:endParaRPr>
          </a:p>
          <a:p>
            <a:pPr algn="l"/>
            <a:r>
              <a:rPr lang="zh-CN" altLang="en-US" b="1">
                <a:latin typeface="Consolas" panose="020B0609020204030204" charset="0"/>
              </a:rPr>
              <a:t>	for(int </a:t>
            </a:r>
            <a:r>
              <a:rPr lang="en-US" altLang="zh-CN" b="1">
                <a:latin typeface="Consolas" panose="020B0609020204030204" charset="0"/>
              </a:rPr>
              <a:t>L</a:t>
            </a:r>
            <a:r>
              <a:rPr lang="zh-CN" altLang="en-US" b="1">
                <a:latin typeface="Consolas" panose="020B0609020204030204" charset="0"/>
              </a:rPr>
              <a:t>=1,</a:t>
            </a:r>
            <a:r>
              <a:rPr lang="en-US" altLang="zh-CN" b="1">
                <a:latin typeface="Consolas" panose="020B0609020204030204" charset="0"/>
              </a:rPr>
              <a:t>R</a:t>
            </a:r>
            <a:r>
              <a:rPr lang="zh-CN" altLang="en-US" b="1">
                <a:latin typeface="Consolas" panose="020B0609020204030204" charset="0"/>
              </a:rPr>
              <a:t>;</a:t>
            </a:r>
            <a:r>
              <a:rPr lang="en-US" altLang="zh-CN" b="1">
                <a:latin typeface="Consolas" panose="020B0609020204030204" charset="0"/>
              </a:rPr>
              <a:t>L</a:t>
            </a:r>
            <a:r>
              <a:rPr lang="zh-CN" altLang="en-US" b="1">
                <a:latin typeface="Consolas" panose="020B0609020204030204" charset="0"/>
              </a:rPr>
              <a:t>&lt;=n;</a:t>
            </a:r>
            <a:r>
              <a:rPr lang="en-US" altLang="zh-CN" b="1">
                <a:latin typeface="Consolas" panose="020B0609020204030204" charset="0"/>
              </a:rPr>
              <a:t>L</a:t>
            </a:r>
            <a:r>
              <a:rPr lang="zh-CN" altLang="en-US" b="1">
                <a:latin typeface="Consolas" panose="020B0609020204030204" charset="0"/>
              </a:rPr>
              <a:t>=</a:t>
            </a:r>
            <a:r>
              <a:rPr lang="en-US" altLang="zh-CN" b="1">
                <a:latin typeface="Consolas" panose="020B0609020204030204" charset="0"/>
              </a:rPr>
              <a:t>R</a:t>
            </a:r>
            <a:r>
              <a:rPr lang="zh-CN" altLang="en-US" b="1">
                <a:latin typeface="Consolas" panose="020B0609020204030204" charset="0"/>
              </a:rPr>
              <a:t>+1){</a:t>
            </a:r>
            <a:endParaRPr lang="zh-CN" altLang="en-US" b="1">
              <a:latin typeface="Consolas" panose="020B0609020204030204" charset="0"/>
            </a:endParaRPr>
          </a:p>
          <a:p>
            <a:pPr algn="l"/>
            <a:r>
              <a:rPr lang="zh-CN" altLang="en-US" b="1">
                <a:latin typeface="Consolas" panose="020B0609020204030204" charset="0"/>
              </a:rPr>
              <a:t>		</a:t>
            </a:r>
            <a:r>
              <a:rPr lang="en-US" altLang="zh-CN" b="1">
                <a:solidFill>
                  <a:srgbClr val="FF0000"/>
                </a:solidFill>
                <a:latin typeface="Consolas" panose="020B0609020204030204" charset="0"/>
              </a:rPr>
              <a:t>R</a:t>
            </a:r>
            <a:r>
              <a:rPr lang="zh-CN" altLang="en-US" b="1">
                <a:solidFill>
                  <a:srgbClr val="FF0000"/>
                </a:solidFill>
                <a:latin typeface="Consolas" panose="020B0609020204030204" charset="0"/>
              </a:rPr>
              <a:t>=n/(n/</a:t>
            </a:r>
            <a:r>
              <a:rPr lang="en-US" altLang="zh-CN" b="1">
                <a:solidFill>
                  <a:srgbClr val="FF0000"/>
                </a:solidFill>
                <a:latin typeface="Consolas" panose="020B0609020204030204" charset="0"/>
              </a:rPr>
              <a:t>L</a:t>
            </a:r>
            <a:r>
              <a:rPr lang="zh-CN" altLang="en-US" b="1">
                <a:solidFill>
                  <a:srgbClr val="FF0000"/>
                </a:solidFill>
                <a:latin typeface="Consolas" panose="020B0609020204030204" charset="0"/>
              </a:rPr>
              <a:t>);</a:t>
            </a:r>
            <a:r>
              <a:rPr lang="en-US" altLang="zh-CN" b="1">
                <a:solidFill>
                  <a:srgbClr val="FF0000"/>
                </a:solidFill>
                <a:latin typeface="Consolas" panose="020B0609020204030204" charset="0"/>
              </a:rPr>
              <a:t>	//</a:t>
            </a:r>
            <a:r>
              <a:rPr lang="zh-CN" altLang="en-US" b="1">
                <a:solidFill>
                  <a:srgbClr val="FF0000"/>
                </a:solidFill>
                <a:latin typeface="Consolas" panose="020B0609020204030204" charset="0"/>
              </a:rPr>
              <a:t>这步操作是精髓，为什么可以这样？</a:t>
            </a:r>
            <a:endParaRPr lang="zh-CN" altLang="en-US" b="1">
              <a:solidFill>
                <a:srgbClr val="FF0000"/>
              </a:solidFill>
              <a:latin typeface="Consolas" panose="020B0609020204030204" charset="0"/>
            </a:endParaRPr>
          </a:p>
          <a:p>
            <a:pPr algn="l"/>
            <a:r>
              <a:rPr lang="zh-CN" altLang="en-US" b="1">
                <a:latin typeface="Consolas" panose="020B0609020204030204" charset="0"/>
              </a:rPr>
              <a:t>		ans.push_back(pii(</a:t>
            </a:r>
            <a:r>
              <a:rPr lang="en-US" altLang="zh-CN" b="1">
                <a:latin typeface="Consolas" panose="020B0609020204030204" charset="0"/>
              </a:rPr>
              <a:t>L</a:t>
            </a:r>
            <a:r>
              <a:rPr lang="zh-CN" altLang="en-US" b="1">
                <a:latin typeface="Consolas" panose="020B0609020204030204" charset="0"/>
              </a:rPr>
              <a:t>,</a:t>
            </a:r>
            <a:r>
              <a:rPr lang="en-US" altLang="zh-CN" b="1">
                <a:latin typeface="Consolas" panose="020B0609020204030204" charset="0"/>
              </a:rPr>
              <a:t>R</a:t>
            </a:r>
            <a:r>
              <a:rPr lang="zh-CN" altLang="en-US" b="1">
                <a:latin typeface="Consolas" panose="020B0609020204030204" charset="0"/>
              </a:rPr>
              <a:t>));</a:t>
            </a:r>
            <a:endParaRPr lang="zh-CN" altLang="en-US" b="1">
              <a:latin typeface="Consolas" panose="020B0609020204030204" charset="0"/>
            </a:endParaRPr>
          </a:p>
          <a:p>
            <a:pPr algn="l"/>
            <a:r>
              <a:rPr lang="zh-CN" altLang="en-US" b="1">
                <a:latin typeface="Consolas" panose="020B0609020204030204" charset="0"/>
              </a:rPr>
              <a:t>	}</a:t>
            </a:r>
            <a:endParaRPr lang="zh-CN" altLang="en-US" b="1">
              <a:latin typeface="Consolas" panose="020B0609020204030204" charset="0"/>
            </a:endParaRPr>
          </a:p>
          <a:p>
            <a:pPr algn="l"/>
            <a:r>
              <a:rPr lang="zh-CN" altLang="en-US" b="1">
                <a:latin typeface="Consolas" panose="020B0609020204030204" charset="0"/>
              </a:rPr>
              <a:t>}</a:t>
            </a:r>
            <a:endParaRPr lang="zh-CN" altLang="en-US" b="1">
              <a:latin typeface="Consolas" panose="020B0609020204030204" charset="0"/>
            </a:endParaRPr>
          </a:p>
          <a:p>
            <a:pPr algn="l"/>
            <a:endParaRPr lang="zh-CN" altLang="en-US" b="1">
              <a:latin typeface="Consolas" panose="020B0609020204030204" charset="0"/>
            </a:endParaRPr>
          </a:p>
          <a:p>
            <a:endParaRPr lang="zh-CN" altLang="en-US" b="1">
              <a:latin typeface="Consolas" panose="020B06090202040302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521460" y="4988560"/>
            <a:ext cx="521144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/>
              <a:t>那一开始提出的问题就很容易解决了</a:t>
            </a:r>
            <a:r>
              <a:rPr lang="en-US" altLang="zh-CN" sz="2400"/>
              <a:t>~</a:t>
            </a:r>
            <a:endParaRPr lang="en-US" altLang="zh-CN" sz="24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92100" y="2336800"/>
            <a:ext cx="1136269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数论是个神奇的东西，可以说是数学学科发展的最久的一个分支之一，但是在现在</a:t>
            </a:r>
            <a:endParaRPr lang="zh-CN" altLang="en-US" sz="2400"/>
          </a:p>
          <a:p>
            <a:r>
              <a:rPr lang="zh-CN" altLang="en-US" sz="2400"/>
              <a:t>的应用中，数论比较少见，仅仅在密码学中会频繁使用数论的知识。</a:t>
            </a:r>
            <a:endParaRPr lang="zh-CN" altLang="en-US" sz="2400"/>
          </a:p>
          <a:p>
            <a:endParaRPr lang="zh-CN" altLang="en-US" sz="2400"/>
          </a:p>
          <a:p>
            <a:endParaRPr lang="zh-CN" altLang="en-US" sz="2400"/>
          </a:p>
          <a:p>
            <a:r>
              <a:rPr lang="zh-CN" altLang="en-US" sz="2400"/>
              <a:t>在算法竞赛中，一般能遇到的数论题要么很简单要么很要命，掌握基本的两个数论</a:t>
            </a:r>
            <a:endParaRPr lang="zh-CN" altLang="en-US" sz="2400"/>
          </a:p>
          <a:p>
            <a:r>
              <a:rPr lang="zh-CN" altLang="en-US" sz="2400"/>
              <a:t>函数</a:t>
            </a:r>
            <a:r>
              <a:rPr lang="en-US" altLang="zh-CN" sz="2400"/>
              <a:t>--</a:t>
            </a:r>
            <a:r>
              <a:rPr lang="zh-CN" altLang="en-US" sz="2400"/>
              <a:t>欧拉函数和莫比乌斯函数是敲开数论大门的敲门砖。</a:t>
            </a:r>
            <a:endParaRPr lang="zh-CN" altLang="en-US"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3068</Words>
  <Application>WPS 演示</Application>
  <PresentationFormat>宽屏</PresentationFormat>
  <Paragraphs>375</Paragraphs>
  <Slides>28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31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28</vt:i4>
      </vt:variant>
      <vt:variant>
        <vt:lpstr>幻灯片标题</vt:lpstr>
      </vt:variant>
      <vt:variant>
        <vt:i4>28</vt:i4>
      </vt:variant>
    </vt:vector>
  </HeadingPairs>
  <TitlesOfParts>
    <vt:vector size="88" baseType="lpstr">
      <vt:lpstr>Arial</vt:lpstr>
      <vt:lpstr>宋体</vt:lpstr>
      <vt:lpstr>Wingdings</vt:lpstr>
      <vt:lpstr>Arial Unicode MS</vt:lpstr>
      <vt:lpstr>Calibri Light</vt:lpstr>
      <vt:lpstr>Calibri</vt:lpstr>
      <vt:lpstr>微软雅黑</vt:lpstr>
      <vt:lpstr>华文仿宋</vt:lpstr>
      <vt:lpstr>华文彩云</vt:lpstr>
      <vt:lpstr>华文琥珀</vt:lpstr>
      <vt:lpstr>Batang</vt:lpstr>
      <vt:lpstr>Malgun Gothic</vt:lpstr>
      <vt:lpstr>MingLiU_HKSCS-ExtB</vt:lpstr>
      <vt:lpstr>PMingLiU</vt:lpstr>
      <vt:lpstr>Aharoni</vt:lpstr>
      <vt:lpstr>SimSun-ExtB</vt:lpstr>
      <vt:lpstr>Agency FB</vt:lpstr>
      <vt:lpstr>Angsana New</vt:lpstr>
      <vt:lpstr>AngsanaUPC</vt:lpstr>
      <vt:lpstr>Arial Narrow</vt:lpstr>
      <vt:lpstr>Bauhaus 93</vt:lpstr>
      <vt:lpstr>Bodoni MT Condensed</vt:lpstr>
      <vt:lpstr>Bodoni MT</vt:lpstr>
      <vt:lpstr>Britannic Bold</vt:lpstr>
      <vt:lpstr>Browallia New</vt:lpstr>
      <vt:lpstr>Californian FB</vt:lpstr>
      <vt:lpstr>Castellar</vt:lpstr>
      <vt:lpstr>Century</vt:lpstr>
      <vt:lpstr>Century Gothic</vt:lpstr>
      <vt:lpstr>Century Schoolbook</vt:lpstr>
      <vt:lpstr>Consolas</vt:lpstr>
      <vt:lpstr>Office 主题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　　　　　唯一。</cp:lastModifiedBy>
  <cp:revision>79</cp:revision>
  <dcterms:created xsi:type="dcterms:W3CDTF">2018-01-25T06:32:23Z</dcterms:created>
  <dcterms:modified xsi:type="dcterms:W3CDTF">2018-01-25T09:52:27Z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2052-10.1.0.7022</vt:lpwstr>
  </property>
</Properties>
</file>