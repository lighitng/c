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4" r:id="rId10"/>
    <p:sldId id="265" r:id="rId11"/>
    <p:sldId id="266" r:id="rId12"/>
    <p:sldId id="263" r:id="rId13"/>
    <p:sldId id="267" r:id="rId14"/>
    <p:sldId id="269" r:id="rId15"/>
    <p:sldId id="268" r:id="rId16"/>
    <p:sldId id="270" r:id="rId17"/>
    <p:sldId id="271" r:id="rId18"/>
    <p:sldId id="272" r:id="rId19"/>
    <p:sldId id="273" r:id="rId20"/>
    <p:sldId id="274" r:id="rId21"/>
    <p:sldId id="275" r:id="rId22"/>
    <p:sldId id="277" r:id="rId23"/>
    <p:sldId id="278" r:id="rId24"/>
    <p:sldId id="279" r:id="rId25"/>
  </p:sldIdLst>
  <p:sldSz cx="12192000" cy="6858000"/>
  <p:notesSz cx="7103745" cy="1023429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1186774" y="1778438"/>
            <a:ext cx="4873574"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1186774" y="2665379"/>
            <a:ext cx="4873574"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256938" y="1778438"/>
            <a:ext cx="4897576"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256938" y="2665379"/>
            <a:ext cx="4897576"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F288E0-7875-42C4-84C8-98DBBD3BF4D2}"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BB5D0-35E4-459D-AEF3-FE4D7C45CC19}"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mc:AlternateContent xmlns:mc="http://schemas.openxmlformats.org/markup-compatibility/2006">
    <mc:Choice xmlns:p14="http://schemas.microsoft.com/office/powerpoint/2010/main" Requires="p14">
      <p:transition p14:dur="500">
        <p:fade/>
      </p:transition>
    </mc:Choice>
    <mc:Fallback>
      <p:transition>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p:cNvGrpSpPr/>
        <p:nvPr/>
      </p:nvGrpSpPr>
      <p:grpSpPr/>
      <p:sp>
        <p:nvSpPr>
          <p:cNvPr id="4" name="文本框 3"/>
          <p:cNvSpPr txBox="1"/>
          <p:nvPr/>
        </p:nvSpPr>
        <p:spPr>
          <a:xfrm>
            <a:off x="2370455" y="2740025"/>
            <a:ext cx="7451090" cy="829945"/>
          </a:xfrm>
          <a:prstGeom prst="rect">
            <a:avLst/>
          </a:prstGeom>
          <a:noFill/>
        </p:spPr>
        <p:txBody>
          <a:bodyPr wrap="square" rtlCol="0">
            <a:spAutoFit/>
          </a:bodyPr>
          <a:p>
            <a:pPr algn="ctr"/>
            <a:r>
              <a:rPr lang="en-US" altLang="zh-CN" sz="4800">
                <a:solidFill>
                  <a:schemeClr val="bg1"/>
                </a:solidFill>
                <a:latin typeface="微软雅黑" panose="020B0503020204020204" charset="-122"/>
                <a:ea typeface="微软雅黑" panose="020B0503020204020204" charset="-122"/>
              </a:rPr>
              <a:t>Day 3 </a:t>
            </a:r>
            <a:r>
              <a:rPr lang="zh-CN" altLang="en-US" sz="4800">
                <a:solidFill>
                  <a:schemeClr val="bg1"/>
                </a:solidFill>
                <a:latin typeface="微软雅黑" panose="020B0503020204020204" charset="-122"/>
                <a:ea typeface="微软雅黑" panose="020B0503020204020204" charset="-122"/>
              </a:rPr>
              <a:t>搜索、动态规划</a:t>
            </a:r>
            <a:endParaRPr lang="zh-CN" altLang="en-US" sz="4800">
              <a:solidFill>
                <a:schemeClr val="bg1"/>
              </a:solidFill>
              <a:latin typeface="微软雅黑" panose="020B0503020204020204" charset="-122"/>
              <a:ea typeface="微软雅黑" panose="020B0503020204020204" charset="-122"/>
            </a:endParaRPr>
          </a:p>
        </p:txBody>
      </p:sp>
      <p:cxnSp>
        <p:nvCxnSpPr>
          <p:cNvPr id="5" name="直接连接符 4"/>
          <p:cNvCxnSpPr/>
          <p:nvPr/>
        </p:nvCxnSpPr>
        <p:spPr>
          <a:xfrm>
            <a:off x="2619375" y="3662045"/>
            <a:ext cx="6953250" cy="0"/>
          </a:xfrm>
          <a:prstGeom prst="line">
            <a:avLst/>
          </a:prstGeom>
          <a:ln w="12700" cmpd="sng">
            <a:solidFill>
              <a:schemeClr val="bg1"/>
            </a:solidFill>
            <a:prstDash val="solid"/>
          </a:ln>
        </p:spPr>
        <p:style>
          <a:lnRef idx="1">
            <a:schemeClr val="dk1"/>
          </a:lnRef>
          <a:fillRef idx="0">
            <a:schemeClr val="dk1"/>
          </a:fillRef>
          <a:effectRef idx="0">
            <a:schemeClr val="dk1"/>
          </a:effectRef>
          <a:fontRef idx="minor">
            <a:schemeClr val="tx1"/>
          </a:fontRef>
        </p:style>
      </p:cxnSp>
      <p:sp>
        <p:nvSpPr>
          <p:cNvPr id="6" name="文本框 5"/>
          <p:cNvSpPr txBox="1"/>
          <p:nvPr/>
        </p:nvSpPr>
        <p:spPr>
          <a:xfrm>
            <a:off x="6398895" y="3872865"/>
            <a:ext cx="3682365" cy="368300"/>
          </a:xfrm>
          <a:prstGeom prst="rect">
            <a:avLst/>
          </a:prstGeom>
          <a:noFill/>
        </p:spPr>
        <p:txBody>
          <a:bodyPr wrap="square" rtlCol="0">
            <a:spAutoFit/>
          </a:bodyPr>
          <a:p>
            <a:pPr algn="ctr"/>
            <a:r>
              <a:rPr lang="en-US" altLang="zh-CN">
                <a:solidFill>
                  <a:schemeClr val="bg1"/>
                </a:solidFill>
                <a:latin typeface="微软雅黑" panose="020B0503020204020204" charset="-122"/>
                <a:ea typeface="微软雅黑" panose="020B0503020204020204" charset="-122"/>
              </a:rPr>
              <a:t>By </a:t>
            </a:r>
            <a:r>
              <a:rPr lang="zh-CN" altLang="en-US">
                <a:solidFill>
                  <a:schemeClr val="bg1"/>
                </a:solidFill>
                <a:latin typeface="微软雅黑" panose="020B0503020204020204" charset="-122"/>
                <a:ea typeface="微软雅黑" panose="020B0503020204020204" charset="-122"/>
              </a:rPr>
              <a:t>苟</a:t>
            </a:r>
            <a:r>
              <a:rPr lang="en-US" altLang="zh-CN">
                <a:solidFill>
                  <a:schemeClr val="bg1"/>
                </a:solidFill>
                <a:latin typeface="微软雅黑" panose="020B0503020204020204" charset="-122"/>
                <a:ea typeface="微软雅黑" panose="020B0503020204020204" charset="-122"/>
              </a:rPr>
              <a:t>·</a:t>
            </a:r>
            <a:r>
              <a:rPr lang="zh-CN" altLang="en-US">
                <a:solidFill>
                  <a:schemeClr val="bg1"/>
                </a:solidFill>
                <a:latin typeface="微软雅黑" panose="020B0503020204020204" charset="-122"/>
                <a:ea typeface="微软雅黑" panose="020B0503020204020204" charset="-122"/>
              </a:rPr>
              <a:t>德川家康</a:t>
            </a:r>
            <a:r>
              <a:rPr lang="en-US" altLang="zh-CN">
                <a:solidFill>
                  <a:schemeClr val="bg1"/>
                </a:solidFill>
                <a:latin typeface="微软雅黑" panose="020B0503020204020204" charset="-122"/>
                <a:ea typeface="微软雅黑" panose="020B0503020204020204" charset="-122"/>
              </a:rPr>
              <a:t>·</a:t>
            </a:r>
            <a:r>
              <a:rPr lang="zh-CN" altLang="en-US">
                <a:solidFill>
                  <a:schemeClr val="bg1"/>
                </a:solidFill>
                <a:latin typeface="微软雅黑" panose="020B0503020204020204" charset="-122"/>
                <a:ea typeface="微软雅黑" panose="020B0503020204020204" charset="-122"/>
              </a:rPr>
              <a:t>薛定谔</a:t>
            </a:r>
            <a:endParaRPr lang="zh-CN" altLang="en-US">
              <a:solidFill>
                <a:schemeClr val="bg1"/>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p:cNvGrpSpPr/>
        <p:nvPr/>
      </p:nvGrpSpPr>
      <p:grpSpPr/>
      <p:sp>
        <p:nvSpPr>
          <p:cNvPr id="4" name="文本框 3"/>
          <p:cNvSpPr txBox="1"/>
          <p:nvPr/>
        </p:nvSpPr>
        <p:spPr>
          <a:xfrm>
            <a:off x="47625" y="126365"/>
            <a:ext cx="7451090" cy="706755"/>
          </a:xfrm>
          <a:prstGeom prst="rect">
            <a:avLst/>
          </a:prstGeom>
          <a:noFill/>
        </p:spPr>
        <p:txBody>
          <a:bodyPr wrap="square" rtlCol="0">
            <a:spAutoFit/>
          </a:bodyPr>
          <a:p>
            <a:pPr algn="l"/>
            <a:r>
              <a:rPr lang="zh-CN" altLang="en-US" sz="4000">
                <a:solidFill>
                  <a:schemeClr val="bg1"/>
                </a:solidFill>
                <a:latin typeface="微软雅黑" panose="020B0503020204020204" charset="-122"/>
                <a:ea typeface="微软雅黑" panose="020B0503020204020204" charset="-122"/>
              </a:rPr>
              <a:t>主要内容</a:t>
            </a:r>
            <a:endParaRPr lang="zh-CN" altLang="en-US" sz="4000">
              <a:solidFill>
                <a:schemeClr val="bg1"/>
              </a:solidFill>
              <a:latin typeface="微软雅黑" panose="020B0503020204020204" charset="-122"/>
              <a:ea typeface="微软雅黑" panose="020B0503020204020204" charset="-122"/>
            </a:endParaRPr>
          </a:p>
        </p:txBody>
      </p:sp>
      <p:cxnSp>
        <p:nvCxnSpPr>
          <p:cNvPr id="5" name="直接连接符 4"/>
          <p:cNvCxnSpPr/>
          <p:nvPr/>
        </p:nvCxnSpPr>
        <p:spPr>
          <a:xfrm>
            <a:off x="78105" y="833120"/>
            <a:ext cx="11974830" cy="0"/>
          </a:xfrm>
          <a:prstGeom prst="line">
            <a:avLst/>
          </a:prstGeom>
          <a:ln w="12700" cmpd="sng">
            <a:solidFill>
              <a:schemeClr val="bg1"/>
            </a:solidFill>
            <a:prstDash val="solid"/>
          </a:ln>
        </p:spPr>
        <p:style>
          <a:lnRef idx="1">
            <a:schemeClr val="dk1"/>
          </a:lnRef>
          <a:fillRef idx="0">
            <a:schemeClr val="dk1"/>
          </a:fillRef>
          <a:effectRef idx="0">
            <a:schemeClr val="dk1"/>
          </a:effectRef>
          <a:fontRef idx="minor">
            <a:schemeClr val="tx1"/>
          </a:fontRef>
        </p:style>
      </p:cxnSp>
      <p:sp>
        <p:nvSpPr>
          <p:cNvPr id="3" name="文本框 2"/>
          <p:cNvSpPr txBox="1"/>
          <p:nvPr/>
        </p:nvSpPr>
        <p:spPr>
          <a:xfrm>
            <a:off x="354965" y="1480820"/>
            <a:ext cx="3069590" cy="3476625"/>
          </a:xfrm>
          <a:prstGeom prst="rect">
            <a:avLst/>
          </a:prstGeom>
          <a:noFill/>
        </p:spPr>
        <p:txBody>
          <a:bodyPr wrap="square" rtlCol="0">
            <a:spAutoFit/>
          </a:bodyPr>
          <a:p>
            <a:pPr algn="l"/>
            <a:r>
              <a:rPr lang="zh-CN" altLang="en-US" sz="3600">
                <a:solidFill>
                  <a:schemeClr val="bg1"/>
                </a:solidFill>
                <a:latin typeface="微软雅黑" panose="020B0503020204020204" charset="-122"/>
                <a:ea typeface="微软雅黑" panose="020B0503020204020204" charset="-122"/>
              </a:rPr>
              <a:t>搜索</a:t>
            </a:r>
            <a:endParaRPr lang="zh-CN" altLang="en-US" sz="3600">
              <a:solidFill>
                <a:schemeClr val="bg1"/>
              </a:solidFill>
              <a:latin typeface="微软雅黑" panose="020B0503020204020204" charset="-122"/>
              <a:ea typeface="微软雅黑" panose="020B0503020204020204" charset="-122"/>
            </a:endParaRPr>
          </a:p>
          <a:p>
            <a:pPr algn="l"/>
            <a:r>
              <a:rPr lang="zh-CN" altLang="en-US" sz="2800">
                <a:solidFill>
                  <a:schemeClr val="bg1"/>
                </a:solidFill>
                <a:latin typeface="微软雅黑" panose="020B0503020204020204" charset="-122"/>
                <a:ea typeface="微软雅黑" panose="020B0503020204020204" charset="-122"/>
              </a:rPr>
              <a:t>    宽度优先搜索</a:t>
            </a:r>
            <a:endParaRPr lang="zh-CN" altLang="en-US" sz="2800">
              <a:solidFill>
                <a:schemeClr val="bg1"/>
              </a:solidFill>
              <a:latin typeface="微软雅黑" panose="020B0503020204020204" charset="-122"/>
              <a:ea typeface="微软雅黑" panose="020B0503020204020204" charset="-122"/>
            </a:endParaRPr>
          </a:p>
          <a:p>
            <a:pPr algn="l"/>
            <a:r>
              <a:rPr lang="zh-CN" altLang="en-US" sz="2800">
                <a:solidFill>
                  <a:schemeClr val="bg1"/>
                </a:solidFill>
                <a:latin typeface="微软雅黑" panose="020B0503020204020204" charset="-122"/>
                <a:ea typeface="微软雅黑" panose="020B0503020204020204" charset="-122"/>
              </a:rPr>
              <a:t>    深度优先搜索</a:t>
            </a:r>
            <a:endParaRPr lang="zh-CN" altLang="en-US" sz="2800">
              <a:solidFill>
                <a:schemeClr val="bg1"/>
              </a:solidFill>
              <a:latin typeface="微软雅黑" panose="020B0503020204020204" charset="-122"/>
              <a:ea typeface="微软雅黑" panose="020B0503020204020204" charset="-122"/>
            </a:endParaRPr>
          </a:p>
          <a:p>
            <a:pPr algn="l"/>
            <a:r>
              <a:rPr lang="zh-CN" altLang="en-US" sz="2800">
                <a:solidFill>
                  <a:schemeClr val="bg1"/>
                </a:solidFill>
                <a:latin typeface="微软雅黑" panose="020B0503020204020204" charset="-122"/>
                <a:ea typeface="微软雅黑" panose="020B0503020204020204" charset="-122"/>
              </a:rPr>
              <a:t>    记忆化搜索</a:t>
            </a:r>
            <a:endParaRPr lang="zh-CN" altLang="en-US" sz="2800">
              <a:solidFill>
                <a:schemeClr val="bg1"/>
              </a:solidFill>
              <a:latin typeface="微软雅黑" panose="020B0503020204020204" charset="-122"/>
              <a:ea typeface="微软雅黑" panose="020B0503020204020204" charset="-122"/>
            </a:endParaRPr>
          </a:p>
          <a:p>
            <a:pPr algn="l"/>
            <a:r>
              <a:rPr lang="zh-CN" altLang="en-US" sz="2800">
                <a:solidFill>
                  <a:schemeClr val="bg1"/>
                </a:solidFill>
                <a:latin typeface="微软雅黑" panose="020B0503020204020204" charset="-122"/>
                <a:ea typeface="微软雅黑" panose="020B0503020204020204" charset="-122"/>
              </a:rPr>
              <a:t>    </a:t>
            </a:r>
            <a:r>
              <a:rPr lang="en-US" altLang="zh-CN" sz="2800">
                <a:solidFill>
                  <a:schemeClr val="bg1"/>
                </a:solidFill>
                <a:latin typeface="微软雅黑" panose="020B0503020204020204" charset="-122"/>
                <a:ea typeface="微软雅黑" panose="020B0503020204020204" charset="-122"/>
              </a:rPr>
              <a:t>*</a:t>
            </a:r>
            <a:r>
              <a:rPr lang="zh-CN" altLang="en-US" sz="2800">
                <a:solidFill>
                  <a:schemeClr val="bg1"/>
                </a:solidFill>
                <a:latin typeface="微软雅黑" panose="020B0503020204020204" charset="-122"/>
                <a:ea typeface="微软雅黑" panose="020B0503020204020204" charset="-122"/>
              </a:rPr>
              <a:t>双向搜索</a:t>
            </a:r>
            <a:endParaRPr lang="zh-CN" altLang="en-US" sz="2800">
              <a:solidFill>
                <a:schemeClr val="bg1"/>
              </a:solidFill>
              <a:latin typeface="微软雅黑" panose="020B0503020204020204" charset="-122"/>
              <a:ea typeface="微软雅黑" panose="020B0503020204020204" charset="-122"/>
            </a:endParaRPr>
          </a:p>
          <a:p>
            <a:pPr algn="l"/>
            <a:endParaRPr lang="zh-CN" altLang="en-US" sz="3600">
              <a:solidFill>
                <a:schemeClr val="bg1"/>
              </a:solidFill>
              <a:latin typeface="微软雅黑" panose="020B0503020204020204" charset="-122"/>
              <a:ea typeface="微软雅黑" panose="020B0503020204020204" charset="-122"/>
            </a:endParaRPr>
          </a:p>
          <a:p>
            <a:pPr algn="l"/>
            <a:endParaRPr lang="zh-CN" altLang="en-US" sz="3600">
              <a:solidFill>
                <a:schemeClr val="bg1"/>
              </a:solidFill>
              <a:latin typeface="微软雅黑" panose="020B0503020204020204" charset="-122"/>
              <a:ea typeface="微软雅黑" panose="020B0503020204020204" charset="-122"/>
            </a:endParaRPr>
          </a:p>
        </p:txBody>
      </p:sp>
      <p:sp>
        <p:nvSpPr>
          <p:cNvPr id="7" name="文本框 6"/>
          <p:cNvSpPr txBox="1"/>
          <p:nvPr/>
        </p:nvSpPr>
        <p:spPr>
          <a:xfrm>
            <a:off x="4334510" y="1480820"/>
            <a:ext cx="3069590" cy="3476625"/>
          </a:xfrm>
          <a:prstGeom prst="rect">
            <a:avLst/>
          </a:prstGeom>
          <a:noFill/>
        </p:spPr>
        <p:txBody>
          <a:bodyPr wrap="square" rtlCol="0">
            <a:spAutoFit/>
          </a:bodyPr>
          <a:p>
            <a:pPr algn="l"/>
            <a:r>
              <a:rPr lang="zh-CN" altLang="en-US" sz="3600">
                <a:solidFill>
                  <a:schemeClr val="bg1"/>
                </a:solidFill>
                <a:latin typeface="微软雅黑" panose="020B0503020204020204" charset="-122"/>
                <a:ea typeface="微软雅黑" panose="020B0503020204020204" charset="-122"/>
              </a:rPr>
              <a:t>动态规划</a:t>
            </a:r>
            <a:endParaRPr lang="zh-CN" altLang="en-US" sz="3600">
              <a:solidFill>
                <a:schemeClr val="bg1"/>
              </a:solidFill>
              <a:latin typeface="微软雅黑" panose="020B0503020204020204" charset="-122"/>
              <a:ea typeface="微软雅黑" panose="020B0503020204020204" charset="-122"/>
            </a:endParaRPr>
          </a:p>
          <a:p>
            <a:pPr algn="l"/>
            <a:r>
              <a:rPr lang="zh-CN" altLang="en-US" sz="2800">
                <a:solidFill>
                  <a:schemeClr val="bg1"/>
                </a:solidFill>
                <a:latin typeface="微软雅黑" panose="020B0503020204020204" charset="-122"/>
                <a:ea typeface="微软雅黑" panose="020B0503020204020204" charset="-122"/>
              </a:rPr>
              <a:t>    背包问题</a:t>
            </a:r>
            <a:endParaRPr lang="zh-CN" altLang="en-US" sz="2800">
              <a:solidFill>
                <a:schemeClr val="bg1"/>
              </a:solidFill>
              <a:latin typeface="微软雅黑" panose="020B0503020204020204" charset="-122"/>
              <a:ea typeface="微软雅黑" panose="020B0503020204020204" charset="-122"/>
            </a:endParaRPr>
          </a:p>
          <a:p>
            <a:pPr algn="l"/>
            <a:r>
              <a:rPr lang="en-US" altLang="zh-CN" sz="2800">
                <a:solidFill>
                  <a:schemeClr val="bg1"/>
                </a:solidFill>
                <a:latin typeface="微软雅黑" panose="020B0503020204020204" charset="-122"/>
                <a:ea typeface="微软雅黑" panose="020B0503020204020204" charset="-122"/>
              </a:rPr>
              <a:t>    </a:t>
            </a:r>
            <a:r>
              <a:rPr lang="zh-CN" altLang="en-US" sz="2800">
                <a:solidFill>
                  <a:schemeClr val="bg1"/>
                </a:solidFill>
                <a:latin typeface="微软雅黑" panose="020B0503020204020204" charset="-122"/>
                <a:ea typeface="微软雅黑" panose="020B0503020204020204" charset="-122"/>
              </a:rPr>
              <a:t>区间动规</a:t>
            </a:r>
            <a:endParaRPr lang="zh-CN" altLang="en-US" sz="2800">
              <a:solidFill>
                <a:schemeClr val="bg1"/>
              </a:solidFill>
              <a:latin typeface="微软雅黑" panose="020B0503020204020204" charset="-122"/>
              <a:ea typeface="微软雅黑" panose="020B0503020204020204" charset="-122"/>
            </a:endParaRPr>
          </a:p>
          <a:p>
            <a:pPr algn="l"/>
            <a:r>
              <a:rPr lang="en-US" altLang="zh-CN" sz="2800">
                <a:solidFill>
                  <a:schemeClr val="bg1"/>
                </a:solidFill>
                <a:latin typeface="微软雅黑" panose="020B0503020204020204" charset="-122"/>
                <a:ea typeface="微软雅黑" panose="020B0503020204020204" charset="-122"/>
              </a:rPr>
              <a:t>    </a:t>
            </a:r>
            <a:r>
              <a:rPr lang="zh-CN" altLang="en-US" sz="2800">
                <a:solidFill>
                  <a:schemeClr val="bg1"/>
                </a:solidFill>
                <a:latin typeface="微软雅黑" panose="020B0503020204020204" charset="-122"/>
                <a:ea typeface="微软雅黑" panose="020B0503020204020204" charset="-122"/>
              </a:rPr>
              <a:t>树状动规</a:t>
            </a:r>
            <a:endParaRPr lang="zh-CN" altLang="en-US" sz="2800">
              <a:solidFill>
                <a:schemeClr val="bg1"/>
              </a:solidFill>
              <a:latin typeface="微软雅黑" panose="020B0503020204020204" charset="-122"/>
              <a:ea typeface="微软雅黑" panose="020B0503020204020204" charset="-122"/>
            </a:endParaRPr>
          </a:p>
          <a:p>
            <a:pPr algn="l"/>
            <a:r>
              <a:rPr lang="zh-CN" altLang="en-US" sz="2800">
                <a:solidFill>
                  <a:schemeClr val="bg1"/>
                </a:solidFill>
                <a:latin typeface="微软雅黑" panose="020B0503020204020204" charset="-122"/>
                <a:ea typeface="微软雅黑" panose="020B0503020204020204" charset="-122"/>
              </a:rPr>
              <a:t>    </a:t>
            </a:r>
            <a:r>
              <a:rPr lang="en-US" altLang="zh-CN" sz="2800">
                <a:solidFill>
                  <a:schemeClr val="bg1"/>
                </a:solidFill>
                <a:latin typeface="微软雅黑" panose="020B0503020204020204" charset="-122"/>
                <a:ea typeface="微软雅黑" panose="020B0503020204020204" charset="-122"/>
              </a:rPr>
              <a:t>*</a:t>
            </a:r>
            <a:r>
              <a:rPr lang="zh-CN" altLang="en-US" sz="2800">
                <a:solidFill>
                  <a:schemeClr val="bg1"/>
                </a:solidFill>
                <a:latin typeface="微软雅黑" panose="020B0503020204020204" charset="-122"/>
                <a:ea typeface="微软雅黑" panose="020B0503020204020204" charset="-122"/>
              </a:rPr>
              <a:t>状压动规</a:t>
            </a:r>
            <a:endParaRPr lang="zh-CN" altLang="en-US" sz="2800">
              <a:solidFill>
                <a:schemeClr val="bg1"/>
              </a:solidFill>
              <a:latin typeface="微软雅黑" panose="020B0503020204020204" charset="-122"/>
              <a:ea typeface="微软雅黑" panose="020B0503020204020204" charset="-122"/>
            </a:endParaRPr>
          </a:p>
          <a:p>
            <a:pPr algn="l"/>
            <a:endParaRPr lang="zh-CN" altLang="en-US" sz="3600">
              <a:solidFill>
                <a:schemeClr val="bg1"/>
              </a:solidFill>
              <a:latin typeface="微软雅黑" panose="020B0503020204020204" charset="-122"/>
              <a:ea typeface="微软雅黑" panose="020B0503020204020204" charset="-122"/>
            </a:endParaRPr>
          </a:p>
          <a:p>
            <a:pPr algn="l"/>
            <a:endParaRPr lang="zh-CN" altLang="en-US" sz="3600">
              <a:solidFill>
                <a:schemeClr val="bg1"/>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p:cNvGrpSpPr/>
        <p:nvPr/>
      </p:nvGrpSpPr>
      <p:grpSpPr/>
      <p:sp>
        <p:nvSpPr>
          <p:cNvPr id="4" name="文本框 3"/>
          <p:cNvSpPr txBox="1"/>
          <p:nvPr/>
        </p:nvSpPr>
        <p:spPr>
          <a:xfrm>
            <a:off x="47625" y="126365"/>
            <a:ext cx="7451090" cy="706755"/>
          </a:xfrm>
          <a:prstGeom prst="rect">
            <a:avLst/>
          </a:prstGeom>
          <a:noFill/>
        </p:spPr>
        <p:txBody>
          <a:bodyPr wrap="square" rtlCol="0">
            <a:spAutoFit/>
          </a:bodyPr>
          <a:p>
            <a:pPr algn="l"/>
            <a:r>
              <a:rPr lang="zh-CN" altLang="en-US" sz="4000">
                <a:solidFill>
                  <a:schemeClr val="bg1"/>
                </a:solidFill>
                <a:latin typeface="微软雅黑" panose="020B0503020204020204" charset="-122"/>
                <a:ea typeface="微软雅黑" panose="020B0503020204020204" charset="-122"/>
                <a:sym typeface="+mn-ea"/>
              </a:rPr>
              <a:t>搜索</a:t>
            </a:r>
            <a:endParaRPr lang="zh-CN" altLang="en-US" sz="4000">
              <a:solidFill>
                <a:schemeClr val="bg1"/>
              </a:solidFill>
              <a:latin typeface="微软雅黑" panose="020B0503020204020204" charset="-122"/>
              <a:ea typeface="微软雅黑" panose="020B0503020204020204" charset="-122"/>
            </a:endParaRPr>
          </a:p>
        </p:txBody>
      </p:sp>
      <p:cxnSp>
        <p:nvCxnSpPr>
          <p:cNvPr id="5" name="直接连接符 4"/>
          <p:cNvCxnSpPr/>
          <p:nvPr/>
        </p:nvCxnSpPr>
        <p:spPr>
          <a:xfrm>
            <a:off x="78105" y="833120"/>
            <a:ext cx="11974830" cy="0"/>
          </a:xfrm>
          <a:prstGeom prst="line">
            <a:avLst/>
          </a:prstGeom>
          <a:ln w="12700" cmpd="sng">
            <a:solidFill>
              <a:schemeClr val="bg1"/>
            </a:solidFill>
            <a:prstDash val="solid"/>
          </a:ln>
        </p:spPr>
        <p:style>
          <a:lnRef idx="1">
            <a:schemeClr val="dk1"/>
          </a:lnRef>
          <a:fillRef idx="0">
            <a:schemeClr val="dk1"/>
          </a:fillRef>
          <a:effectRef idx="0">
            <a:schemeClr val="dk1"/>
          </a:effectRef>
          <a:fontRef idx="minor">
            <a:schemeClr val="tx1"/>
          </a:fontRef>
        </p:style>
      </p:cxnSp>
      <p:sp>
        <p:nvSpPr>
          <p:cNvPr id="3" name="文本框 2"/>
          <p:cNvSpPr txBox="1"/>
          <p:nvPr/>
        </p:nvSpPr>
        <p:spPr>
          <a:xfrm>
            <a:off x="354965" y="1480820"/>
            <a:ext cx="5652135" cy="6185535"/>
          </a:xfrm>
          <a:prstGeom prst="rect">
            <a:avLst/>
          </a:prstGeom>
          <a:noFill/>
        </p:spPr>
        <p:txBody>
          <a:bodyPr wrap="square" rtlCol="0">
            <a:spAutoFit/>
          </a:bodyPr>
          <a:p>
            <a:pPr algn="l"/>
            <a:r>
              <a:rPr lang="zh-CN" altLang="en-US" sz="3600">
                <a:solidFill>
                  <a:schemeClr val="bg1"/>
                </a:solidFill>
                <a:latin typeface="微软雅黑" panose="020B0503020204020204" charset="-122"/>
                <a:ea typeface="微软雅黑" panose="020B0503020204020204" charset="-122"/>
              </a:rPr>
              <a:t>定义：</a:t>
            </a:r>
            <a:endParaRPr lang="zh-CN" altLang="en-US" sz="3600">
              <a:solidFill>
                <a:schemeClr val="bg1"/>
              </a:solidFill>
              <a:latin typeface="微软雅黑" panose="020B0503020204020204" charset="-122"/>
              <a:ea typeface="微软雅黑" panose="020B0503020204020204" charset="-122"/>
            </a:endParaRPr>
          </a:p>
          <a:p>
            <a:pPr algn="l"/>
            <a:r>
              <a:rPr lang="en-US" altLang="zh-CN" sz="3600">
                <a:solidFill>
                  <a:schemeClr val="bg1"/>
                </a:solidFill>
                <a:latin typeface="微软雅黑" panose="020B0503020204020204" charset="-122"/>
                <a:ea typeface="微软雅黑" panose="020B0503020204020204" charset="-122"/>
              </a:rPr>
              <a:t>	</a:t>
            </a:r>
            <a:r>
              <a:rPr lang="zh-CN" altLang="en-US" sz="3600">
                <a:solidFill>
                  <a:schemeClr val="bg1"/>
                </a:solidFill>
                <a:latin typeface="微软雅黑" panose="020B0503020204020204" charset="-122"/>
                <a:ea typeface="微软雅黑" panose="020B0503020204020204" charset="-122"/>
              </a:rPr>
              <a:t>搜索算法是利用计算机的高性能来有目的的穷举一个问题解空间的部分或所有的可能情况，从而求出问题的解的一种方法。</a:t>
            </a:r>
            <a:endParaRPr lang="zh-CN" altLang="en-US" sz="3600">
              <a:solidFill>
                <a:schemeClr val="bg1"/>
              </a:solidFill>
              <a:latin typeface="微软雅黑" panose="020B0503020204020204" charset="-122"/>
              <a:ea typeface="微软雅黑" panose="020B0503020204020204" charset="-122"/>
            </a:endParaRPr>
          </a:p>
          <a:p>
            <a:pPr algn="l"/>
            <a:endParaRPr lang="zh-CN" altLang="en-US" sz="3600">
              <a:solidFill>
                <a:schemeClr val="bg1"/>
              </a:solidFill>
              <a:latin typeface="微软雅黑" panose="020B0503020204020204" charset="-122"/>
              <a:ea typeface="微软雅黑" panose="020B0503020204020204" charset="-122"/>
            </a:endParaRPr>
          </a:p>
          <a:p>
            <a:pPr algn="l"/>
            <a:r>
              <a:rPr lang="zh-CN" altLang="en-US" sz="3600">
                <a:solidFill>
                  <a:schemeClr val="bg1"/>
                </a:solidFill>
                <a:latin typeface="微软雅黑" panose="020B0503020204020204" charset="-122"/>
                <a:ea typeface="微软雅黑" panose="020B0503020204020204" charset="-122"/>
              </a:rPr>
              <a:t>关键：</a:t>
            </a:r>
            <a:endParaRPr lang="zh-CN" altLang="en-US" sz="3600">
              <a:solidFill>
                <a:schemeClr val="bg1"/>
              </a:solidFill>
              <a:latin typeface="微软雅黑" panose="020B0503020204020204" charset="-122"/>
              <a:ea typeface="微软雅黑" panose="020B0503020204020204" charset="-122"/>
            </a:endParaRPr>
          </a:p>
          <a:p>
            <a:pPr algn="l"/>
            <a:r>
              <a:rPr lang="en-US" altLang="zh-CN" sz="3600">
                <a:solidFill>
                  <a:schemeClr val="bg1"/>
                </a:solidFill>
                <a:latin typeface="微软雅黑" panose="020B0503020204020204" charset="-122"/>
                <a:ea typeface="微软雅黑" panose="020B0503020204020204" charset="-122"/>
              </a:rPr>
              <a:t>	初始条件</a:t>
            </a:r>
            <a:r>
              <a:rPr lang="zh-CN" altLang="en-US" sz="3600">
                <a:solidFill>
                  <a:schemeClr val="bg1"/>
                </a:solidFill>
                <a:latin typeface="微软雅黑" panose="020B0503020204020204" charset="-122"/>
                <a:ea typeface="微软雅黑" panose="020B0503020204020204" charset="-122"/>
              </a:rPr>
              <a:t>、</a:t>
            </a:r>
            <a:r>
              <a:rPr lang="en-US" altLang="zh-CN" sz="3600">
                <a:solidFill>
                  <a:schemeClr val="bg1"/>
                </a:solidFill>
                <a:latin typeface="微软雅黑" panose="020B0503020204020204" charset="-122"/>
                <a:ea typeface="微软雅黑" panose="020B0503020204020204" charset="-122"/>
              </a:rPr>
              <a:t>扩展规则</a:t>
            </a:r>
            <a:r>
              <a:rPr lang="zh-CN" altLang="en-US" sz="3600">
                <a:solidFill>
                  <a:schemeClr val="bg1"/>
                </a:solidFill>
                <a:latin typeface="微软雅黑" panose="020B0503020204020204" charset="-122"/>
                <a:ea typeface="微软雅黑" panose="020B0503020204020204" charset="-122"/>
              </a:rPr>
              <a:t>。</a:t>
            </a:r>
            <a:endParaRPr lang="zh-CN" altLang="en-US" sz="3600">
              <a:solidFill>
                <a:schemeClr val="bg1"/>
              </a:solidFill>
              <a:latin typeface="微软雅黑" panose="020B0503020204020204" charset="-122"/>
              <a:ea typeface="微软雅黑" panose="020B0503020204020204" charset="-122"/>
            </a:endParaRPr>
          </a:p>
          <a:p>
            <a:pPr algn="l"/>
            <a:endParaRPr lang="zh-CN" altLang="en-US" sz="3600">
              <a:solidFill>
                <a:schemeClr val="bg1"/>
              </a:solidFill>
              <a:latin typeface="微软雅黑" panose="020B0503020204020204" charset="-122"/>
              <a:ea typeface="微软雅黑" panose="020B0503020204020204" charset="-122"/>
            </a:endParaRPr>
          </a:p>
          <a:p>
            <a:pPr algn="l"/>
            <a:endParaRPr lang="zh-CN" altLang="en-US" sz="3600">
              <a:solidFill>
                <a:schemeClr val="bg1"/>
              </a:solidFill>
              <a:latin typeface="微软雅黑" panose="020B0503020204020204" charset="-122"/>
              <a:ea typeface="微软雅黑" panose="020B0503020204020204" charset="-122"/>
            </a:endParaRPr>
          </a:p>
        </p:txBody>
      </p:sp>
      <p:pic>
        <p:nvPicPr>
          <p:cNvPr id="2" name="图片 1"/>
          <p:cNvPicPr>
            <a:picLocks noChangeAspect="1"/>
          </p:cNvPicPr>
          <p:nvPr/>
        </p:nvPicPr>
        <p:blipFill>
          <a:blip r:embed="rId1"/>
          <a:stretch>
            <a:fillRect/>
          </a:stretch>
        </p:blipFill>
        <p:spPr>
          <a:xfrm>
            <a:off x="5911215" y="1480820"/>
            <a:ext cx="5770880" cy="348869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p:cNvGrpSpPr/>
        <p:nvPr/>
      </p:nvGrpSpPr>
      <p:grpSpPr/>
      <p:sp>
        <p:nvSpPr>
          <p:cNvPr id="4" name="文本框 3"/>
          <p:cNvSpPr txBox="1"/>
          <p:nvPr/>
        </p:nvSpPr>
        <p:spPr>
          <a:xfrm>
            <a:off x="47625" y="126365"/>
            <a:ext cx="7451090" cy="706755"/>
          </a:xfrm>
          <a:prstGeom prst="rect">
            <a:avLst/>
          </a:prstGeom>
          <a:noFill/>
        </p:spPr>
        <p:txBody>
          <a:bodyPr wrap="square" rtlCol="0">
            <a:spAutoFit/>
          </a:bodyPr>
          <a:p>
            <a:pPr algn="l"/>
            <a:r>
              <a:rPr lang="zh-CN" altLang="en-US" sz="4000">
                <a:solidFill>
                  <a:schemeClr val="bg1"/>
                </a:solidFill>
                <a:latin typeface="微软雅黑" panose="020B0503020204020204" charset="-122"/>
                <a:ea typeface="微软雅黑" panose="020B0503020204020204" charset="-122"/>
              </a:rPr>
              <a:t>搜索</a:t>
            </a:r>
            <a:endParaRPr lang="zh-CN" altLang="en-US" sz="4000">
              <a:solidFill>
                <a:schemeClr val="bg1"/>
              </a:solidFill>
              <a:latin typeface="微软雅黑" panose="020B0503020204020204" charset="-122"/>
              <a:ea typeface="微软雅黑" panose="020B0503020204020204" charset="-122"/>
            </a:endParaRPr>
          </a:p>
        </p:txBody>
      </p:sp>
      <p:cxnSp>
        <p:nvCxnSpPr>
          <p:cNvPr id="5" name="直接连接符 4"/>
          <p:cNvCxnSpPr/>
          <p:nvPr/>
        </p:nvCxnSpPr>
        <p:spPr>
          <a:xfrm>
            <a:off x="78105" y="833120"/>
            <a:ext cx="11974830" cy="0"/>
          </a:xfrm>
          <a:prstGeom prst="line">
            <a:avLst/>
          </a:prstGeom>
          <a:ln w="12700" cmpd="sng">
            <a:solidFill>
              <a:schemeClr val="bg1"/>
            </a:solidFill>
            <a:prstDash val="solid"/>
          </a:ln>
        </p:spPr>
        <p:style>
          <a:lnRef idx="1">
            <a:schemeClr val="dk1"/>
          </a:lnRef>
          <a:fillRef idx="0">
            <a:schemeClr val="dk1"/>
          </a:fillRef>
          <a:effectRef idx="0">
            <a:schemeClr val="dk1"/>
          </a:effectRef>
          <a:fontRef idx="minor">
            <a:schemeClr val="tx1"/>
          </a:fontRef>
        </p:style>
      </p:cxnSp>
      <p:sp>
        <p:nvSpPr>
          <p:cNvPr id="3" name="文本框 2"/>
          <p:cNvSpPr txBox="1"/>
          <p:nvPr/>
        </p:nvSpPr>
        <p:spPr>
          <a:xfrm>
            <a:off x="354965" y="1480820"/>
            <a:ext cx="11546840" cy="3969385"/>
          </a:xfrm>
          <a:prstGeom prst="rect">
            <a:avLst/>
          </a:prstGeom>
          <a:noFill/>
        </p:spPr>
        <p:txBody>
          <a:bodyPr wrap="square" rtlCol="0">
            <a:spAutoFit/>
          </a:bodyPr>
          <a:p>
            <a:pPr algn="l"/>
            <a:r>
              <a:rPr lang="zh-CN" altLang="en-US" sz="3600">
                <a:solidFill>
                  <a:schemeClr val="bg1"/>
                </a:solidFill>
                <a:latin typeface="微软雅黑" panose="020B0503020204020204" charset="-122"/>
                <a:ea typeface="微软雅黑" panose="020B0503020204020204" charset="-122"/>
              </a:rPr>
              <a:t>树的遍历方法：</a:t>
            </a:r>
            <a:r>
              <a:rPr lang="en-US" altLang="zh-CN" sz="3600">
                <a:solidFill>
                  <a:schemeClr val="bg1"/>
                </a:solidFill>
                <a:latin typeface="微软雅黑" panose="020B0503020204020204" charset="-122"/>
                <a:ea typeface="微软雅黑" panose="020B0503020204020204" charset="-122"/>
              </a:rPr>
              <a:t>			</a:t>
            </a:r>
            <a:r>
              <a:rPr lang="zh-CN" altLang="en-US" sz="3600">
                <a:solidFill>
                  <a:schemeClr val="bg1"/>
                </a:solidFill>
                <a:latin typeface="微软雅黑" panose="020B0503020204020204" charset="-122"/>
                <a:ea typeface="微软雅黑" panose="020B0503020204020204" charset="-122"/>
              </a:rPr>
              <a:t>搜索方法：</a:t>
            </a:r>
            <a:endParaRPr lang="en-US" altLang="zh-CN" sz="3600">
              <a:solidFill>
                <a:schemeClr val="bg1"/>
              </a:solidFill>
              <a:latin typeface="微软雅黑" panose="020B0503020204020204" charset="-122"/>
              <a:ea typeface="微软雅黑" panose="020B0503020204020204" charset="-122"/>
            </a:endParaRPr>
          </a:p>
          <a:p>
            <a:pPr algn="l"/>
            <a:r>
              <a:rPr lang="en-US" altLang="zh-CN" sz="3600">
                <a:solidFill>
                  <a:schemeClr val="bg1"/>
                </a:solidFill>
                <a:latin typeface="微软雅黑" panose="020B0503020204020204" charset="-122"/>
                <a:ea typeface="微软雅黑" panose="020B0503020204020204" charset="-122"/>
              </a:rPr>
              <a:t>	</a:t>
            </a:r>
            <a:endParaRPr lang="en-US" altLang="zh-CN" sz="3600">
              <a:solidFill>
                <a:schemeClr val="bg1"/>
              </a:solidFill>
              <a:latin typeface="微软雅黑" panose="020B0503020204020204" charset="-122"/>
              <a:ea typeface="微软雅黑" panose="020B0503020204020204" charset="-122"/>
            </a:endParaRPr>
          </a:p>
          <a:p>
            <a:pPr algn="l"/>
            <a:r>
              <a:rPr lang="en-US" altLang="zh-CN" sz="3600">
                <a:solidFill>
                  <a:schemeClr val="bg1"/>
                </a:solidFill>
                <a:latin typeface="微软雅黑" panose="020B0503020204020204" charset="-122"/>
                <a:ea typeface="微软雅黑" panose="020B0503020204020204" charset="-122"/>
              </a:rPr>
              <a:t>	</a:t>
            </a:r>
            <a:r>
              <a:rPr lang="zh-CN" altLang="en-US" sz="3600">
                <a:solidFill>
                  <a:schemeClr val="bg1"/>
                </a:solidFill>
                <a:latin typeface="微软雅黑" panose="020B0503020204020204" charset="-122"/>
                <a:ea typeface="微软雅黑" panose="020B0503020204020204" charset="-122"/>
              </a:rPr>
              <a:t>深度优先遍历    </a:t>
            </a:r>
            <a:r>
              <a:rPr lang="en-US" altLang="zh-CN" sz="3600">
                <a:solidFill>
                  <a:schemeClr val="bg1"/>
                </a:solidFill>
                <a:latin typeface="微软雅黑" panose="020B0503020204020204" charset="-122"/>
                <a:ea typeface="微软雅黑" panose="020B0503020204020204" charset="-122"/>
              </a:rPr>
              <a:t>——&gt;   </a:t>
            </a:r>
            <a:r>
              <a:rPr lang="zh-CN" altLang="en-US" sz="3600">
                <a:solidFill>
                  <a:schemeClr val="bg1"/>
                </a:solidFill>
                <a:latin typeface="微软雅黑" panose="020B0503020204020204" charset="-122"/>
                <a:ea typeface="微软雅黑" panose="020B0503020204020204" charset="-122"/>
              </a:rPr>
              <a:t>深度优先搜索</a:t>
            </a:r>
            <a:endParaRPr lang="zh-CN" altLang="en-US" sz="3600">
              <a:solidFill>
                <a:schemeClr val="bg1"/>
              </a:solidFill>
              <a:latin typeface="微软雅黑" panose="020B0503020204020204" charset="-122"/>
              <a:ea typeface="微软雅黑" panose="020B0503020204020204" charset="-122"/>
            </a:endParaRPr>
          </a:p>
          <a:p>
            <a:pPr algn="l"/>
            <a:r>
              <a:rPr lang="en-US" altLang="zh-CN" sz="3600">
                <a:solidFill>
                  <a:schemeClr val="bg1"/>
                </a:solidFill>
                <a:latin typeface="微软雅黑" panose="020B0503020204020204" charset="-122"/>
                <a:ea typeface="微软雅黑" panose="020B0503020204020204" charset="-122"/>
              </a:rPr>
              <a:t>	</a:t>
            </a:r>
            <a:endParaRPr lang="en-US" altLang="zh-CN" sz="3600">
              <a:solidFill>
                <a:schemeClr val="bg1"/>
              </a:solidFill>
              <a:latin typeface="微软雅黑" panose="020B0503020204020204" charset="-122"/>
              <a:ea typeface="微软雅黑" panose="020B0503020204020204" charset="-122"/>
            </a:endParaRPr>
          </a:p>
          <a:p>
            <a:pPr algn="l"/>
            <a:r>
              <a:rPr lang="en-US" altLang="zh-CN" sz="3600">
                <a:solidFill>
                  <a:schemeClr val="bg1"/>
                </a:solidFill>
                <a:latin typeface="微软雅黑" panose="020B0503020204020204" charset="-122"/>
                <a:ea typeface="微软雅黑" panose="020B0503020204020204" charset="-122"/>
              </a:rPr>
              <a:t>	</a:t>
            </a:r>
            <a:r>
              <a:rPr lang="zh-CN" altLang="en-US" sz="3600">
                <a:solidFill>
                  <a:schemeClr val="bg1"/>
                </a:solidFill>
                <a:latin typeface="微软雅黑" panose="020B0503020204020204" charset="-122"/>
                <a:ea typeface="微软雅黑" panose="020B0503020204020204" charset="-122"/>
              </a:rPr>
              <a:t>宽度优先遍历    </a:t>
            </a:r>
            <a:r>
              <a:rPr lang="en-US" altLang="zh-CN" sz="3600">
                <a:solidFill>
                  <a:schemeClr val="bg1"/>
                </a:solidFill>
                <a:latin typeface="微软雅黑" panose="020B0503020204020204" charset="-122"/>
                <a:ea typeface="微软雅黑" panose="020B0503020204020204" charset="-122"/>
              </a:rPr>
              <a:t>——&gt;   </a:t>
            </a:r>
            <a:r>
              <a:rPr lang="zh-CN" altLang="en-US" sz="3600">
                <a:solidFill>
                  <a:schemeClr val="bg1"/>
                </a:solidFill>
                <a:latin typeface="微软雅黑" panose="020B0503020204020204" charset="-122"/>
                <a:ea typeface="微软雅黑" panose="020B0503020204020204" charset="-122"/>
              </a:rPr>
              <a:t>宽度优先搜索</a:t>
            </a:r>
            <a:endParaRPr lang="zh-CN" altLang="en-US" sz="3600">
              <a:solidFill>
                <a:schemeClr val="bg1"/>
              </a:solidFill>
              <a:latin typeface="微软雅黑" panose="020B0503020204020204" charset="-122"/>
              <a:ea typeface="微软雅黑" panose="020B0503020204020204" charset="-122"/>
            </a:endParaRPr>
          </a:p>
          <a:p>
            <a:pPr algn="l"/>
            <a:endParaRPr lang="zh-CN" altLang="en-US" sz="3600">
              <a:solidFill>
                <a:schemeClr val="bg1"/>
              </a:solidFill>
              <a:latin typeface="微软雅黑" panose="020B0503020204020204" charset="-122"/>
              <a:ea typeface="微软雅黑" panose="020B0503020204020204" charset="-122"/>
            </a:endParaRPr>
          </a:p>
          <a:p>
            <a:pPr algn="l"/>
            <a:endParaRPr lang="zh-CN" altLang="en-US" sz="3600">
              <a:solidFill>
                <a:schemeClr val="bg1"/>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p:cNvGrpSpPr/>
        <p:nvPr/>
      </p:nvGrpSpPr>
      <p:grpSpPr/>
      <p:sp>
        <p:nvSpPr>
          <p:cNvPr id="4" name="文本框 3"/>
          <p:cNvSpPr txBox="1"/>
          <p:nvPr/>
        </p:nvSpPr>
        <p:spPr>
          <a:xfrm>
            <a:off x="47625" y="126365"/>
            <a:ext cx="10784840" cy="706755"/>
          </a:xfrm>
          <a:prstGeom prst="rect">
            <a:avLst/>
          </a:prstGeom>
          <a:noFill/>
        </p:spPr>
        <p:txBody>
          <a:bodyPr wrap="square" rtlCol="0">
            <a:spAutoFit/>
          </a:bodyPr>
          <a:p>
            <a:pPr algn="l"/>
            <a:r>
              <a:rPr lang="zh-CN" altLang="en-US" sz="4000">
                <a:solidFill>
                  <a:schemeClr val="bg1"/>
                </a:solidFill>
                <a:latin typeface="微软雅黑" panose="020B0503020204020204" charset="-122"/>
                <a:ea typeface="微软雅黑" panose="020B0503020204020204" charset="-122"/>
              </a:rPr>
              <a:t>深度优先搜索 Depth First Search </a:t>
            </a:r>
            <a:r>
              <a:rPr lang="en-US" altLang="zh-CN" sz="4000">
                <a:solidFill>
                  <a:schemeClr val="bg1"/>
                </a:solidFill>
                <a:latin typeface="微软雅黑" panose="020B0503020204020204" charset="-122"/>
                <a:ea typeface="微软雅黑" panose="020B0503020204020204" charset="-122"/>
              </a:rPr>
              <a:t>(DFS)</a:t>
            </a:r>
            <a:endParaRPr lang="en-US" altLang="zh-CN" sz="4000">
              <a:solidFill>
                <a:schemeClr val="bg1"/>
              </a:solidFill>
              <a:latin typeface="微软雅黑" panose="020B0503020204020204" charset="-122"/>
              <a:ea typeface="微软雅黑" panose="020B0503020204020204" charset="-122"/>
            </a:endParaRPr>
          </a:p>
        </p:txBody>
      </p:sp>
      <p:cxnSp>
        <p:nvCxnSpPr>
          <p:cNvPr id="5" name="直接连接符 4"/>
          <p:cNvCxnSpPr/>
          <p:nvPr/>
        </p:nvCxnSpPr>
        <p:spPr>
          <a:xfrm>
            <a:off x="78105" y="833120"/>
            <a:ext cx="11974830" cy="0"/>
          </a:xfrm>
          <a:prstGeom prst="line">
            <a:avLst/>
          </a:prstGeom>
          <a:ln w="12700" cmpd="sng">
            <a:solidFill>
              <a:schemeClr val="bg1"/>
            </a:solidFill>
            <a:prstDash val="solid"/>
          </a:ln>
        </p:spPr>
        <p:style>
          <a:lnRef idx="1">
            <a:schemeClr val="dk1"/>
          </a:lnRef>
          <a:fillRef idx="0">
            <a:schemeClr val="dk1"/>
          </a:fillRef>
          <a:effectRef idx="0">
            <a:schemeClr val="dk1"/>
          </a:effectRef>
          <a:fontRef idx="minor">
            <a:schemeClr val="tx1"/>
          </a:fontRef>
        </p:style>
      </p:cxnSp>
      <p:pic>
        <p:nvPicPr>
          <p:cNvPr id="6" name="图片 5"/>
          <p:cNvPicPr>
            <a:picLocks noChangeAspect="1"/>
          </p:cNvPicPr>
          <p:nvPr/>
        </p:nvPicPr>
        <p:blipFill>
          <a:blip r:embed="rId1"/>
          <a:stretch>
            <a:fillRect/>
          </a:stretch>
        </p:blipFill>
        <p:spPr>
          <a:xfrm>
            <a:off x="554990" y="1097280"/>
            <a:ext cx="5287645" cy="3842385"/>
          </a:xfrm>
          <a:prstGeom prst="rect">
            <a:avLst/>
          </a:prstGeom>
        </p:spPr>
      </p:pic>
      <p:pic>
        <p:nvPicPr>
          <p:cNvPr id="7" name="图片 6"/>
          <p:cNvPicPr>
            <a:picLocks noChangeAspect="1"/>
          </p:cNvPicPr>
          <p:nvPr/>
        </p:nvPicPr>
        <p:blipFill>
          <a:blip r:embed="rId2"/>
          <a:stretch>
            <a:fillRect/>
          </a:stretch>
        </p:blipFill>
        <p:spPr>
          <a:xfrm>
            <a:off x="6433185" y="1097280"/>
            <a:ext cx="4919980" cy="3847465"/>
          </a:xfrm>
          <a:prstGeom prst="rect">
            <a:avLst/>
          </a:prstGeom>
        </p:spPr>
      </p:pic>
      <p:sp>
        <p:nvSpPr>
          <p:cNvPr id="8" name="文本框 7"/>
          <p:cNvSpPr txBox="1"/>
          <p:nvPr/>
        </p:nvSpPr>
        <p:spPr>
          <a:xfrm>
            <a:off x="4382135" y="5379720"/>
            <a:ext cx="3427095" cy="1198880"/>
          </a:xfrm>
          <a:prstGeom prst="rect">
            <a:avLst/>
          </a:prstGeom>
          <a:noFill/>
        </p:spPr>
        <p:txBody>
          <a:bodyPr wrap="square" rtlCol="0">
            <a:spAutoFit/>
          </a:bodyPr>
          <a:p>
            <a:pPr algn="ctr"/>
            <a:r>
              <a:rPr lang="zh-CN" altLang="en-US" sz="3600">
                <a:solidFill>
                  <a:schemeClr val="bg1"/>
                </a:solidFill>
                <a:latin typeface="微软雅黑" panose="020B0503020204020204" charset="-122"/>
                <a:ea typeface="微软雅黑" panose="020B0503020204020204" charset="-122"/>
              </a:rPr>
              <a:t>回溯</a:t>
            </a:r>
            <a:endParaRPr lang="en-US" altLang="zh-CN" sz="3600">
              <a:solidFill>
                <a:schemeClr val="bg1"/>
              </a:solidFill>
              <a:latin typeface="微软雅黑" panose="020B0503020204020204" charset="-122"/>
              <a:ea typeface="微软雅黑" panose="020B0503020204020204" charset="-122"/>
            </a:endParaRPr>
          </a:p>
          <a:p>
            <a:pPr algn="ctr"/>
            <a:r>
              <a:rPr lang="zh-CN" altLang="en-US" sz="3600">
                <a:solidFill>
                  <a:schemeClr val="bg1"/>
                </a:solidFill>
                <a:latin typeface="微软雅黑" panose="020B0503020204020204" charset="-122"/>
                <a:ea typeface="微软雅黑" panose="020B0503020204020204" charset="-122"/>
              </a:rPr>
              <a:t>递归</a:t>
            </a:r>
            <a:r>
              <a:rPr lang="en-US" altLang="zh-CN" sz="3600">
                <a:solidFill>
                  <a:schemeClr val="bg1"/>
                </a:solidFill>
                <a:latin typeface="微软雅黑" panose="020B0503020204020204" charset="-122"/>
                <a:ea typeface="微软雅黑" panose="020B0503020204020204" charset="-122"/>
              </a:rPr>
              <a:t>(</a:t>
            </a:r>
            <a:r>
              <a:rPr lang="zh-CN" altLang="en-US" sz="3600">
                <a:solidFill>
                  <a:schemeClr val="bg1"/>
                </a:solidFill>
                <a:latin typeface="微软雅黑" panose="020B0503020204020204" charset="-122"/>
                <a:ea typeface="微软雅黑" panose="020B0503020204020204" charset="-122"/>
              </a:rPr>
              <a:t>栈</a:t>
            </a:r>
            <a:r>
              <a:rPr lang="en-US" altLang="zh-CN" sz="3600">
                <a:solidFill>
                  <a:schemeClr val="bg1"/>
                </a:solidFill>
                <a:latin typeface="微软雅黑" panose="020B0503020204020204" charset="-122"/>
                <a:ea typeface="微软雅黑" panose="020B0503020204020204" charset="-122"/>
              </a:rPr>
              <a:t>)</a:t>
            </a:r>
            <a:endParaRPr lang="en-US" altLang="zh-CN" sz="3600">
              <a:solidFill>
                <a:schemeClr val="bg1"/>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p:cNvGrpSpPr/>
        <p:nvPr/>
      </p:nvGrpSpPr>
      <p:grpSpPr/>
      <p:sp>
        <p:nvSpPr>
          <p:cNvPr id="4" name="文本框 3"/>
          <p:cNvSpPr txBox="1"/>
          <p:nvPr/>
        </p:nvSpPr>
        <p:spPr>
          <a:xfrm>
            <a:off x="47625" y="126365"/>
            <a:ext cx="10784840" cy="706755"/>
          </a:xfrm>
          <a:prstGeom prst="rect">
            <a:avLst/>
          </a:prstGeom>
          <a:noFill/>
        </p:spPr>
        <p:txBody>
          <a:bodyPr wrap="square" rtlCol="0">
            <a:spAutoFit/>
          </a:bodyPr>
          <a:p>
            <a:pPr algn="l"/>
            <a:r>
              <a:rPr lang="zh-CN" altLang="en-US" sz="4000">
                <a:solidFill>
                  <a:schemeClr val="bg1"/>
                </a:solidFill>
                <a:latin typeface="微软雅黑" panose="020B0503020204020204" charset="-122"/>
                <a:ea typeface="微软雅黑" panose="020B0503020204020204" charset="-122"/>
              </a:rPr>
              <a:t>宽度优先搜索 Breadth First Search </a:t>
            </a:r>
            <a:r>
              <a:rPr lang="en-US" altLang="zh-CN" sz="4000">
                <a:solidFill>
                  <a:schemeClr val="bg1"/>
                </a:solidFill>
                <a:latin typeface="微软雅黑" panose="020B0503020204020204" charset="-122"/>
                <a:ea typeface="微软雅黑" panose="020B0503020204020204" charset="-122"/>
              </a:rPr>
              <a:t>(BFS)</a:t>
            </a:r>
            <a:endParaRPr lang="en-US" altLang="zh-CN" sz="4000">
              <a:solidFill>
                <a:schemeClr val="bg1"/>
              </a:solidFill>
              <a:latin typeface="微软雅黑" panose="020B0503020204020204" charset="-122"/>
              <a:ea typeface="微软雅黑" panose="020B0503020204020204" charset="-122"/>
            </a:endParaRPr>
          </a:p>
        </p:txBody>
      </p:sp>
      <p:cxnSp>
        <p:nvCxnSpPr>
          <p:cNvPr id="5" name="直接连接符 4"/>
          <p:cNvCxnSpPr/>
          <p:nvPr/>
        </p:nvCxnSpPr>
        <p:spPr>
          <a:xfrm>
            <a:off x="78105" y="833120"/>
            <a:ext cx="11974830" cy="0"/>
          </a:xfrm>
          <a:prstGeom prst="line">
            <a:avLst/>
          </a:prstGeom>
          <a:ln w="12700" cmpd="sng">
            <a:solidFill>
              <a:schemeClr val="bg1"/>
            </a:solidFill>
            <a:prstDash val="solid"/>
          </a:ln>
        </p:spPr>
        <p:style>
          <a:lnRef idx="1">
            <a:schemeClr val="dk1"/>
          </a:lnRef>
          <a:fillRef idx="0">
            <a:schemeClr val="dk1"/>
          </a:fillRef>
          <a:effectRef idx="0">
            <a:schemeClr val="dk1"/>
          </a:effectRef>
          <a:fontRef idx="minor">
            <a:schemeClr val="tx1"/>
          </a:fontRef>
        </p:style>
      </p:cxnSp>
      <p:pic>
        <p:nvPicPr>
          <p:cNvPr id="6" name="图片 5"/>
          <p:cNvPicPr>
            <a:picLocks noChangeAspect="1"/>
          </p:cNvPicPr>
          <p:nvPr/>
        </p:nvPicPr>
        <p:blipFill>
          <a:blip r:embed="rId1"/>
          <a:stretch>
            <a:fillRect/>
          </a:stretch>
        </p:blipFill>
        <p:spPr>
          <a:xfrm>
            <a:off x="78105" y="1006475"/>
            <a:ext cx="5872480" cy="5662295"/>
          </a:xfrm>
          <a:prstGeom prst="rect">
            <a:avLst/>
          </a:prstGeom>
        </p:spPr>
      </p:pic>
      <p:sp>
        <p:nvSpPr>
          <p:cNvPr id="7" name="文本框 6"/>
          <p:cNvSpPr txBox="1"/>
          <p:nvPr/>
        </p:nvSpPr>
        <p:spPr>
          <a:xfrm>
            <a:off x="5991860" y="1545590"/>
            <a:ext cx="5910580" cy="3969385"/>
          </a:xfrm>
          <a:prstGeom prst="rect">
            <a:avLst/>
          </a:prstGeom>
          <a:noFill/>
        </p:spPr>
        <p:txBody>
          <a:bodyPr wrap="square" rtlCol="0">
            <a:spAutoFit/>
          </a:bodyPr>
          <a:p>
            <a:pPr algn="l"/>
            <a:r>
              <a:rPr sz="3600">
                <a:solidFill>
                  <a:schemeClr val="bg1"/>
                </a:solidFill>
                <a:latin typeface="微软雅黑" panose="020B0503020204020204" charset="-122"/>
                <a:ea typeface="微软雅黑" panose="020B0503020204020204" charset="-122"/>
              </a:rPr>
              <a:t>A-&gt;C-&gt;D-&gt;F-&gt;B-&gt;G-&gt;E</a:t>
            </a:r>
            <a:endParaRPr sz="3600">
              <a:solidFill>
                <a:schemeClr val="bg1"/>
              </a:solidFill>
              <a:latin typeface="微软雅黑" panose="020B0503020204020204" charset="-122"/>
              <a:ea typeface="微软雅黑" panose="020B0503020204020204" charset="-122"/>
            </a:endParaRPr>
          </a:p>
          <a:p>
            <a:pPr algn="l"/>
            <a:endParaRPr sz="3600">
              <a:solidFill>
                <a:schemeClr val="bg1"/>
              </a:solidFill>
              <a:latin typeface="微软雅黑" panose="020B0503020204020204" charset="-122"/>
              <a:ea typeface="微软雅黑" panose="020B0503020204020204" charset="-122"/>
            </a:endParaRPr>
          </a:p>
          <a:p>
            <a:pPr algn="l"/>
            <a:endParaRPr lang="zh-CN" altLang="en-US" sz="3600">
              <a:solidFill>
                <a:schemeClr val="bg1"/>
              </a:solidFill>
              <a:latin typeface="微软雅黑" panose="020B0503020204020204" charset="-122"/>
              <a:ea typeface="微软雅黑" panose="020B0503020204020204" charset="-122"/>
            </a:endParaRPr>
          </a:p>
          <a:p>
            <a:pPr algn="l"/>
            <a:endParaRPr lang="zh-CN" altLang="en-US" sz="3600">
              <a:solidFill>
                <a:schemeClr val="bg1"/>
              </a:solidFill>
              <a:latin typeface="微软雅黑" panose="020B0503020204020204" charset="-122"/>
              <a:ea typeface="微软雅黑" panose="020B0503020204020204" charset="-122"/>
            </a:endParaRPr>
          </a:p>
          <a:p>
            <a:pPr algn="l"/>
            <a:r>
              <a:rPr lang="zh-CN" altLang="en-US" sz="3600">
                <a:solidFill>
                  <a:schemeClr val="bg1"/>
                </a:solidFill>
                <a:latin typeface="微软雅黑" panose="020B0503020204020204" charset="-122"/>
                <a:ea typeface="微软雅黑" panose="020B0503020204020204" charset="-122"/>
              </a:rPr>
              <a:t>队列</a:t>
            </a:r>
            <a:endParaRPr lang="zh-CN" altLang="en-US" sz="3600">
              <a:solidFill>
                <a:schemeClr val="bg1"/>
              </a:solidFill>
              <a:latin typeface="微软雅黑" panose="020B0503020204020204" charset="-122"/>
              <a:ea typeface="微软雅黑" panose="020B0503020204020204" charset="-122"/>
            </a:endParaRPr>
          </a:p>
          <a:p>
            <a:pPr algn="l"/>
            <a:endParaRPr lang="zh-CN" altLang="en-US" sz="3600">
              <a:solidFill>
                <a:schemeClr val="bg1"/>
              </a:solidFill>
              <a:latin typeface="微软雅黑" panose="020B0503020204020204" charset="-122"/>
              <a:ea typeface="微软雅黑" panose="020B0503020204020204" charset="-122"/>
            </a:endParaRPr>
          </a:p>
          <a:p>
            <a:pPr algn="l"/>
            <a:endParaRPr lang="zh-CN" altLang="en-US" sz="3600">
              <a:solidFill>
                <a:schemeClr val="bg1"/>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p:cNvGrpSpPr/>
        <p:nvPr/>
      </p:nvGrpSpPr>
      <p:grpSpPr/>
      <p:sp>
        <p:nvSpPr>
          <p:cNvPr id="4" name="文本框 3"/>
          <p:cNvSpPr txBox="1"/>
          <p:nvPr/>
        </p:nvSpPr>
        <p:spPr>
          <a:xfrm>
            <a:off x="47625" y="126365"/>
            <a:ext cx="10784840" cy="706755"/>
          </a:xfrm>
          <a:prstGeom prst="rect">
            <a:avLst/>
          </a:prstGeom>
          <a:noFill/>
        </p:spPr>
        <p:txBody>
          <a:bodyPr wrap="square" rtlCol="0">
            <a:spAutoFit/>
          </a:bodyPr>
          <a:p>
            <a:pPr algn="l"/>
            <a:r>
              <a:rPr lang="zh-CN" altLang="en-US" sz="4000">
                <a:solidFill>
                  <a:schemeClr val="bg1"/>
                </a:solidFill>
                <a:latin typeface="微软雅黑" panose="020B0503020204020204" charset="-122"/>
                <a:ea typeface="微软雅黑" panose="020B0503020204020204" charset="-122"/>
              </a:rPr>
              <a:t>深搜与宽搜的比较</a:t>
            </a:r>
            <a:endParaRPr lang="zh-CN" altLang="en-US" sz="4000">
              <a:solidFill>
                <a:schemeClr val="bg1"/>
              </a:solidFill>
              <a:latin typeface="微软雅黑" panose="020B0503020204020204" charset="-122"/>
              <a:ea typeface="微软雅黑" panose="020B0503020204020204" charset="-122"/>
            </a:endParaRPr>
          </a:p>
        </p:txBody>
      </p:sp>
      <p:cxnSp>
        <p:nvCxnSpPr>
          <p:cNvPr id="5" name="直接连接符 4"/>
          <p:cNvCxnSpPr/>
          <p:nvPr/>
        </p:nvCxnSpPr>
        <p:spPr>
          <a:xfrm>
            <a:off x="78105" y="833120"/>
            <a:ext cx="11974830" cy="0"/>
          </a:xfrm>
          <a:prstGeom prst="line">
            <a:avLst/>
          </a:prstGeom>
          <a:ln w="12700" cmpd="sng">
            <a:solidFill>
              <a:schemeClr val="bg1"/>
            </a:solidFill>
            <a:prstDash val="solid"/>
          </a:ln>
        </p:spPr>
        <p:style>
          <a:lnRef idx="1">
            <a:schemeClr val="dk1"/>
          </a:lnRef>
          <a:fillRef idx="0">
            <a:schemeClr val="dk1"/>
          </a:fillRef>
          <a:effectRef idx="0">
            <a:schemeClr val="dk1"/>
          </a:effectRef>
          <a:fontRef idx="minor">
            <a:schemeClr val="tx1"/>
          </a:fontRef>
        </p:style>
      </p:cxnSp>
      <p:sp>
        <p:nvSpPr>
          <p:cNvPr id="3" name="文本框 2"/>
          <p:cNvSpPr txBox="1"/>
          <p:nvPr/>
        </p:nvSpPr>
        <p:spPr>
          <a:xfrm>
            <a:off x="354965" y="1480820"/>
            <a:ext cx="11546840" cy="3969385"/>
          </a:xfrm>
          <a:prstGeom prst="rect">
            <a:avLst/>
          </a:prstGeom>
          <a:noFill/>
        </p:spPr>
        <p:txBody>
          <a:bodyPr wrap="square" rtlCol="0">
            <a:spAutoFit/>
          </a:bodyPr>
          <a:p>
            <a:pPr algn="l"/>
            <a:r>
              <a:rPr lang="zh-CN" altLang="en-US" sz="3600">
                <a:solidFill>
                  <a:schemeClr val="bg1"/>
                </a:solidFill>
                <a:latin typeface="微软雅黑" panose="020B0503020204020204" charset="-122"/>
                <a:ea typeface="微软雅黑" panose="020B0503020204020204" charset="-122"/>
              </a:rPr>
              <a:t>具体问题具体分析：</a:t>
            </a:r>
            <a:endParaRPr lang="zh-CN" altLang="en-US" sz="3600">
              <a:solidFill>
                <a:schemeClr val="bg1"/>
              </a:solidFill>
              <a:latin typeface="微软雅黑" panose="020B0503020204020204" charset="-122"/>
              <a:ea typeface="微软雅黑" panose="020B0503020204020204" charset="-122"/>
            </a:endParaRPr>
          </a:p>
          <a:p>
            <a:pPr algn="l"/>
            <a:endParaRPr lang="zh-CN" altLang="en-US" sz="3600">
              <a:solidFill>
                <a:schemeClr val="bg1"/>
              </a:solidFill>
              <a:latin typeface="微软雅黑" panose="020B0503020204020204" charset="-122"/>
              <a:ea typeface="微软雅黑" panose="020B0503020204020204" charset="-122"/>
            </a:endParaRPr>
          </a:p>
          <a:p>
            <a:pPr algn="l"/>
            <a:r>
              <a:rPr lang="en-US" altLang="zh-CN" sz="3600">
                <a:solidFill>
                  <a:schemeClr val="bg1"/>
                </a:solidFill>
                <a:latin typeface="微软雅黑" panose="020B0503020204020204" charset="-122"/>
                <a:ea typeface="微软雅黑" panose="020B0503020204020204" charset="-122"/>
              </a:rPr>
              <a:t>	</a:t>
            </a:r>
            <a:r>
              <a:rPr lang="zh-CN" altLang="en-US" sz="3600">
                <a:solidFill>
                  <a:schemeClr val="bg1"/>
                </a:solidFill>
                <a:latin typeface="微软雅黑" panose="020B0503020204020204" charset="-122"/>
                <a:ea typeface="微软雅黑" panose="020B0503020204020204" charset="-122"/>
              </a:rPr>
              <a:t>八皇后问题</a:t>
            </a:r>
            <a:endParaRPr lang="zh-CN" altLang="en-US" sz="3600">
              <a:solidFill>
                <a:schemeClr val="bg1"/>
              </a:solidFill>
              <a:latin typeface="微软雅黑" panose="020B0503020204020204" charset="-122"/>
              <a:ea typeface="微软雅黑" panose="020B0503020204020204" charset="-122"/>
            </a:endParaRPr>
          </a:p>
          <a:p>
            <a:pPr algn="l"/>
            <a:endParaRPr lang="zh-CN" altLang="en-US" sz="3600">
              <a:solidFill>
                <a:schemeClr val="bg1"/>
              </a:solidFill>
              <a:latin typeface="微软雅黑" panose="020B0503020204020204" charset="-122"/>
              <a:ea typeface="微软雅黑" panose="020B0503020204020204" charset="-122"/>
            </a:endParaRPr>
          </a:p>
          <a:p>
            <a:pPr algn="l"/>
            <a:r>
              <a:rPr lang="en-US" altLang="zh-CN" sz="3600">
                <a:solidFill>
                  <a:schemeClr val="bg1"/>
                </a:solidFill>
                <a:latin typeface="微软雅黑" panose="020B0503020204020204" charset="-122"/>
                <a:ea typeface="微软雅黑" panose="020B0503020204020204" charset="-122"/>
              </a:rPr>
              <a:t>	</a:t>
            </a:r>
            <a:r>
              <a:rPr lang="zh-CN" altLang="en-US" sz="3600">
                <a:solidFill>
                  <a:schemeClr val="bg1"/>
                </a:solidFill>
                <a:latin typeface="微软雅黑" panose="020B0503020204020204" charset="-122"/>
                <a:ea typeface="微软雅黑" panose="020B0503020204020204" charset="-122"/>
              </a:rPr>
              <a:t>走迷宫问题</a:t>
            </a:r>
            <a:endParaRPr lang="zh-CN" altLang="en-US" sz="3600">
              <a:solidFill>
                <a:schemeClr val="bg1"/>
              </a:solidFill>
              <a:latin typeface="微软雅黑" panose="020B0503020204020204" charset="-122"/>
              <a:ea typeface="微软雅黑" panose="020B0503020204020204" charset="-122"/>
            </a:endParaRPr>
          </a:p>
          <a:p>
            <a:pPr algn="l"/>
            <a:endParaRPr lang="zh-CN" altLang="en-US" sz="3600">
              <a:solidFill>
                <a:schemeClr val="bg1"/>
              </a:solidFill>
              <a:latin typeface="微软雅黑" panose="020B0503020204020204" charset="-122"/>
              <a:ea typeface="微软雅黑" panose="020B0503020204020204" charset="-122"/>
            </a:endParaRPr>
          </a:p>
          <a:p>
            <a:pPr algn="l"/>
            <a:endParaRPr lang="zh-CN" altLang="en-US" sz="3600">
              <a:solidFill>
                <a:schemeClr val="bg1"/>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p:cNvGrpSpPr/>
        <p:nvPr/>
      </p:nvGrpSpPr>
      <p:grpSpPr/>
      <p:sp>
        <p:nvSpPr>
          <p:cNvPr id="4" name="文本框 3"/>
          <p:cNvSpPr txBox="1"/>
          <p:nvPr/>
        </p:nvSpPr>
        <p:spPr>
          <a:xfrm>
            <a:off x="47625" y="126365"/>
            <a:ext cx="10784840" cy="706755"/>
          </a:xfrm>
          <a:prstGeom prst="rect">
            <a:avLst/>
          </a:prstGeom>
          <a:noFill/>
        </p:spPr>
        <p:txBody>
          <a:bodyPr wrap="square" rtlCol="0">
            <a:spAutoFit/>
          </a:bodyPr>
          <a:p>
            <a:pPr algn="l"/>
            <a:r>
              <a:rPr lang="zh-CN" altLang="en-US" sz="4000">
                <a:solidFill>
                  <a:schemeClr val="bg1"/>
                </a:solidFill>
                <a:latin typeface="微软雅黑" panose="020B0503020204020204" charset="-122"/>
                <a:ea typeface="微软雅黑" panose="020B0503020204020204" charset="-122"/>
              </a:rPr>
              <a:t>记忆化搜索</a:t>
            </a:r>
            <a:endParaRPr lang="zh-CN" altLang="en-US" sz="4000">
              <a:solidFill>
                <a:schemeClr val="bg1"/>
              </a:solidFill>
              <a:latin typeface="微软雅黑" panose="020B0503020204020204" charset="-122"/>
              <a:ea typeface="微软雅黑" panose="020B0503020204020204" charset="-122"/>
            </a:endParaRPr>
          </a:p>
        </p:txBody>
      </p:sp>
      <p:cxnSp>
        <p:nvCxnSpPr>
          <p:cNvPr id="5" name="直接连接符 4"/>
          <p:cNvCxnSpPr/>
          <p:nvPr/>
        </p:nvCxnSpPr>
        <p:spPr>
          <a:xfrm>
            <a:off x="78105" y="833120"/>
            <a:ext cx="11974830" cy="0"/>
          </a:xfrm>
          <a:prstGeom prst="line">
            <a:avLst/>
          </a:prstGeom>
          <a:ln w="12700" cmpd="sng">
            <a:solidFill>
              <a:schemeClr val="bg1"/>
            </a:solidFill>
            <a:prstDash val="solid"/>
          </a:ln>
        </p:spPr>
        <p:style>
          <a:lnRef idx="1">
            <a:schemeClr val="dk1"/>
          </a:lnRef>
          <a:fillRef idx="0">
            <a:schemeClr val="dk1"/>
          </a:fillRef>
          <a:effectRef idx="0">
            <a:schemeClr val="dk1"/>
          </a:effectRef>
          <a:fontRef idx="minor">
            <a:schemeClr val="tx1"/>
          </a:fontRef>
        </p:style>
      </p:cxnSp>
      <p:sp>
        <p:nvSpPr>
          <p:cNvPr id="3" name="文本框 2"/>
          <p:cNvSpPr txBox="1"/>
          <p:nvPr/>
        </p:nvSpPr>
        <p:spPr>
          <a:xfrm>
            <a:off x="354965" y="1480820"/>
            <a:ext cx="11546840" cy="2306955"/>
          </a:xfrm>
          <a:prstGeom prst="rect">
            <a:avLst/>
          </a:prstGeom>
          <a:noFill/>
        </p:spPr>
        <p:txBody>
          <a:bodyPr wrap="square" rtlCol="0">
            <a:spAutoFit/>
          </a:bodyPr>
          <a:p>
            <a:pPr algn="l"/>
            <a:r>
              <a:rPr lang="en-US" altLang="zh-CN" sz="3600">
                <a:solidFill>
                  <a:schemeClr val="bg1"/>
                </a:solidFill>
                <a:latin typeface="微软雅黑" panose="020B0503020204020204" charset="-122"/>
                <a:ea typeface="微软雅黑" panose="020B0503020204020204" charset="-122"/>
              </a:rPr>
              <a:t>	</a:t>
            </a:r>
            <a:r>
              <a:rPr lang="zh-CN" altLang="en-US" sz="3600">
                <a:solidFill>
                  <a:schemeClr val="bg1"/>
                </a:solidFill>
                <a:latin typeface="微软雅黑" panose="020B0503020204020204" charset="-122"/>
                <a:ea typeface="微软雅黑" panose="020B0503020204020204" charset="-122"/>
              </a:rPr>
              <a:t>当每个状态都只对应唯一一个解，可以把每次求出来的解储存起来，当再一次询问该状态的解时，直接返回之前储存下来的解，以达到提高算法效率的目的。</a:t>
            </a:r>
            <a:endParaRPr lang="zh-CN" altLang="en-US" sz="3600">
              <a:solidFill>
                <a:schemeClr val="bg1"/>
              </a:solidFill>
              <a:latin typeface="微软雅黑" panose="020B0503020204020204" charset="-122"/>
              <a:ea typeface="微软雅黑" panose="020B0503020204020204" charset="-122"/>
            </a:endParaRPr>
          </a:p>
          <a:p>
            <a:pPr algn="l"/>
            <a:r>
              <a:rPr lang="zh-CN" altLang="en-US" sz="3600">
                <a:solidFill>
                  <a:schemeClr val="bg1"/>
                </a:solidFill>
                <a:latin typeface="微软雅黑" panose="020B0503020204020204" charset="-122"/>
                <a:ea typeface="微软雅黑" panose="020B0503020204020204" charset="-122"/>
              </a:rPr>
              <a:t>（空间换时间）</a:t>
            </a:r>
            <a:endParaRPr lang="zh-CN" altLang="en-US" sz="3600">
              <a:solidFill>
                <a:schemeClr val="bg1"/>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p:cNvGrpSpPr/>
        <p:nvPr/>
      </p:nvGrpSpPr>
      <p:grpSpPr/>
      <p:sp>
        <p:nvSpPr>
          <p:cNvPr id="4" name="文本框 3"/>
          <p:cNvSpPr txBox="1"/>
          <p:nvPr/>
        </p:nvSpPr>
        <p:spPr>
          <a:xfrm>
            <a:off x="47625" y="126365"/>
            <a:ext cx="10784840" cy="706755"/>
          </a:xfrm>
          <a:prstGeom prst="rect">
            <a:avLst/>
          </a:prstGeom>
          <a:noFill/>
        </p:spPr>
        <p:txBody>
          <a:bodyPr wrap="square" rtlCol="0">
            <a:spAutoFit/>
          </a:bodyPr>
          <a:p>
            <a:pPr algn="l"/>
            <a:r>
              <a:rPr lang="zh-CN" altLang="en-US" sz="4000">
                <a:solidFill>
                  <a:schemeClr val="bg1"/>
                </a:solidFill>
                <a:latin typeface="微软雅黑" panose="020B0503020204020204" charset="-122"/>
                <a:ea typeface="微软雅黑" panose="020B0503020204020204" charset="-122"/>
              </a:rPr>
              <a:t>双向广度搜索</a:t>
            </a:r>
            <a:endParaRPr lang="zh-CN" altLang="en-US" sz="4000">
              <a:solidFill>
                <a:schemeClr val="bg1"/>
              </a:solidFill>
              <a:latin typeface="微软雅黑" panose="020B0503020204020204" charset="-122"/>
              <a:ea typeface="微软雅黑" panose="020B0503020204020204" charset="-122"/>
            </a:endParaRPr>
          </a:p>
        </p:txBody>
      </p:sp>
      <p:cxnSp>
        <p:nvCxnSpPr>
          <p:cNvPr id="5" name="直接连接符 4"/>
          <p:cNvCxnSpPr/>
          <p:nvPr/>
        </p:nvCxnSpPr>
        <p:spPr>
          <a:xfrm>
            <a:off x="78105" y="833120"/>
            <a:ext cx="11974830" cy="0"/>
          </a:xfrm>
          <a:prstGeom prst="line">
            <a:avLst/>
          </a:prstGeom>
          <a:ln w="12700" cmpd="sng">
            <a:solidFill>
              <a:schemeClr val="bg1"/>
            </a:solidFill>
            <a:prstDash val="solid"/>
          </a:ln>
        </p:spPr>
        <p:style>
          <a:lnRef idx="1">
            <a:schemeClr val="dk1"/>
          </a:lnRef>
          <a:fillRef idx="0">
            <a:schemeClr val="dk1"/>
          </a:fillRef>
          <a:effectRef idx="0">
            <a:schemeClr val="dk1"/>
          </a:effectRef>
          <a:fontRef idx="minor">
            <a:schemeClr val="tx1"/>
          </a:fontRef>
        </p:style>
      </p:cxnSp>
      <p:sp>
        <p:nvSpPr>
          <p:cNvPr id="3" name="文本框 2"/>
          <p:cNvSpPr txBox="1"/>
          <p:nvPr/>
        </p:nvSpPr>
        <p:spPr>
          <a:xfrm>
            <a:off x="354965" y="1275715"/>
            <a:ext cx="10842625" cy="2861310"/>
          </a:xfrm>
          <a:prstGeom prst="rect">
            <a:avLst/>
          </a:prstGeom>
          <a:noFill/>
        </p:spPr>
        <p:txBody>
          <a:bodyPr wrap="square" rtlCol="0">
            <a:spAutoFit/>
          </a:bodyPr>
          <a:p>
            <a:pPr algn="l"/>
            <a:r>
              <a:rPr lang="zh-CN" altLang="en-US" sz="3600">
                <a:solidFill>
                  <a:schemeClr val="bg1"/>
                </a:solidFill>
                <a:latin typeface="微软雅黑" panose="020B0503020204020204" charset="-122"/>
                <a:ea typeface="微软雅黑" panose="020B0503020204020204" charset="-122"/>
              </a:rPr>
              <a:t>所谓双向搜索指的是搜索沿两个方向同时进行：</a:t>
            </a:r>
            <a:endParaRPr lang="zh-CN" altLang="en-US" sz="3600">
              <a:solidFill>
                <a:schemeClr val="bg1"/>
              </a:solidFill>
              <a:latin typeface="微软雅黑" panose="020B0503020204020204" charset="-122"/>
              <a:ea typeface="微软雅黑" panose="020B0503020204020204" charset="-122"/>
            </a:endParaRPr>
          </a:p>
          <a:p>
            <a:pPr algn="l"/>
            <a:r>
              <a:rPr lang="en-US" altLang="zh-CN" sz="3600">
                <a:solidFill>
                  <a:schemeClr val="bg1"/>
                </a:solidFill>
                <a:latin typeface="微软雅黑" panose="020B0503020204020204" charset="-122"/>
                <a:ea typeface="微软雅黑" panose="020B0503020204020204" charset="-122"/>
              </a:rPr>
              <a:t>	</a:t>
            </a:r>
            <a:r>
              <a:rPr lang="zh-CN" altLang="en-US" sz="3600">
                <a:solidFill>
                  <a:schemeClr val="bg1"/>
                </a:solidFill>
                <a:latin typeface="微软雅黑" panose="020B0503020204020204" charset="-122"/>
                <a:ea typeface="微软雅黑" panose="020B0503020204020204" charset="-122"/>
              </a:rPr>
              <a:t>正向搜索：从初始结点向目标结点方向搜索；</a:t>
            </a:r>
            <a:endParaRPr lang="zh-CN" altLang="en-US" sz="3600">
              <a:solidFill>
                <a:schemeClr val="bg1"/>
              </a:solidFill>
              <a:latin typeface="微软雅黑" panose="020B0503020204020204" charset="-122"/>
              <a:ea typeface="微软雅黑" panose="020B0503020204020204" charset="-122"/>
            </a:endParaRPr>
          </a:p>
          <a:p>
            <a:pPr algn="l"/>
            <a:r>
              <a:rPr lang="en-US" altLang="zh-CN" sz="3600">
                <a:solidFill>
                  <a:schemeClr val="bg1"/>
                </a:solidFill>
                <a:latin typeface="微软雅黑" panose="020B0503020204020204" charset="-122"/>
                <a:ea typeface="微软雅黑" panose="020B0503020204020204" charset="-122"/>
              </a:rPr>
              <a:t>	</a:t>
            </a:r>
            <a:r>
              <a:rPr lang="zh-CN" altLang="en-US" sz="3600">
                <a:solidFill>
                  <a:schemeClr val="bg1"/>
                </a:solidFill>
                <a:latin typeface="微软雅黑" panose="020B0503020204020204" charset="-122"/>
                <a:ea typeface="微软雅黑" panose="020B0503020204020204" charset="-122"/>
              </a:rPr>
              <a:t>逆向搜索：从目标结点向初始结点方向搜索；</a:t>
            </a:r>
            <a:endParaRPr lang="zh-CN" altLang="en-US" sz="3600">
              <a:solidFill>
                <a:schemeClr val="bg1"/>
              </a:solidFill>
              <a:latin typeface="微软雅黑" panose="020B0503020204020204" charset="-122"/>
              <a:ea typeface="微软雅黑" panose="020B0503020204020204" charset="-122"/>
            </a:endParaRPr>
          </a:p>
          <a:p>
            <a:pPr algn="l"/>
            <a:endParaRPr lang="zh-CN" altLang="en-US" sz="3600">
              <a:solidFill>
                <a:schemeClr val="bg1"/>
              </a:solidFill>
              <a:latin typeface="微软雅黑" panose="020B0503020204020204" charset="-122"/>
              <a:ea typeface="微软雅黑" panose="020B0503020204020204" charset="-122"/>
            </a:endParaRPr>
          </a:p>
          <a:p>
            <a:pPr algn="l"/>
            <a:r>
              <a:rPr lang="zh-CN" altLang="en-US" sz="3600">
                <a:solidFill>
                  <a:schemeClr val="bg1"/>
                </a:solidFill>
                <a:latin typeface="微软雅黑" panose="020B0503020204020204" charset="-122"/>
                <a:ea typeface="微软雅黑" panose="020B0503020204020204" charset="-122"/>
              </a:rPr>
              <a:t>当两个方向的搜索生成同一子结点时终止此搜索过程。</a:t>
            </a:r>
            <a:endParaRPr lang="zh-CN" altLang="en-US" sz="3600">
              <a:solidFill>
                <a:schemeClr val="bg1"/>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p:cNvGrpSpPr/>
        <p:nvPr/>
      </p:nvGrpSpPr>
      <p:grpSpPr/>
      <p:sp>
        <p:nvSpPr>
          <p:cNvPr id="4" name="文本框 3"/>
          <p:cNvSpPr txBox="1"/>
          <p:nvPr/>
        </p:nvSpPr>
        <p:spPr>
          <a:xfrm>
            <a:off x="47625" y="126365"/>
            <a:ext cx="10784840" cy="706755"/>
          </a:xfrm>
          <a:prstGeom prst="rect">
            <a:avLst/>
          </a:prstGeom>
          <a:noFill/>
        </p:spPr>
        <p:txBody>
          <a:bodyPr wrap="square" rtlCol="0">
            <a:spAutoFit/>
          </a:bodyPr>
          <a:p>
            <a:pPr algn="l"/>
            <a:r>
              <a:rPr lang="zh-CN" altLang="en-US" sz="4000">
                <a:solidFill>
                  <a:schemeClr val="bg1"/>
                </a:solidFill>
                <a:latin typeface="微软雅黑" panose="020B0503020204020204" charset="-122"/>
                <a:ea typeface="微软雅黑" panose="020B0503020204020204" charset="-122"/>
              </a:rPr>
              <a:t>双向广度搜索</a:t>
            </a:r>
            <a:endParaRPr lang="zh-CN" altLang="en-US" sz="4000">
              <a:solidFill>
                <a:schemeClr val="bg1"/>
              </a:solidFill>
              <a:latin typeface="微软雅黑" panose="020B0503020204020204" charset="-122"/>
              <a:ea typeface="微软雅黑" panose="020B0503020204020204" charset="-122"/>
            </a:endParaRPr>
          </a:p>
        </p:txBody>
      </p:sp>
      <p:cxnSp>
        <p:nvCxnSpPr>
          <p:cNvPr id="5" name="直接连接符 4"/>
          <p:cNvCxnSpPr/>
          <p:nvPr/>
        </p:nvCxnSpPr>
        <p:spPr>
          <a:xfrm>
            <a:off x="78105" y="833120"/>
            <a:ext cx="11974830" cy="0"/>
          </a:xfrm>
          <a:prstGeom prst="line">
            <a:avLst/>
          </a:prstGeom>
          <a:ln w="12700" cmpd="sng">
            <a:solidFill>
              <a:schemeClr val="bg1"/>
            </a:solidFill>
            <a:prstDash val="solid"/>
          </a:ln>
        </p:spPr>
        <p:style>
          <a:lnRef idx="1">
            <a:schemeClr val="dk1"/>
          </a:lnRef>
          <a:fillRef idx="0">
            <a:schemeClr val="dk1"/>
          </a:fillRef>
          <a:effectRef idx="0">
            <a:schemeClr val="dk1"/>
          </a:effectRef>
          <a:fontRef idx="minor">
            <a:schemeClr val="tx1"/>
          </a:fontRef>
        </p:style>
      </p:cxnSp>
      <p:sp>
        <p:nvSpPr>
          <p:cNvPr id="2" name="等腰三角形 1"/>
          <p:cNvSpPr/>
          <p:nvPr/>
        </p:nvSpPr>
        <p:spPr>
          <a:xfrm>
            <a:off x="3284855" y="1101090"/>
            <a:ext cx="5561330" cy="5561330"/>
          </a:xfrm>
          <a:prstGeom prst="triangl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等腰三角形 5"/>
          <p:cNvSpPr/>
          <p:nvPr/>
        </p:nvSpPr>
        <p:spPr>
          <a:xfrm rot="10800000">
            <a:off x="4686300" y="3886200"/>
            <a:ext cx="2776220" cy="2776220"/>
          </a:xfrm>
          <a:prstGeom prst="triangle">
            <a:avLst/>
          </a:prstGeom>
          <a:solidFill>
            <a:schemeClr val="tx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 name="等腰三角形 6"/>
          <p:cNvSpPr/>
          <p:nvPr/>
        </p:nvSpPr>
        <p:spPr>
          <a:xfrm>
            <a:off x="4675505" y="1109980"/>
            <a:ext cx="2776220" cy="2776220"/>
          </a:xfrm>
          <a:prstGeom prst="triangle">
            <a:avLst/>
          </a:prstGeom>
          <a:solidFill>
            <a:schemeClr val="tx1">
              <a:lumMod val="50000"/>
              <a:lumOff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椭圆 7"/>
          <p:cNvSpPr/>
          <p:nvPr/>
        </p:nvSpPr>
        <p:spPr>
          <a:xfrm>
            <a:off x="5971540" y="1012825"/>
            <a:ext cx="205105" cy="205105"/>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p>
            <a:pPr algn="ctr"/>
            <a:endParaRPr lang="zh-CN" altLang="en-US"/>
          </a:p>
        </p:txBody>
      </p:sp>
      <p:sp>
        <p:nvSpPr>
          <p:cNvPr id="9" name="椭圆 8"/>
          <p:cNvSpPr/>
          <p:nvPr/>
        </p:nvSpPr>
        <p:spPr>
          <a:xfrm>
            <a:off x="5971540" y="6563360"/>
            <a:ext cx="205105" cy="205105"/>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p:cNvGrpSpPr/>
        <p:nvPr/>
      </p:nvGrpSpPr>
      <p:grpSpPr/>
      <p:sp>
        <p:nvSpPr>
          <p:cNvPr id="4" name="文本框 3"/>
          <p:cNvSpPr txBox="1"/>
          <p:nvPr/>
        </p:nvSpPr>
        <p:spPr>
          <a:xfrm>
            <a:off x="47625" y="126365"/>
            <a:ext cx="10784840" cy="706755"/>
          </a:xfrm>
          <a:prstGeom prst="rect">
            <a:avLst/>
          </a:prstGeom>
          <a:noFill/>
        </p:spPr>
        <p:txBody>
          <a:bodyPr wrap="square" rtlCol="0">
            <a:spAutoFit/>
          </a:bodyPr>
          <a:p>
            <a:pPr algn="l"/>
            <a:r>
              <a:rPr lang="zh-CN" altLang="en-US" sz="4000">
                <a:solidFill>
                  <a:schemeClr val="bg1"/>
                </a:solidFill>
                <a:latin typeface="微软雅黑" panose="020B0503020204020204" charset="-122"/>
                <a:ea typeface="微软雅黑" panose="020B0503020204020204" charset="-122"/>
              </a:rPr>
              <a:t>剪枝优化</a:t>
            </a:r>
            <a:endParaRPr lang="zh-CN" altLang="en-US" sz="4000">
              <a:solidFill>
                <a:schemeClr val="bg1"/>
              </a:solidFill>
              <a:latin typeface="微软雅黑" panose="020B0503020204020204" charset="-122"/>
              <a:ea typeface="微软雅黑" panose="020B0503020204020204" charset="-122"/>
            </a:endParaRPr>
          </a:p>
        </p:txBody>
      </p:sp>
      <p:cxnSp>
        <p:nvCxnSpPr>
          <p:cNvPr id="5" name="直接连接符 4"/>
          <p:cNvCxnSpPr/>
          <p:nvPr/>
        </p:nvCxnSpPr>
        <p:spPr>
          <a:xfrm>
            <a:off x="78105" y="833120"/>
            <a:ext cx="11974830" cy="0"/>
          </a:xfrm>
          <a:prstGeom prst="line">
            <a:avLst/>
          </a:prstGeom>
          <a:ln w="12700" cmpd="sng">
            <a:solidFill>
              <a:schemeClr val="bg1"/>
            </a:solidFill>
            <a:prstDash val="solid"/>
          </a:ln>
        </p:spPr>
        <p:style>
          <a:lnRef idx="1">
            <a:schemeClr val="dk1"/>
          </a:lnRef>
          <a:fillRef idx="0">
            <a:schemeClr val="dk1"/>
          </a:fillRef>
          <a:effectRef idx="0">
            <a:schemeClr val="dk1"/>
          </a:effectRef>
          <a:fontRef idx="minor">
            <a:schemeClr val="tx1"/>
          </a:fontRef>
        </p:style>
      </p:cxnSp>
      <p:sp>
        <p:nvSpPr>
          <p:cNvPr id="3" name="文本框 2"/>
          <p:cNvSpPr txBox="1"/>
          <p:nvPr/>
        </p:nvSpPr>
        <p:spPr>
          <a:xfrm>
            <a:off x="354965" y="1480820"/>
            <a:ext cx="11546840" cy="4523105"/>
          </a:xfrm>
          <a:prstGeom prst="rect">
            <a:avLst/>
          </a:prstGeom>
          <a:noFill/>
        </p:spPr>
        <p:txBody>
          <a:bodyPr wrap="square" rtlCol="0">
            <a:spAutoFit/>
          </a:bodyPr>
          <a:p>
            <a:pPr algn="l"/>
            <a:r>
              <a:rPr lang="en-US" altLang="zh-CN" sz="3600">
                <a:solidFill>
                  <a:schemeClr val="bg1"/>
                </a:solidFill>
                <a:latin typeface="微软雅黑" panose="020B0503020204020204" charset="-122"/>
                <a:ea typeface="微软雅黑" panose="020B0503020204020204" charset="-122"/>
              </a:rPr>
              <a:t>	</a:t>
            </a:r>
            <a:r>
              <a:rPr lang="zh-CN" altLang="en-US" sz="3600">
                <a:solidFill>
                  <a:schemeClr val="bg1"/>
                </a:solidFill>
                <a:latin typeface="微软雅黑" panose="020B0503020204020204" charset="-122"/>
                <a:ea typeface="微软雅黑" panose="020B0503020204020204" charset="-122"/>
              </a:rPr>
              <a:t>剪枝的概念，其实就跟走迷宫避开死胡同差不多，若我们把搜索的过程看成是对一棵树的遍历，那么剪枝顾名思义，就是将树中的一些“死胡同”</a:t>
            </a:r>
            <a:r>
              <a:rPr lang="en-US" altLang="zh-CN" sz="3600">
                <a:solidFill>
                  <a:schemeClr val="bg1"/>
                </a:solidFill>
                <a:latin typeface="微软雅黑" panose="020B0503020204020204" charset="-122"/>
                <a:ea typeface="微软雅黑" panose="020B0503020204020204" charset="-122"/>
              </a:rPr>
              <a:t>——</a:t>
            </a:r>
            <a:r>
              <a:rPr lang="zh-CN" altLang="en-US" sz="3600">
                <a:solidFill>
                  <a:schemeClr val="bg1"/>
                </a:solidFill>
                <a:latin typeface="微软雅黑" panose="020B0503020204020204" charset="-122"/>
                <a:ea typeface="微软雅黑" panose="020B0503020204020204" charset="-122"/>
              </a:rPr>
              <a:t>不能到达我们需要的解的枝条“剪”掉，以减少搜索的时间。</a:t>
            </a:r>
            <a:endParaRPr lang="zh-CN" altLang="en-US" sz="3600">
              <a:solidFill>
                <a:schemeClr val="bg1"/>
              </a:solidFill>
              <a:latin typeface="微软雅黑" panose="020B0503020204020204" charset="-122"/>
              <a:ea typeface="微软雅黑" panose="020B0503020204020204" charset="-122"/>
            </a:endParaRPr>
          </a:p>
          <a:p>
            <a:pPr algn="l"/>
            <a:endParaRPr lang="en-US" altLang="zh-CN" sz="3600">
              <a:solidFill>
                <a:schemeClr val="bg1"/>
              </a:solidFill>
              <a:latin typeface="微软雅黑" panose="020B0503020204020204" charset="-122"/>
              <a:ea typeface="微软雅黑" panose="020B0503020204020204" charset="-122"/>
            </a:endParaRPr>
          </a:p>
          <a:p>
            <a:pPr algn="l"/>
            <a:r>
              <a:rPr lang="en-US" altLang="zh-CN" sz="3600">
                <a:solidFill>
                  <a:schemeClr val="bg1"/>
                </a:solidFill>
                <a:latin typeface="微软雅黑" panose="020B0503020204020204" charset="-122"/>
                <a:ea typeface="微软雅黑" panose="020B0503020204020204" charset="-122"/>
              </a:rPr>
              <a:t>	搜索算法</a:t>
            </a:r>
            <a:r>
              <a:rPr lang="zh-CN" altLang="en-US" sz="3600">
                <a:solidFill>
                  <a:schemeClr val="bg1"/>
                </a:solidFill>
                <a:latin typeface="微软雅黑" panose="020B0503020204020204" charset="-122"/>
                <a:ea typeface="微软雅黑" panose="020B0503020204020204" charset="-122"/>
              </a:rPr>
              <a:t>，</a:t>
            </a:r>
            <a:r>
              <a:rPr lang="en-US" altLang="zh-CN" sz="3600">
                <a:solidFill>
                  <a:schemeClr val="bg1"/>
                </a:solidFill>
                <a:latin typeface="微软雅黑" panose="020B0503020204020204" charset="-122"/>
                <a:ea typeface="微软雅黑" panose="020B0503020204020204" charset="-122"/>
              </a:rPr>
              <a:t>绝大部分需要用到剪枝</a:t>
            </a:r>
            <a:r>
              <a:rPr lang="zh-CN" altLang="en-US" sz="3600">
                <a:solidFill>
                  <a:schemeClr val="bg1"/>
                </a:solidFill>
                <a:latin typeface="微软雅黑" panose="020B0503020204020204" charset="-122"/>
                <a:ea typeface="微软雅黑" panose="020B0503020204020204" charset="-122"/>
              </a:rPr>
              <a:t>。</a:t>
            </a:r>
            <a:r>
              <a:rPr lang="en-US" altLang="zh-CN" sz="3600">
                <a:solidFill>
                  <a:schemeClr val="bg1"/>
                </a:solidFill>
                <a:latin typeface="微软雅黑" panose="020B0503020204020204" charset="-122"/>
                <a:ea typeface="微软雅黑" panose="020B0503020204020204" charset="-122"/>
              </a:rPr>
              <a:t>然而</a:t>
            </a:r>
            <a:r>
              <a:rPr lang="zh-CN" altLang="en-US" sz="3600">
                <a:solidFill>
                  <a:schemeClr val="bg1"/>
                </a:solidFill>
                <a:latin typeface="微软雅黑" panose="020B0503020204020204" charset="-122"/>
                <a:ea typeface="微软雅黑" panose="020B0503020204020204" charset="-122"/>
              </a:rPr>
              <a:t>，</a:t>
            </a:r>
            <a:r>
              <a:rPr lang="en-US" altLang="zh-CN" sz="3600">
                <a:solidFill>
                  <a:schemeClr val="bg1"/>
                </a:solidFill>
                <a:latin typeface="微软雅黑" panose="020B0503020204020204" charset="-122"/>
                <a:ea typeface="微软雅黑" panose="020B0503020204020204" charset="-122"/>
              </a:rPr>
              <a:t>不是所有的枝条都可以剪掉</a:t>
            </a:r>
            <a:r>
              <a:rPr lang="zh-CN" altLang="en-US" sz="3600">
                <a:solidFill>
                  <a:schemeClr val="bg1"/>
                </a:solidFill>
                <a:latin typeface="微软雅黑" panose="020B0503020204020204" charset="-122"/>
                <a:ea typeface="微软雅黑" panose="020B0503020204020204" charset="-122"/>
              </a:rPr>
              <a:t>，</a:t>
            </a:r>
            <a:r>
              <a:rPr lang="en-US" altLang="zh-CN" sz="3600">
                <a:solidFill>
                  <a:schemeClr val="bg1"/>
                </a:solidFill>
                <a:latin typeface="微软雅黑" panose="020B0503020204020204" charset="-122"/>
                <a:ea typeface="微软雅黑" panose="020B0503020204020204" charset="-122"/>
              </a:rPr>
              <a:t>这就需要通过设计出合理的判断方法</a:t>
            </a:r>
            <a:r>
              <a:rPr lang="zh-CN" altLang="en-US" sz="3600">
                <a:solidFill>
                  <a:schemeClr val="bg1"/>
                </a:solidFill>
                <a:latin typeface="微软雅黑" panose="020B0503020204020204" charset="-122"/>
                <a:ea typeface="微软雅黑" panose="020B0503020204020204" charset="-122"/>
              </a:rPr>
              <a:t>，</a:t>
            </a:r>
            <a:r>
              <a:rPr lang="en-US" altLang="zh-CN" sz="3600">
                <a:solidFill>
                  <a:schemeClr val="bg1"/>
                </a:solidFill>
                <a:latin typeface="微软雅黑" panose="020B0503020204020204" charset="-122"/>
                <a:ea typeface="微软雅黑" panose="020B0503020204020204" charset="-122"/>
              </a:rPr>
              <a:t>以决定某一分支的取舍</a:t>
            </a:r>
            <a:r>
              <a:rPr lang="zh-CN" altLang="en-US" sz="3600">
                <a:solidFill>
                  <a:schemeClr val="bg1"/>
                </a:solidFill>
                <a:latin typeface="微软雅黑" panose="020B0503020204020204" charset="-122"/>
                <a:ea typeface="微软雅黑" panose="020B0503020204020204" charset="-122"/>
              </a:rPr>
              <a:t>。</a:t>
            </a:r>
            <a:endParaRPr lang="zh-CN" altLang="en-US" sz="3600">
              <a:solidFill>
                <a:schemeClr val="bg1"/>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p:cNvGrpSpPr/>
        <p:nvPr/>
      </p:nvGrpSpPr>
      <p:grpSpPr/>
      <p:sp>
        <p:nvSpPr>
          <p:cNvPr id="4" name="文本框 3"/>
          <p:cNvSpPr txBox="1"/>
          <p:nvPr/>
        </p:nvSpPr>
        <p:spPr>
          <a:xfrm>
            <a:off x="47625" y="126365"/>
            <a:ext cx="10784840" cy="706755"/>
          </a:xfrm>
          <a:prstGeom prst="rect">
            <a:avLst/>
          </a:prstGeom>
          <a:noFill/>
        </p:spPr>
        <p:txBody>
          <a:bodyPr wrap="square" rtlCol="0">
            <a:spAutoFit/>
          </a:bodyPr>
          <a:p>
            <a:pPr algn="l"/>
            <a:r>
              <a:rPr lang="zh-CN" altLang="en-US" sz="4000">
                <a:solidFill>
                  <a:schemeClr val="bg1"/>
                </a:solidFill>
                <a:latin typeface="微软雅黑" panose="020B0503020204020204" charset="-122"/>
                <a:ea typeface="微软雅黑" panose="020B0503020204020204" charset="-122"/>
              </a:rPr>
              <a:t>动态规划</a:t>
            </a:r>
            <a:r>
              <a:rPr lang="en-US" altLang="zh-CN" sz="4000">
                <a:solidFill>
                  <a:schemeClr val="bg1"/>
                </a:solidFill>
                <a:latin typeface="微软雅黑" panose="020B0503020204020204" charset="-122"/>
                <a:ea typeface="微软雅黑" panose="020B0503020204020204" charset="-122"/>
              </a:rPr>
              <a:t>(DP)</a:t>
            </a:r>
            <a:endParaRPr lang="en-US" altLang="zh-CN" sz="4000">
              <a:solidFill>
                <a:schemeClr val="bg1"/>
              </a:solidFill>
              <a:latin typeface="微软雅黑" panose="020B0503020204020204" charset="-122"/>
              <a:ea typeface="微软雅黑" panose="020B0503020204020204" charset="-122"/>
            </a:endParaRPr>
          </a:p>
        </p:txBody>
      </p:sp>
      <p:cxnSp>
        <p:nvCxnSpPr>
          <p:cNvPr id="5" name="直接连接符 4"/>
          <p:cNvCxnSpPr/>
          <p:nvPr/>
        </p:nvCxnSpPr>
        <p:spPr>
          <a:xfrm>
            <a:off x="78105" y="833120"/>
            <a:ext cx="11974830" cy="0"/>
          </a:xfrm>
          <a:prstGeom prst="line">
            <a:avLst/>
          </a:prstGeom>
          <a:ln w="12700" cmpd="sng">
            <a:solidFill>
              <a:schemeClr val="bg1"/>
            </a:solidFill>
            <a:prstDash val="solid"/>
          </a:ln>
        </p:spPr>
        <p:style>
          <a:lnRef idx="1">
            <a:schemeClr val="dk1"/>
          </a:lnRef>
          <a:fillRef idx="0">
            <a:schemeClr val="dk1"/>
          </a:fillRef>
          <a:effectRef idx="0">
            <a:schemeClr val="dk1"/>
          </a:effectRef>
          <a:fontRef idx="minor">
            <a:schemeClr val="tx1"/>
          </a:fontRef>
        </p:style>
      </p:cxnSp>
      <p:sp>
        <p:nvSpPr>
          <p:cNvPr id="3" name="文本框 2"/>
          <p:cNvSpPr txBox="1"/>
          <p:nvPr/>
        </p:nvSpPr>
        <p:spPr>
          <a:xfrm>
            <a:off x="354965" y="1480820"/>
            <a:ext cx="11546840" cy="3969385"/>
          </a:xfrm>
          <a:prstGeom prst="rect">
            <a:avLst/>
          </a:prstGeom>
          <a:noFill/>
        </p:spPr>
        <p:txBody>
          <a:bodyPr wrap="square" rtlCol="0">
            <a:spAutoFit/>
          </a:bodyPr>
          <a:p>
            <a:pPr algn="l"/>
            <a:r>
              <a:rPr lang="en-US" altLang="zh-CN" sz="3600">
                <a:solidFill>
                  <a:schemeClr val="bg1"/>
                </a:solidFill>
                <a:latin typeface="微软雅黑" panose="020B0503020204020204" charset="-122"/>
                <a:ea typeface="微软雅黑" panose="020B0503020204020204" charset="-122"/>
              </a:rPr>
              <a:t>	</a:t>
            </a:r>
            <a:r>
              <a:rPr lang="zh-CN" altLang="en-US" sz="3600">
                <a:solidFill>
                  <a:schemeClr val="bg1"/>
                </a:solidFill>
                <a:latin typeface="微软雅黑" panose="020B0503020204020204" charset="-122"/>
                <a:ea typeface="微软雅黑" panose="020B0503020204020204" charset="-122"/>
              </a:rPr>
              <a:t>动态规划算法通常用于求解具有某种最优性质的问题。在这类问题中，可能会有许多可行解。每一个解都对应于一个值，我们希望找到具有最优值的解。动态规划算法与分治法类似，其基本思想也是将待求解问题分解成若干个子问题，先求解子问题，然后从这些子问题的解得到原问题的解。</a:t>
            </a:r>
            <a:endParaRPr lang="zh-CN" altLang="en-US" sz="3600">
              <a:solidFill>
                <a:schemeClr val="bg1"/>
              </a:solidFill>
              <a:latin typeface="微软雅黑" panose="020B0503020204020204" charset="-122"/>
              <a:ea typeface="微软雅黑" panose="020B0503020204020204" charset="-122"/>
            </a:endParaRPr>
          </a:p>
          <a:p>
            <a:pPr algn="l"/>
            <a:endParaRPr lang="zh-CN" altLang="en-US" sz="3600">
              <a:solidFill>
                <a:schemeClr val="bg1"/>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p:cNvGrpSpPr/>
        <p:nvPr/>
      </p:nvGrpSpPr>
      <p:grpSpPr/>
      <p:sp>
        <p:nvSpPr>
          <p:cNvPr id="4" name="文本框 3"/>
          <p:cNvSpPr txBox="1"/>
          <p:nvPr/>
        </p:nvSpPr>
        <p:spPr>
          <a:xfrm>
            <a:off x="47625" y="126365"/>
            <a:ext cx="10784840" cy="706755"/>
          </a:xfrm>
          <a:prstGeom prst="rect">
            <a:avLst/>
          </a:prstGeom>
          <a:noFill/>
        </p:spPr>
        <p:txBody>
          <a:bodyPr wrap="square" rtlCol="0">
            <a:spAutoFit/>
          </a:bodyPr>
          <a:p>
            <a:pPr algn="l"/>
            <a:r>
              <a:rPr lang="zh-CN" altLang="en-US" sz="4000">
                <a:solidFill>
                  <a:schemeClr val="bg1"/>
                </a:solidFill>
                <a:latin typeface="微软雅黑" panose="020B0503020204020204" charset="-122"/>
                <a:ea typeface="微软雅黑" panose="020B0503020204020204" charset="-122"/>
              </a:rPr>
              <a:t>动态规划</a:t>
            </a:r>
            <a:r>
              <a:rPr lang="en-US" altLang="zh-CN" sz="4000">
                <a:solidFill>
                  <a:schemeClr val="bg1"/>
                </a:solidFill>
                <a:latin typeface="微软雅黑" panose="020B0503020204020204" charset="-122"/>
                <a:ea typeface="微软雅黑" panose="020B0503020204020204" charset="-122"/>
              </a:rPr>
              <a:t>(DP)</a:t>
            </a:r>
            <a:endParaRPr lang="en-US" altLang="zh-CN" sz="4000">
              <a:solidFill>
                <a:schemeClr val="bg1"/>
              </a:solidFill>
              <a:latin typeface="微软雅黑" panose="020B0503020204020204" charset="-122"/>
              <a:ea typeface="微软雅黑" panose="020B0503020204020204" charset="-122"/>
            </a:endParaRPr>
          </a:p>
        </p:txBody>
      </p:sp>
      <p:cxnSp>
        <p:nvCxnSpPr>
          <p:cNvPr id="5" name="直接连接符 4"/>
          <p:cNvCxnSpPr/>
          <p:nvPr/>
        </p:nvCxnSpPr>
        <p:spPr>
          <a:xfrm>
            <a:off x="78105" y="833120"/>
            <a:ext cx="11974830" cy="0"/>
          </a:xfrm>
          <a:prstGeom prst="line">
            <a:avLst/>
          </a:prstGeom>
          <a:ln w="12700" cmpd="sng">
            <a:solidFill>
              <a:schemeClr val="bg1"/>
            </a:solidFill>
            <a:prstDash val="solid"/>
          </a:ln>
        </p:spPr>
        <p:style>
          <a:lnRef idx="1">
            <a:schemeClr val="dk1"/>
          </a:lnRef>
          <a:fillRef idx="0">
            <a:schemeClr val="dk1"/>
          </a:fillRef>
          <a:effectRef idx="0">
            <a:schemeClr val="dk1"/>
          </a:effectRef>
          <a:fontRef idx="minor">
            <a:schemeClr val="tx1"/>
          </a:fontRef>
        </p:style>
      </p:cxnSp>
      <p:sp>
        <p:nvSpPr>
          <p:cNvPr id="3" name="文本框 2"/>
          <p:cNvSpPr txBox="1"/>
          <p:nvPr/>
        </p:nvSpPr>
        <p:spPr>
          <a:xfrm>
            <a:off x="354965" y="1480820"/>
            <a:ext cx="11546840" cy="4523105"/>
          </a:xfrm>
          <a:prstGeom prst="rect">
            <a:avLst/>
          </a:prstGeom>
          <a:noFill/>
        </p:spPr>
        <p:txBody>
          <a:bodyPr wrap="square" rtlCol="0">
            <a:spAutoFit/>
          </a:bodyPr>
          <a:p>
            <a:pPr algn="l"/>
            <a:r>
              <a:rPr sz="3600">
                <a:solidFill>
                  <a:schemeClr val="bg1"/>
                </a:solidFill>
                <a:latin typeface="微软雅黑" panose="020B0503020204020204" charset="-122"/>
                <a:ea typeface="微软雅黑" panose="020B0503020204020204" charset="-122"/>
              </a:rPr>
              <a:t>无后效性：</a:t>
            </a:r>
            <a:endParaRPr sz="3600">
              <a:solidFill>
                <a:schemeClr val="bg1"/>
              </a:solidFill>
              <a:latin typeface="微软雅黑" panose="020B0503020204020204" charset="-122"/>
              <a:ea typeface="微软雅黑" panose="020B0503020204020204" charset="-122"/>
            </a:endParaRPr>
          </a:p>
          <a:p>
            <a:pPr algn="l"/>
            <a:r>
              <a:rPr lang="en-US" sz="3600">
                <a:solidFill>
                  <a:schemeClr val="bg1"/>
                </a:solidFill>
                <a:latin typeface="微软雅黑" panose="020B0503020204020204" charset="-122"/>
                <a:ea typeface="微软雅黑" panose="020B0503020204020204" charset="-122"/>
              </a:rPr>
              <a:t>	</a:t>
            </a:r>
            <a:r>
              <a:rPr sz="3600">
                <a:solidFill>
                  <a:schemeClr val="bg1"/>
                </a:solidFill>
                <a:latin typeface="微软雅黑" panose="020B0503020204020204" charset="-122"/>
                <a:ea typeface="微软雅黑" panose="020B0503020204020204" charset="-122"/>
              </a:rPr>
              <a:t>动态规划法的最优解通常是由一系列最优决策组成的决策序列，最优子结构就是这些最优决策序列中的一个子序列，对于每个子序列再做最优决策会产生新的最优决策（子）序列，如果某个决策只受当前最优决策子序列的影响，而不受当前决策可能产生的新的最优决策子序列的影响，则可以理解这个最优决策具有无后效性。</a:t>
            </a:r>
            <a:endParaRPr sz="3600">
              <a:solidFill>
                <a:schemeClr val="bg1"/>
              </a:solidFill>
              <a:latin typeface="微软雅黑" panose="020B0503020204020204" charset="-122"/>
              <a:ea typeface="微软雅黑" panose="020B0503020204020204" charset="-122"/>
            </a:endParaRPr>
          </a:p>
          <a:p>
            <a:pPr algn="l"/>
            <a:endParaRPr lang="zh-CN" altLang="en-US" sz="3600">
              <a:solidFill>
                <a:schemeClr val="bg1"/>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p:cNvGrpSpPr/>
        <p:nvPr/>
      </p:nvGrpSpPr>
      <p:grpSpPr/>
      <p:sp>
        <p:nvSpPr>
          <p:cNvPr id="4" name="文本框 3"/>
          <p:cNvSpPr txBox="1"/>
          <p:nvPr/>
        </p:nvSpPr>
        <p:spPr>
          <a:xfrm>
            <a:off x="47625" y="126365"/>
            <a:ext cx="10784840" cy="706755"/>
          </a:xfrm>
          <a:prstGeom prst="rect">
            <a:avLst/>
          </a:prstGeom>
          <a:noFill/>
        </p:spPr>
        <p:txBody>
          <a:bodyPr wrap="square" rtlCol="0">
            <a:spAutoFit/>
          </a:bodyPr>
          <a:p>
            <a:pPr algn="l"/>
            <a:r>
              <a:rPr lang="zh-CN" altLang="en-US" sz="4000">
                <a:solidFill>
                  <a:schemeClr val="bg1"/>
                </a:solidFill>
                <a:latin typeface="微软雅黑" panose="020B0503020204020204" charset="-122"/>
                <a:ea typeface="微软雅黑" panose="020B0503020204020204" charset="-122"/>
              </a:rPr>
              <a:t>动规解题的一般思路</a:t>
            </a:r>
            <a:endParaRPr lang="zh-CN" altLang="en-US" sz="4000">
              <a:solidFill>
                <a:schemeClr val="bg1"/>
              </a:solidFill>
              <a:latin typeface="微软雅黑" panose="020B0503020204020204" charset="-122"/>
              <a:ea typeface="微软雅黑" panose="020B0503020204020204" charset="-122"/>
            </a:endParaRPr>
          </a:p>
        </p:txBody>
      </p:sp>
      <p:cxnSp>
        <p:nvCxnSpPr>
          <p:cNvPr id="5" name="直接连接符 4"/>
          <p:cNvCxnSpPr/>
          <p:nvPr/>
        </p:nvCxnSpPr>
        <p:spPr>
          <a:xfrm>
            <a:off x="78105" y="833120"/>
            <a:ext cx="11974830" cy="0"/>
          </a:xfrm>
          <a:prstGeom prst="line">
            <a:avLst/>
          </a:prstGeom>
          <a:ln w="12700" cmpd="sng">
            <a:solidFill>
              <a:schemeClr val="bg1"/>
            </a:solidFill>
            <a:prstDash val="solid"/>
          </a:ln>
        </p:spPr>
        <p:style>
          <a:lnRef idx="1">
            <a:schemeClr val="dk1"/>
          </a:lnRef>
          <a:fillRef idx="0">
            <a:schemeClr val="dk1"/>
          </a:fillRef>
          <a:effectRef idx="0">
            <a:schemeClr val="dk1"/>
          </a:effectRef>
          <a:fontRef idx="minor">
            <a:schemeClr val="tx1"/>
          </a:fontRef>
        </p:style>
      </p:cxnSp>
      <p:sp>
        <p:nvSpPr>
          <p:cNvPr id="3" name="文本框 2"/>
          <p:cNvSpPr txBox="1"/>
          <p:nvPr/>
        </p:nvSpPr>
        <p:spPr>
          <a:xfrm>
            <a:off x="354965" y="1480820"/>
            <a:ext cx="11546840" cy="2306955"/>
          </a:xfrm>
          <a:prstGeom prst="rect">
            <a:avLst/>
          </a:prstGeom>
          <a:noFill/>
        </p:spPr>
        <p:txBody>
          <a:bodyPr wrap="square" rtlCol="0">
            <a:spAutoFit/>
          </a:bodyPr>
          <a:p>
            <a:pPr algn="l"/>
            <a:r>
              <a:rPr sz="3600">
                <a:solidFill>
                  <a:schemeClr val="bg1"/>
                </a:solidFill>
                <a:latin typeface="微软雅黑" panose="020B0503020204020204" charset="-122"/>
                <a:ea typeface="微软雅黑" panose="020B0503020204020204" charset="-122"/>
              </a:rPr>
              <a:t>1</a:t>
            </a:r>
            <a:r>
              <a:rPr lang="en-US" sz="3600">
                <a:solidFill>
                  <a:schemeClr val="bg1"/>
                </a:solidFill>
                <a:latin typeface="微软雅黑" panose="020B0503020204020204" charset="-122"/>
                <a:ea typeface="微软雅黑" panose="020B0503020204020204" charset="-122"/>
              </a:rPr>
              <a:t>.</a:t>
            </a:r>
            <a:r>
              <a:rPr sz="3600">
                <a:solidFill>
                  <a:schemeClr val="bg1"/>
                </a:solidFill>
                <a:latin typeface="微软雅黑" panose="020B0503020204020204" charset="-122"/>
                <a:ea typeface="微软雅黑" panose="020B0503020204020204" charset="-122"/>
              </a:rPr>
              <a:t>将原问题分解为子问题</a:t>
            </a:r>
            <a:endParaRPr sz="3600">
              <a:solidFill>
                <a:schemeClr val="bg1"/>
              </a:solidFill>
              <a:latin typeface="微软雅黑" panose="020B0503020204020204" charset="-122"/>
              <a:ea typeface="微软雅黑" panose="020B0503020204020204" charset="-122"/>
            </a:endParaRPr>
          </a:p>
          <a:p>
            <a:pPr algn="l"/>
            <a:r>
              <a:rPr sz="3600">
                <a:solidFill>
                  <a:schemeClr val="bg1"/>
                </a:solidFill>
                <a:latin typeface="微软雅黑" panose="020B0503020204020204" charset="-122"/>
                <a:ea typeface="微软雅黑" panose="020B0503020204020204" charset="-122"/>
              </a:rPr>
              <a:t>2.确定状态</a:t>
            </a:r>
            <a:endParaRPr sz="3600">
              <a:solidFill>
                <a:schemeClr val="bg1"/>
              </a:solidFill>
              <a:latin typeface="微软雅黑" panose="020B0503020204020204" charset="-122"/>
              <a:ea typeface="微软雅黑" panose="020B0503020204020204" charset="-122"/>
            </a:endParaRPr>
          </a:p>
          <a:p>
            <a:pPr algn="l"/>
            <a:r>
              <a:rPr sz="3600">
                <a:solidFill>
                  <a:schemeClr val="bg1"/>
                </a:solidFill>
                <a:latin typeface="微软雅黑" panose="020B0503020204020204" charset="-122"/>
                <a:ea typeface="微软雅黑" panose="020B0503020204020204" charset="-122"/>
              </a:rPr>
              <a:t>3.确定一些初始状态（边界状态）的值</a:t>
            </a:r>
            <a:endParaRPr sz="3600">
              <a:solidFill>
                <a:schemeClr val="bg1"/>
              </a:solidFill>
              <a:latin typeface="微软雅黑" panose="020B0503020204020204" charset="-122"/>
              <a:ea typeface="微软雅黑" panose="020B0503020204020204" charset="-122"/>
            </a:endParaRPr>
          </a:p>
          <a:p>
            <a:pPr algn="l"/>
            <a:r>
              <a:rPr sz="3600">
                <a:solidFill>
                  <a:schemeClr val="bg1"/>
                </a:solidFill>
                <a:latin typeface="微软雅黑" panose="020B0503020204020204" charset="-122"/>
                <a:ea typeface="微软雅黑" panose="020B0503020204020204" charset="-122"/>
              </a:rPr>
              <a:t>4.确定状态转移方程</a:t>
            </a:r>
            <a:endParaRPr sz="3600">
              <a:solidFill>
                <a:schemeClr val="bg1"/>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p:cNvGrpSpPr/>
        <p:nvPr/>
      </p:nvGrpSpPr>
      <p:grpSpPr/>
      <p:sp>
        <p:nvSpPr>
          <p:cNvPr id="4" name="文本框 3"/>
          <p:cNvSpPr txBox="1"/>
          <p:nvPr/>
        </p:nvSpPr>
        <p:spPr>
          <a:xfrm>
            <a:off x="47625" y="126365"/>
            <a:ext cx="10784840" cy="706755"/>
          </a:xfrm>
          <a:prstGeom prst="rect">
            <a:avLst/>
          </a:prstGeom>
          <a:noFill/>
        </p:spPr>
        <p:txBody>
          <a:bodyPr wrap="square" rtlCol="0">
            <a:spAutoFit/>
          </a:bodyPr>
          <a:p>
            <a:pPr algn="l"/>
            <a:r>
              <a:rPr lang="zh-CN" altLang="en-US" sz="4000">
                <a:solidFill>
                  <a:schemeClr val="bg1"/>
                </a:solidFill>
                <a:latin typeface="微软雅黑" panose="020B0503020204020204" charset="-122"/>
                <a:ea typeface="微软雅黑" panose="020B0503020204020204" charset="-122"/>
              </a:rPr>
              <a:t>例子</a:t>
            </a:r>
            <a:endParaRPr lang="zh-CN" altLang="en-US" sz="4000">
              <a:solidFill>
                <a:schemeClr val="bg1"/>
              </a:solidFill>
              <a:latin typeface="微软雅黑" panose="020B0503020204020204" charset="-122"/>
              <a:ea typeface="微软雅黑" panose="020B0503020204020204" charset="-122"/>
            </a:endParaRPr>
          </a:p>
        </p:txBody>
      </p:sp>
      <p:cxnSp>
        <p:nvCxnSpPr>
          <p:cNvPr id="5" name="直接连接符 4"/>
          <p:cNvCxnSpPr/>
          <p:nvPr/>
        </p:nvCxnSpPr>
        <p:spPr>
          <a:xfrm>
            <a:off x="78105" y="833120"/>
            <a:ext cx="11974830" cy="0"/>
          </a:xfrm>
          <a:prstGeom prst="line">
            <a:avLst/>
          </a:prstGeom>
          <a:ln w="12700" cmpd="sng">
            <a:solidFill>
              <a:schemeClr val="bg1"/>
            </a:solidFill>
            <a:prstDash val="solid"/>
          </a:ln>
        </p:spPr>
        <p:style>
          <a:lnRef idx="1">
            <a:schemeClr val="dk1"/>
          </a:lnRef>
          <a:fillRef idx="0">
            <a:schemeClr val="dk1"/>
          </a:fillRef>
          <a:effectRef idx="0">
            <a:schemeClr val="dk1"/>
          </a:effectRef>
          <a:fontRef idx="minor">
            <a:schemeClr val="tx1"/>
          </a:fontRef>
        </p:style>
      </p:cxnSp>
      <p:sp>
        <p:nvSpPr>
          <p:cNvPr id="3" name="文本框 2"/>
          <p:cNvSpPr txBox="1"/>
          <p:nvPr/>
        </p:nvSpPr>
        <p:spPr>
          <a:xfrm>
            <a:off x="354965" y="1480820"/>
            <a:ext cx="11546840" cy="4523105"/>
          </a:xfrm>
          <a:prstGeom prst="rect">
            <a:avLst/>
          </a:prstGeom>
          <a:noFill/>
        </p:spPr>
        <p:txBody>
          <a:bodyPr wrap="square" rtlCol="0">
            <a:spAutoFit/>
          </a:bodyPr>
          <a:p>
            <a:pPr algn="l"/>
            <a:r>
              <a:rPr lang="zh-CN" sz="3600">
                <a:solidFill>
                  <a:schemeClr val="bg1"/>
                </a:solidFill>
                <a:latin typeface="微软雅黑" panose="020B0503020204020204" charset="-122"/>
                <a:ea typeface="微软雅黑" panose="020B0503020204020204" charset="-122"/>
              </a:rPr>
              <a:t>给出</a:t>
            </a:r>
            <a:r>
              <a:rPr lang="en-US" altLang="zh-CN" sz="3600">
                <a:solidFill>
                  <a:schemeClr val="bg1"/>
                </a:solidFill>
                <a:latin typeface="微软雅黑" panose="020B0503020204020204" charset="-122"/>
                <a:ea typeface="微软雅黑" panose="020B0503020204020204" charset="-122"/>
              </a:rPr>
              <a:t>n</a:t>
            </a:r>
            <a:r>
              <a:rPr lang="zh-CN" altLang="en-US" sz="3600">
                <a:solidFill>
                  <a:schemeClr val="bg1"/>
                </a:solidFill>
                <a:latin typeface="微软雅黑" panose="020B0503020204020204" charset="-122"/>
                <a:ea typeface="微软雅黑" panose="020B0503020204020204" charset="-122"/>
              </a:rPr>
              <a:t>个数</a:t>
            </a:r>
            <a:r>
              <a:rPr lang="en-US" altLang="zh-CN" sz="3600">
                <a:solidFill>
                  <a:schemeClr val="bg1"/>
                </a:solidFill>
                <a:latin typeface="微软雅黑" panose="020B0503020204020204" charset="-122"/>
                <a:ea typeface="微软雅黑" panose="020B0503020204020204" charset="-122"/>
              </a:rPr>
              <a:t>v1,v2,...vn</a:t>
            </a:r>
            <a:r>
              <a:rPr lang="zh-CN" altLang="en-US" sz="3600">
                <a:solidFill>
                  <a:schemeClr val="bg1"/>
                </a:solidFill>
                <a:latin typeface="微软雅黑" panose="020B0503020204020204" charset="-122"/>
                <a:ea typeface="微软雅黑" panose="020B0503020204020204" charset="-122"/>
              </a:rPr>
              <a:t>，求这</a:t>
            </a:r>
            <a:r>
              <a:rPr lang="en-US" altLang="zh-CN" sz="3600">
                <a:solidFill>
                  <a:schemeClr val="bg1"/>
                </a:solidFill>
                <a:latin typeface="微软雅黑" panose="020B0503020204020204" charset="-122"/>
                <a:ea typeface="微软雅黑" panose="020B0503020204020204" charset="-122"/>
              </a:rPr>
              <a:t>n</a:t>
            </a:r>
            <a:r>
              <a:rPr lang="zh-CN" altLang="en-US" sz="3600">
                <a:solidFill>
                  <a:schemeClr val="bg1"/>
                </a:solidFill>
                <a:latin typeface="微软雅黑" panose="020B0503020204020204" charset="-122"/>
                <a:ea typeface="微软雅黑" panose="020B0503020204020204" charset="-122"/>
              </a:rPr>
              <a:t>个数里的最大值。</a:t>
            </a:r>
            <a:endParaRPr lang="zh-CN" altLang="en-US" sz="3600">
              <a:solidFill>
                <a:schemeClr val="bg1"/>
              </a:solidFill>
              <a:latin typeface="微软雅黑" panose="020B0503020204020204" charset="-122"/>
              <a:ea typeface="微软雅黑" panose="020B0503020204020204" charset="-122"/>
            </a:endParaRPr>
          </a:p>
          <a:p>
            <a:pPr algn="l"/>
            <a:endParaRPr lang="zh-CN" altLang="en-US" sz="3600">
              <a:solidFill>
                <a:schemeClr val="bg1"/>
              </a:solidFill>
              <a:latin typeface="微软雅黑" panose="020B0503020204020204" charset="-122"/>
              <a:ea typeface="微软雅黑" panose="020B0503020204020204" charset="-122"/>
            </a:endParaRPr>
          </a:p>
          <a:p>
            <a:pPr algn="l"/>
            <a:r>
              <a:rPr lang="zh-CN" altLang="en-US" sz="3600">
                <a:solidFill>
                  <a:schemeClr val="bg1"/>
                </a:solidFill>
                <a:latin typeface="微软雅黑" panose="020B0503020204020204" charset="-122"/>
                <a:ea typeface="微软雅黑" panose="020B0503020204020204" charset="-122"/>
              </a:rPr>
              <a:t>分解子问题：前</a:t>
            </a:r>
            <a:r>
              <a:rPr lang="en-US" altLang="zh-CN" sz="3600">
                <a:solidFill>
                  <a:schemeClr val="bg1"/>
                </a:solidFill>
                <a:latin typeface="微软雅黑" panose="020B0503020204020204" charset="-122"/>
                <a:ea typeface="微软雅黑" panose="020B0503020204020204" charset="-122"/>
              </a:rPr>
              <a:t>i</a:t>
            </a:r>
            <a:r>
              <a:rPr lang="zh-CN" altLang="en-US" sz="3600">
                <a:solidFill>
                  <a:schemeClr val="bg1"/>
                </a:solidFill>
                <a:latin typeface="微软雅黑" panose="020B0503020204020204" charset="-122"/>
                <a:ea typeface="微软雅黑" panose="020B0503020204020204" charset="-122"/>
              </a:rPr>
              <a:t>个数里面的最大值</a:t>
            </a:r>
            <a:endParaRPr lang="zh-CN" altLang="en-US" sz="3600">
              <a:solidFill>
                <a:schemeClr val="bg1"/>
              </a:solidFill>
              <a:latin typeface="微软雅黑" panose="020B0503020204020204" charset="-122"/>
              <a:ea typeface="微软雅黑" panose="020B0503020204020204" charset="-122"/>
            </a:endParaRPr>
          </a:p>
          <a:p>
            <a:pPr algn="l"/>
            <a:r>
              <a:rPr lang="zh-CN" altLang="en-US" sz="3600">
                <a:solidFill>
                  <a:schemeClr val="bg1"/>
                </a:solidFill>
                <a:latin typeface="微软雅黑" panose="020B0503020204020204" charset="-122"/>
                <a:ea typeface="微软雅黑" panose="020B0503020204020204" charset="-122"/>
                <a:sym typeface="+mn-ea"/>
              </a:rPr>
              <a:t>无后效性：后面的数不会影响到前</a:t>
            </a:r>
            <a:r>
              <a:rPr lang="en-US" altLang="zh-CN" sz="3600">
                <a:solidFill>
                  <a:schemeClr val="bg1"/>
                </a:solidFill>
                <a:latin typeface="微软雅黑" panose="020B0503020204020204" charset="-122"/>
                <a:ea typeface="微软雅黑" panose="020B0503020204020204" charset="-122"/>
                <a:sym typeface="+mn-ea"/>
              </a:rPr>
              <a:t>i</a:t>
            </a:r>
            <a:r>
              <a:rPr lang="zh-CN" altLang="en-US" sz="3600">
                <a:solidFill>
                  <a:schemeClr val="bg1"/>
                </a:solidFill>
                <a:latin typeface="微软雅黑" panose="020B0503020204020204" charset="-122"/>
                <a:ea typeface="微软雅黑" panose="020B0503020204020204" charset="-122"/>
                <a:sym typeface="+mn-ea"/>
              </a:rPr>
              <a:t>个数里面的最大值</a:t>
            </a:r>
            <a:endParaRPr lang="zh-CN" altLang="en-US" sz="3600">
              <a:solidFill>
                <a:schemeClr val="bg1"/>
              </a:solidFill>
              <a:latin typeface="微软雅黑" panose="020B0503020204020204" charset="-122"/>
              <a:ea typeface="微软雅黑" panose="020B0503020204020204" charset="-122"/>
              <a:sym typeface="+mn-ea"/>
            </a:endParaRPr>
          </a:p>
          <a:p>
            <a:pPr algn="l"/>
            <a:r>
              <a:rPr lang="zh-CN" altLang="en-US" sz="3600">
                <a:solidFill>
                  <a:schemeClr val="bg1"/>
                </a:solidFill>
                <a:latin typeface="微软雅黑" panose="020B0503020204020204" charset="-122"/>
                <a:ea typeface="微软雅黑" panose="020B0503020204020204" charset="-122"/>
              </a:rPr>
              <a:t>状态：定义 </a:t>
            </a:r>
            <a:r>
              <a:rPr lang="en-US" altLang="zh-CN" sz="3600">
                <a:solidFill>
                  <a:schemeClr val="bg1"/>
                </a:solidFill>
                <a:latin typeface="微软雅黑" panose="020B0503020204020204" charset="-122"/>
                <a:ea typeface="微软雅黑" panose="020B0503020204020204" charset="-122"/>
              </a:rPr>
              <a:t>F[i] </a:t>
            </a:r>
            <a:r>
              <a:rPr lang="zh-CN" altLang="en-US" sz="3600">
                <a:solidFill>
                  <a:schemeClr val="bg1"/>
                </a:solidFill>
                <a:latin typeface="微软雅黑" panose="020B0503020204020204" charset="-122"/>
                <a:ea typeface="微软雅黑" panose="020B0503020204020204" charset="-122"/>
              </a:rPr>
              <a:t>表示 前</a:t>
            </a:r>
            <a:r>
              <a:rPr lang="en-US" altLang="zh-CN" sz="3600">
                <a:solidFill>
                  <a:schemeClr val="bg1"/>
                </a:solidFill>
                <a:latin typeface="微软雅黑" panose="020B0503020204020204" charset="-122"/>
                <a:ea typeface="微软雅黑" panose="020B0503020204020204" charset="-122"/>
              </a:rPr>
              <a:t>i</a:t>
            </a:r>
            <a:r>
              <a:rPr lang="zh-CN" altLang="en-US" sz="3600">
                <a:solidFill>
                  <a:schemeClr val="bg1"/>
                </a:solidFill>
                <a:latin typeface="微软雅黑" panose="020B0503020204020204" charset="-122"/>
                <a:ea typeface="微软雅黑" panose="020B0503020204020204" charset="-122"/>
              </a:rPr>
              <a:t>个数里面的最大值</a:t>
            </a:r>
            <a:endParaRPr lang="zh-CN" altLang="en-US" sz="3600">
              <a:solidFill>
                <a:schemeClr val="bg1"/>
              </a:solidFill>
              <a:latin typeface="微软雅黑" panose="020B0503020204020204" charset="-122"/>
              <a:ea typeface="微软雅黑" panose="020B0503020204020204" charset="-122"/>
            </a:endParaRPr>
          </a:p>
          <a:p>
            <a:pPr algn="l"/>
            <a:r>
              <a:rPr lang="zh-CN" altLang="en-US" sz="3600">
                <a:solidFill>
                  <a:schemeClr val="bg1"/>
                </a:solidFill>
                <a:latin typeface="微软雅黑" panose="020B0503020204020204" charset="-122"/>
                <a:ea typeface="微软雅黑" panose="020B0503020204020204" charset="-122"/>
              </a:rPr>
              <a:t>边界状态：</a:t>
            </a:r>
            <a:r>
              <a:rPr lang="en-US" altLang="zh-CN" sz="3600">
                <a:solidFill>
                  <a:schemeClr val="bg1"/>
                </a:solidFill>
                <a:latin typeface="微软雅黑" panose="020B0503020204020204" charset="-122"/>
                <a:ea typeface="微软雅黑" panose="020B0503020204020204" charset="-122"/>
              </a:rPr>
              <a:t>F[1]=v1</a:t>
            </a:r>
            <a:endParaRPr lang="en-US" altLang="zh-CN" sz="3600">
              <a:solidFill>
                <a:schemeClr val="bg1"/>
              </a:solidFill>
              <a:latin typeface="微软雅黑" panose="020B0503020204020204" charset="-122"/>
              <a:ea typeface="微软雅黑" panose="020B0503020204020204" charset="-122"/>
            </a:endParaRPr>
          </a:p>
          <a:p>
            <a:pPr algn="l"/>
            <a:r>
              <a:rPr lang="zh-CN" altLang="en-US" sz="3600">
                <a:solidFill>
                  <a:schemeClr val="bg1"/>
                </a:solidFill>
                <a:latin typeface="微软雅黑" panose="020B0503020204020204" charset="-122"/>
                <a:ea typeface="微软雅黑" panose="020B0503020204020204" charset="-122"/>
              </a:rPr>
              <a:t>转移方程：</a:t>
            </a:r>
            <a:r>
              <a:rPr lang="en-US" altLang="zh-CN" sz="3600">
                <a:solidFill>
                  <a:schemeClr val="bg1"/>
                </a:solidFill>
                <a:latin typeface="微软雅黑" panose="020B0503020204020204" charset="-122"/>
                <a:ea typeface="微软雅黑" panose="020B0503020204020204" charset="-122"/>
              </a:rPr>
              <a:t>F[i]=max{ F[i-1] , vi }</a:t>
            </a:r>
            <a:endParaRPr lang="en-US" altLang="zh-CN" sz="3600">
              <a:solidFill>
                <a:schemeClr val="bg1"/>
              </a:solidFill>
              <a:latin typeface="微软雅黑" panose="020B0503020204020204" charset="-122"/>
              <a:ea typeface="微软雅黑" panose="020B0503020204020204" charset="-122"/>
            </a:endParaRPr>
          </a:p>
          <a:p>
            <a:pPr algn="l"/>
            <a:r>
              <a:rPr lang="zh-CN" altLang="en-US" sz="3600">
                <a:solidFill>
                  <a:schemeClr val="bg1"/>
                </a:solidFill>
                <a:latin typeface="微软雅黑" panose="020B0503020204020204" charset="-122"/>
                <a:ea typeface="微软雅黑" panose="020B0503020204020204" charset="-122"/>
              </a:rPr>
              <a:t>答案：</a:t>
            </a:r>
            <a:r>
              <a:rPr lang="en-US" altLang="zh-CN" sz="3600">
                <a:solidFill>
                  <a:schemeClr val="bg1"/>
                </a:solidFill>
                <a:latin typeface="微软雅黑" panose="020B0503020204020204" charset="-122"/>
                <a:ea typeface="微软雅黑" panose="020B0503020204020204" charset="-122"/>
              </a:rPr>
              <a:t>F[n]</a:t>
            </a:r>
            <a:endParaRPr lang="en-US" altLang="zh-CN" sz="3600">
              <a:solidFill>
                <a:schemeClr val="bg1"/>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p:cNvGrpSpPr/>
        <p:nvPr/>
      </p:nvGrpSpPr>
      <p:grpSpPr/>
      <p:sp>
        <p:nvSpPr>
          <p:cNvPr id="4" name="文本框 3"/>
          <p:cNvSpPr txBox="1"/>
          <p:nvPr/>
        </p:nvSpPr>
        <p:spPr>
          <a:xfrm>
            <a:off x="47625" y="126365"/>
            <a:ext cx="10784840" cy="706755"/>
          </a:xfrm>
          <a:prstGeom prst="rect">
            <a:avLst/>
          </a:prstGeom>
          <a:noFill/>
        </p:spPr>
        <p:txBody>
          <a:bodyPr wrap="square" rtlCol="0">
            <a:spAutoFit/>
          </a:bodyPr>
          <a:p>
            <a:pPr algn="l"/>
            <a:r>
              <a:rPr lang="en-US" altLang="zh-CN" sz="4000">
                <a:solidFill>
                  <a:schemeClr val="bg1"/>
                </a:solidFill>
                <a:latin typeface="微软雅黑" panose="020B0503020204020204" charset="-122"/>
                <a:ea typeface="微软雅黑" panose="020B0503020204020204" charset="-122"/>
              </a:rPr>
              <a:t>0-1</a:t>
            </a:r>
            <a:r>
              <a:rPr lang="zh-CN" altLang="en-US" sz="4000">
                <a:solidFill>
                  <a:schemeClr val="bg1"/>
                </a:solidFill>
                <a:latin typeface="微软雅黑" panose="020B0503020204020204" charset="-122"/>
                <a:ea typeface="微软雅黑" panose="020B0503020204020204" charset="-122"/>
              </a:rPr>
              <a:t>背包问题</a:t>
            </a:r>
            <a:endParaRPr lang="zh-CN" altLang="en-US" sz="4000">
              <a:solidFill>
                <a:schemeClr val="bg1"/>
              </a:solidFill>
              <a:latin typeface="微软雅黑" panose="020B0503020204020204" charset="-122"/>
              <a:ea typeface="微软雅黑" panose="020B0503020204020204" charset="-122"/>
            </a:endParaRPr>
          </a:p>
        </p:txBody>
      </p:sp>
      <p:cxnSp>
        <p:nvCxnSpPr>
          <p:cNvPr id="5" name="直接连接符 4"/>
          <p:cNvCxnSpPr/>
          <p:nvPr/>
        </p:nvCxnSpPr>
        <p:spPr>
          <a:xfrm>
            <a:off x="78105" y="833120"/>
            <a:ext cx="11974830" cy="0"/>
          </a:xfrm>
          <a:prstGeom prst="line">
            <a:avLst/>
          </a:prstGeom>
          <a:ln w="12700" cmpd="sng">
            <a:solidFill>
              <a:schemeClr val="bg1"/>
            </a:solidFill>
            <a:prstDash val="solid"/>
          </a:ln>
        </p:spPr>
        <p:style>
          <a:lnRef idx="1">
            <a:schemeClr val="dk1"/>
          </a:lnRef>
          <a:fillRef idx="0">
            <a:schemeClr val="dk1"/>
          </a:fillRef>
          <a:effectRef idx="0">
            <a:schemeClr val="dk1"/>
          </a:effectRef>
          <a:fontRef idx="minor">
            <a:schemeClr val="tx1"/>
          </a:fontRef>
        </p:style>
      </p:cxnSp>
      <p:sp>
        <p:nvSpPr>
          <p:cNvPr id="3" name="文本框 2"/>
          <p:cNvSpPr txBox="1"/>
          <p:nvPr/>
        </p:nvSpPr>
        <p:spPr>
          <a:xfrm>
            <a:off x="354965" y="1480820"/>
            <a:ext cx="11546840" cy="4523105"/>
          </a:xfrm>
          <a:prstGeom prst="rect">
            <a:avLst/>
          </a:prstGeom>
          <a:noFill/>
        </p:spPr>
        <p:txBody>
          <a:bodyPr wrap="square" rtlCol="0">
            <a:spAutoFit/>
          </a:bodyPr>
          <a:p>
            <a:pPr algn="l"/>
            <a:r>
              <a:rPr lang="en-US" altLang="zh-CN" sz="3600">
                <a:solidFill>
                  <a:schemeClr val="bg1"/>
                </a:solidFill>
                <a:latin typeface="微软雅黑" panose="020B0503020204020204" charset="-122"/>
                <a:ea typeface="微软雅黑" panose="020B0503020204020204" charset="-122"/>
              </a:rPr>
              <a:t>问题描述：</a:t>
            </a:r>
            <a:endParaRPr lang="en-US" altLang="zh-CN" sz="3600">
              <a:solidFill>
                <a:schemeClr val="bg1"/>
              </a:solidFill>
              <a:latin typeface="微软雅黑" panose="020B0503020204020204" charset="-122"/>
              <a:ea typeface="微软雅黑" panose="020B0503020204020204" charset="-122"/>
            </a:endParaRPr>
          </a:p>
          <a:p>
            <a:pPr algn="l"/>
            <a:r>
              <a:rPr lang="en-US" altLang="zh-CN" sz="3600">
                <a:solidFill>
                  <a:schemeClr val="bg1"/>
                </a:solidFill>
                <a:latin typeface="微软雅黑" panose="020B0503020204020204" charset="-122"/>
                <a:ea typeface="微软雅黑" panose="020B0503020204020204" charset="-122"/>
              </a:rPr>
              <a:t>	给定n</a:t>
            </a:r>
            <a:r>
              <a:rPr lang="zh-CN" altLang="en-US" sz="3600">
                <a:solidFill>
                  <a:schemeClr val="bg1"/>
                </a:solidFill>
                <a:latin typeface="微软雅黑" panose="020B0503020204020204" charset="-122"/>
                <a:ea typeface="微软雅黑" panose="020B0503020204020204" charset="-122"/>
              </a:rPr>
              <a:t>个</a:t>
            </a:r>
            <a:r>
              <a:rPr lang="en-US" altLang="zh-CN" sz="3600">
                <a:solidFill>
                  <a:schemeClr val="bg1"/>
                </a:solidFill>
                <a:latin typeface="微软雅黑" panose="020B0503020204020204" charset="-122"/>
                <a:ea typeface="微软雅黑" panose="020B0503020204020204" charset="-122"/>
              </a:rPr>
              <a:t>物品和一背包。物品i的重量是wi，其价值为vi，背包的容量为C。问应如何选择装入背包的物品，使得装入背包中物品的总价值最大?</a:t>
            </a:r>
            <a:endParaRPr lang="en-US" altLang="zh-CN" sz="3600">
              <a:solidFill>
                <a:schemeClr val="bg1"/>
              </a:solidFill>
              <a:latin typeface="微软雅黑" panose="020B0503020204020204" charset="-122"/>
              <a:ea typeface="微软雅黑" panose="020B0503020204020204" charset="-122"/>
            </a:endParaRPr>
          </a:p>
          <a:p>
            <a:pPr algn="l"/>
            <a:endParaRPr lang="en-US" altLang="zh-CN" sz="3600">
              <a:solidFill>
                <a:schemeClr val="bg1"/>
              </a:solidFill>
              <a:latin typeface="微软雅黑" panose="020B0503020204020204" charset="-122"/>
              <a:ea typeface="微软雅黑" panose="020B0503020204020204" charset="-122"/>
            </a:endParaRPr>
          </a:p>
          <a:p>
            <a:pPr algn="l"/>
            <a:r>
              <a:rPr lang="en-US" altLang="zh-CN" sz="3600">
                <a:solidFill>
                  <a:schemeClr val="bg1"/>
                </a:solidFill>
                <a:latin typeface="微软雅黑" panose="020B0503020204020204" charset="-122"/>
                <a:ea typeface="微软雅黑" panose="020B0503020204020204" charset="-122"/>
              </a:rPr>
              <a:t>	对于一种物品，要么装入背包，要么不装。所以对于一种物品的装入状态可以取0和1.我们设物品i的装入状态为xi,xi∈ (0,1)，此问题称为0-1背包问题。</a:t>
            </a:r>
            <a:endParaRPr lang="en-US" altLang="zh-CN" sz="3600">
              <a:solidFill>
                <a:schemeClr val="bg1"/>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p:cNvGrpSpPr/>
        <p:nvPr/>
      </p:nvGrpSpPr>
      <p:grpSpPr/>
      <p:sp>
        <p:nvSpPr>
          <p:cNvPr id="4" name="文本框 3"/>
          <p:cNvSpPr txBox="1"/>
          <p:nvPr/>
        </p:nvSpPr>
        <p:spPr>
          <a:xfrm>
            <a:off x="47625" y="126365"/>
            <a:ext cx="10784840" cy="706755"/>
          </a:xfrm>
          <a:prstGeom prst="rect">
            <a:avLst/>
          </a:prstGeom>
          <a:noFill/>
        </p:spPr>
        <p:txBody>
          <a:bodyPr wrap="square" rtlCol="0">
            <a:spAutoFit/>
          </a:bodyPr>
          <a:p>
            <a:pPr algn="l"/>
            <a:r>
              <a:rPr lang="en-US" altLang="zh-CN" sz="4000">
                <a:solidFill>
                  <a:schemeClr val="bg1"/>
                </a:solidFill>
                <a:latin typeface="微软雅黑" panose="020B0503020204020204" charset="-122"/>
                <a:ea typeface="微软雅黑" panose="020B0503020204020204" charset="-122"/>
              </a:rPr>
              <a:t>0-1</a:t>
            </a:r>
            <a:r>
              <a:rPr lang="zh-CN" altLang="en-US" sz="4000">
                <a:solidFill>
                  <a:schemeClr val="bg1"/>
                </a:solidFill>
                <a:latin typeface="微软雅黑" panose="020B0503020204020204" charset="-122"/>
                <a:ea typeface="微软雅黑" panose="020B0503020204020204" charset="-122"/>
              </a:rPr>
              <a:t>背包问题</a:t>
            </a:r>
            <a:endParaRPr lang="zh-CN" altLang="en-US" sz="4000">
              <a:solidFill>
                <a:schemeClr val="bg1"/>
              </a:solidFill>
              <a:latin typeface="微软雅黑" panose="020B0503020204020204" charset="-122"/>
              <a:ea typeface="微软雅黑" panose="020B0503020204020204" charset="-122"/>
            </a:endParaRPr>
          </a:p>
        </p:txBody>
      </p:sp>
      <p:cxnSp>
        <p:nvCxnSpPr>
          <p:cNvPr id="5" name="直接连接符 4"/>
          <p:cNvCxnSpPr/>
          <p:nvPr/>
        </p:nvCxnSpPr>
        <p:spPr>
          <a:xfrm>
            <a:off x="78105" y="833120"/>
            <a:ext cx="11974830" cy="0"/>
          </a:xfrm>
          <a:prstGeom prst="line">
            <a:avLst/>
          </a:prstGeom>
          <a:ln w="12700" cmpd="sng">
            <a:solidFill>
              <a:schemeClr val="bg1"/>
            </a:solidFill>
            <a:prstDash val="solid"/>
          </a:ln>
        </p:spPr>
        <p:style>
          <a:lnRef idx="1">
            <a:schemeClr val="dk1"/>
          </a:lnRef>
          <a:fillRef idx="0">
            <a:schemeClr val="dk1"/>
          </a:fillRef>
          <a:effectRef idx="0">
            <a:schemeClr val="dk1"/>
          </a:effectRef>
          <a:fontRef idx="minor">
            <a:schemeClr val="tx1"/>
          </a:fontRef>
        </p:style>
      </p:cxnSp>
      <p:sp>
        <p:nvSpPr>
          <p:cNvPr id="3" name="文本框 2"/>
          <p:cNvSpPr txBox="1"/>
          <p:nvPr/>
        </p:nvSpPr>
        <p:spPr>
          <a:xfrm>
            <a:off x="354965" y="1480820"/>
            <a:ext cx="11546840" cy="1198880"/>
          </a:xfrm>
          <a:prstGeom prst="rect">
            <a:avLst/>
          </a:prstGeom>
          <a:noFill/>
        </p:spPr>
        <p:txBody>
          <a:bodyPr wrap="square" rtlCol="0">
            <a:spAutoFit/>
          </a:bodyPr>
          <a:p>
            <a:pPr algn="l"/>
            <a:r>
              <a:rPr lang="zh-CN" altLang="en-US" sz="3600">
                <a:solidFill>
                  <a:schemeClr val="bg1"/>
                </a:solidFill>
                <a:latin typeface="微软雅黑" panose="020B0503020204020204" charset="-122"/>
                <a:ea typeface="微软雅黑" panose="020B0503020204020204" charset="-122"/>
              </a:rPr>
              <a:t>定义 </a:t>
            </a:r>
            <a:r>
              <a:rPr lang="en-US" altLang="zh-CN" sz="3600">
                <a:solidFill>
                  <a:schemeClr val="bg1"/>
                </a:solidFill>
                <a:latin typeface="微软雅黑" panose="020B0503020204020204" charset="-122"/>
                <a:ea typeface="微软雅黑" panose="020B0503020204020204" charset="-122"/>
              </a:rPr>
              <a:t>F[i][j] </a:t>
            </a:r>
            <a:r>
              <a:rPr lang="zh-CN" altLang="en-US" sz="3600">
                <a:solidFill>
                  <a:schemeClr val="bg1"/>
                </a:solidFill>
                <a:latin typeface="微软雅黑" panose="020B0503020204020204" charset="-122"/>
                <a:ea typeface="微软雅黑" panose="020B0503020204020204" charset="-122"/>
              </a:rPr>
              <a:t>表示</a:t>
            </a:r>
            <a:endParaRPr lang="zh-CN" altLang="en-US" sz="3600">
              <a:solidFill>
                <a:schemeClr val="bg1"/>
              </a:solidFill>
              <a:latin typeface="微软雅黑" panose="020B0503020204020204" charset="-122"/>
              <a:ea typeface="微软雅黑" panose="020B0503020204020204" charset="-122"/>
            </a:endParaRPr>
          </a:p>
          <a:p>
            <a:pPr algn="l"/>
            <a:r>
              <a:rPr lang="en-US" altLang="zh-CN" sz="3600">
                <a:solidFill>
                  <a:schemeClr val="bg1"/>
                </a:solidFill>
                <a:latin typeface="微软雅黑" panose="020B0503020204020204" charset="-122"/>
                <a:ea typeface="微软雅黑" panose="020B0503020204020204" charset="-122"/>
              </a:rPr>
              <a:t>	</a:t>
            </a:r>
            <a:r>
              <a:rPr lang="zh-CN" altLang="en-US" sz="3600">
                <a:solidFill>
                  <a:schemeClr val="bg1"/>
                </a:solidFill>
                <a:latin typeface="微软雅黑" panose="020B0503020204020204" charset="-122"/>
                <a:ea typeface="微软雅黑" panose="020B0503020204020204" charset="-122"/>
              </a:rPr>
              <a:t>前 </a:t>
            </a:r>
            <a:r>
              <a:rPr lang="en-US" altLang="zh-CN" sz="3600">
                <a:solidFill>
                  <a:schemeClr val="bg1"/>
                </a:solidFill>
                <a:latin typeface="微软雅黑" panose="020B0503020204020204" charset="-122"/>
                <a:ea typeface="微软雅黑" panose="020B0503020204020204" charset="-122"/>
              </a:rPr>
              <a:t>i </a:t>
            </a:r>
            <a:r>
              <a:rPr lang="zh-CN" altLang="en-US" sz="3600">
                <a:solidFill>
                  <a:schemeClr val="bg1"/>
                </a:solidFill>
                <a:latin typeface="微软雅黑" panose="020B0503020204020204" charset="-122"/>
                <a:ea typeface="微软雅黑" panose="020B0503020204020204" charset="-122"/>
              </a:rPr>
              <a:t>个物品中装入容量为 </a:t>
            </a:r>
            <a:r>
              <a:rPr lang="en-US" altLang="zh-CN" sz="3600">
                <a:solidFill>
                  <a:schemeClr val="bg1"/>
                </a:solidFill>
                <a:latin typeface="微软雅黑" panose="020B0503020204020204" charset="-122"/>
                <a:ea typeface="微软雅黑" panose="020B0503020204020204" charset="-122"/>
              </a:rPr>
              <a:t>j </a:t>
            </a:r>
            <a:r>
              <a:rPr lang="zh-CN" altLang="en-US" sz="3600">
                <a:solidFill>
                  <a:schemeClr val="bg1"/>
                </a:solidFill>
                <a:latin typeface="微软雅黑" panose="020B0503020204020204" charset="-122"/>
                <a:ea typeface="微软雅黑" panose="020B0503020204020204" charset="-122"/>
              </a:rPr>
              <a:t>的物品的最大价值</a:t>
            </a:r>
            <a:r>
              <a:rPr lang="en-US" altLang="zh-CN" sz="3600">
                <a:solidFill>
                  <a:schemeClr val="bg1"/>
                </a:solidFill>
                <a:latin typeface="微软雅黑" panose="020B0503020204020204" charset="-122"/>
                <a:ea typeface="微软雅黑" panose="020B0503020204020204" charset="-122"/>
              </a:rPr>
              <a:t>	</a:t>
            </a:r>
            <a:endParaRPr lang="en-US" altLang="zh-CN" sz="360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354965" y="3907790"/>
            <a:ext cx="11546840" cy="2861310"/>
          </a:xfrm>
          <a:prstGeom prst="rect">
            <a:avLst/>
          </a:prstGeom>
          <a:noFill/>
        </p:spPr>
        <p:txBody>
          <a:bodyPr wrap="square" rtlCol="0">
            <a:spAutoFit/>
          </a:bodyPr>
          <a:p>
            <a:pPr algn="l"/>
            <a:r>
              <a:rPr lang="zh-CN" altLang="en-US" sz="3600">
                <a:solidFill>
                  <a:schemeClr val="bg1"/>
                </a:solidFill>
                <a:latin typeface="微软雅黑" panose="020B0503020204020204" charset="-122"/>
                <a:ea typeface="微软雅黑" panose="020B0503020204020204" charset="-122"/>
              </a:rPr>
              <a:t>转移方程</a:t>
            </a:r>
            <a:endParaRPr lang="zh-CN" altLang="en-US" sz="3600">
              <a:solidFill>
                <a:schemeClr val="bg1"/>
              </a:solidFill>
              <a:latin typeface="微软雅黑" panose="020B0503020204020204" charset="-122"/>
              <a:ea typeface="微软雅黑" panose="020B0503020204020204" charset="-122"/>
            </a:endParaRPr>
          </a:p>
          <a:p>
            <a:pPr algn="l"/>
            <a:r>
              <a:rPr lang="en-US" altLang="zh-CN" sz="3600">
                <a:solidFill>
                  <a:schemeClr val="bg1"/>
                </a:solidFill>
                <a:latin typeface="微软雅黑" panose="020B0503020204020204" charset="-122"/>
                <a:ea typeface="微软雅黑" panose="020B0503020204020204" charset="-122"/>
              </a:rPr>
              <a:t>	F[i][j] = F[i-1][j] (j&lt;wi)</a:t>
            </a:r>
            <a:endParaRPr lang="en-US" altLang="zh-CN" sz="3600">
              <a:solidFill>
                <a:schemeClr val="bg1"/>
              </a:solidFill>
              <a:latin typeface="微软雅黑" panose="020B0503020204020204" charset="-122"/>
              <a:ea typeface="微软雅黑" panose="020B0503020204020204" charset="-122"/>
            </a:endParaRPr>
          </a:p>
          <a:p>
            <a:pPr algn="l"/>
            <a:r>
              <a:rPr lang="en-US" altLang="zh-CN" sz="3600">
                <a:solidFill>
                  <a:schemeClr val="bg1"/>
                </a:solidFill>
                <a:latin typeface="微软雅黑" panose="020B0503020204020204" charset="-122"/>
                <a:ea typeface="微软雅黑" panose="020B0503020204020204" charset="-122"/>
              </a:rPr>
              <a:t>	F[i][j] = max{ F[i-1][j] , F[i-1][j-wi]+vi } (j&gt;=wi)</a:t>
            </a:r>
            <a:endParaRPr lang="en-US" altLang="zh-CN" sz="3600">
              <a:solidFill>
                <a:schemeClr val="bg1"/>
              </a:solidFill>
              <a:latin typeface="微软雅黑" panose="020B0503020204020204" charset="-122"/>
              <a:ea typeface="微软雅黑" panose="020B0503020204020204" charset="-122"/>
            </a:endParaRPr>
          </a:p>
          <a:p>
            <a:pPr algn="l"/>
            <a:r>
              <a:rPr lang="zh-CN" altLang="en-US" sz="3600">
                <a:solidFill>
                  <a:schemeClr val="bg1"/>
                </a:solidFill>
                <a:latin typeface="微软雅黑" panose="020B0503020204020204" charset="-122"/>
                <a:ea typeface="微软雅黑" panose="020B0503020204020204" charset="-122"/>
              </a:rPr>
              <a:t>答案</a:t>
            </a:r>
            <a:endParaRPr lang="zh-CN" altLang="en-US" sz="3600">
              <a:solidFill>
                <a:schemeClr val="bg1"/>
              </a:solidFill>
              <a:latin typeface="微软雅黑" panose="020B0503020204020204" charset="-122"/>
              <a:ea typeface="微软雅黑" panose="020B0503020204020204" charset="-122"/>
            </a:endParaRPr>
          </a:p>
          <a:p>
            <a:pPr algn="l"/>
            <a:r>
              <a:rPr lang="en-US" altLang="zh-CN" sz="3600">
                <a:solidFill>
                  <a:schemeClr val="bg1"/>
                </a:solidFill>
                <a:latin typeface="微软雅黑" panose="020B0503020204020204" charset="-122"/>
                <a:ea typeface="微软雅黑" panose="020B0503020204020204" charset="-122"/>
              </a:rPr>
              <a:t>	F[n][C]</a:t>
            </a:r>
            <a:endParaRPr lang="en-US" altLang="zh-CN" sz="3600">
              <a:solidFill>
                <a:schemeClr val="bg1"/>
              </a:solidFill>
              <a:latin typeface="微软雅黑" panose="020B0503020204020204" charset="-122"/>
              <a:ea typeface="微软雅黑" panose="020B0503020204020204" charset="-122"/>
            </a:endParaRPr>
          </a:p>
        </p:txBody>
      </p:sp>
      <p:sp>
        <p:nvSpPr>
          <p:cNvPr id="6" name="文本框 5"/>
          <p:cNvSpPr txBox="1"/>
          <p:nvPr/>
        </p:nvSpPr>
        <p:spPr>
          <a:xfrm>
            <a:off x="354965" y="2732405"/>
            <a:ext cx="11546840" cy="1198880"/>
          </a:xfrm>
          <a:prstGeom prst="rect">
            <a:avLst/>
          </a:prstGeom>
          <a:noFill/>
        </p:spPr>
        <p:txBody>
          <a:bodyPr wrap="square" rtlCol="0">
            <a:spAutoFit/>
          </a:bodyPr>
          <a:p>
            <a:pPr algn="l"/>
            <a:r>
              <a:rPr lang="zh-CN" altLang="en-US" sz="3600">
                <a:solidFill>
                  <a:schemeClr val="bg1"/>
                </a:solidFill>
                <a:latin typeface="微软雅黑" panose="020B0503020204020204" charset="-122"/>
                <a:ea typeface="微软雅黑" panose="020B0503020204020204" charset="-122"/>
              </a:rPr>
              <a:t>边界状态</a:t>
            </a:r>
            <a:endParaRPr lang="zh-CN" altLang="en-US" sz="3600">
              <a:solidFill>
                <a:schemeClr val="bg1"/>
              </a:solidFill>
              <a:latin typeface="微软雅黑" panose="020B0503020204020204" charset="-122"/>
              <a:ea typeface="微软雅黑" panose="020B0503020204020204" charset="-122"/>
            </a:endParaRPr>
          </a:p>
          <a:p>
            <a:pPr algn="l"/>
            <a:r>
              <a:rPr lang="en-US" altLang="zh-CN" sz="3600">
                <a:solidFill>
                  <a:schemeClr val="bg1"/>
                </a:solidFill>
                <a:latin typeface="微软雅黑" panose="020B0503020204020204" charset="-122"/>
                <a:ea typeface="微软雅黑" panose="020B0503020204020204" charset="-122"/>
              </a:rPr>
              <a:t>	F[i][0] = 0	F[0][j] = 0</a:t>
            </a:r>
            <a:endParaRPr lang="en-US" altLang="zh-CN" sz="3600">
              <a:solidFill>
                <a:schemeClr val="bg1"/>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21"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3" grpId="2"/>
      <p:bldP spid="3" grpId="3"/>
      <p:bldP spid="3" grpId="4"/>
      <p:bldP spid="3" grpId="5"/>
      <p:bldP spid="3" grpId="6"/>
      <p:bldP spid="3" grpId="7"/>
      <p:bldP spid="3" grpId="8"/>
      <p:bldP spid="3" grpId="9"/>
      <p:bldP spid="3" grpId="10"/>
      <p:bldP spid="3" grpId="11"/>
      <p:bldP spid="3" grpId="12"/>
      <p:bldP spid="3" grpId="13"/>
      <p:bldP spid="3" grpId="14"/>
      <p:bldP spid="3" grpId="15"/>
      <p:bldP spid="3" grpId="16"/>
      <p:bldP spid="3" grpId="17"/>
      <p:bldP spid="3" grpId="18"/>
      <p:bldP spid="3" grpId="19"/>
      <p:bldP spid="3" grpId="20"/>
      <p:bldP spid="3" grpId="21"/>
      <p:bldP spid="6" grpId="0"/>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p:cNvGrpSpPr/>
        <p:nvPr/>
      </p:nvGrpSpPr>
      <p:grpSpPr/>
      <p:sp>
        <p:nvSpPr>
          <p:cNvPr id="4" name="文本框 3"/>
          <p:cNvSpPr txBox="1"/>
          <p:nvPr/>
        </p:nvSpPr>
        <p:spPr>
          <a:xfrm>
            <a:off x="47625" y="126365"/>
            <a:ext cx="10784840" cy="706755"/>
          </a:xfrm>
          <a:prstGeom prst="rect">
            <a:avLst/>
          </a:prstGeom>
          <a:noFill/>
        </p:spPr>
        <p:txBody>
          <a:bodyPr wrap="square" rtlCol="0">
            <a:spAutoFit/>
          </a:bodyPr>
          <a:p>
            <a:pPr algn="l"/>
            <a:r>
              <a:rPr lang="zh-CN" altLang="en-US" sz="4000">
                <a:solidFill>
                  <a:schemeClr val="bg1"/>
                </a:solidFill>
                <a:latin typeface="微软雅黑" panose="020B0503020204020204" charset="-122"/>
                <a:ea typeface="微软雅黑" panose="020B0503020204020204" charset="-122"/>
              </a:rPr>
              <a:t>完全背包问题</a:t>
            </a:r>
            <a:endParaRPr lang="zh-CN" altLang="en-US" sz="4000">
              <a:solidFill>
                <a:schemeClr val="bg1"/>
              </a:solidFill>
              <a:latin typeface="微软雅黑" panose="020B0503020204020204" charset="-122"/>
              <a:ea typeface="微软雅黑" panose="020B0503020204020204" charset="-122"/>
            </a:endParaRPr>
          </a:p>
        </p:txBody>
      </p:sp>
      <p:cxnSp>
        <p:nvCxnSpPr>
          <p:cNvPr id="5" name="直接连接符 4"/>
          <p:cNvCxnSpPr/>
          <p:nvPr/>
        </p:nvCxnSpPr>
        <p:spPr>
          <a:xfrm>
            <a:off x="78105" y="833120"/>
            <a:ext cx="11974830" cy="0"/>
          </a:xfrm>
          <a:prstGeom prst="line">
            <a:avLst/>
          </a:prstGeom>
          <a:ln w="12700" cmpd="sng">
            <a:solidFill>
              <a:schemeClr val="bg1"/>
            </a:solidFill>
            <a:prstDash val="solid"/>
          </a:ln>
        </p:spPr>
        <p:style>
          <a:lnRef idx="1">
            <a:schemeClr val="dk1"/>
          </a:lnRef>
          <a:fillRef idx="0">
            <a:schemeClr val="dk1"/>
          </a:fillRef>
          <a:effectRef idx="0">
            <a:schemeClr val="dk1"/>
          </a:effectRef>
          <a:fontRef idx="minor">
            <a:schemeClr val="tx1"/>
          </a:fontRef>
        </p:style>
      </p:cxnSp>
      <p:sp>
        <p:nvSpPr>
          <p:cNvPr id="3" name="文本框 2"/>
          <p:cNvSpPr txBox="1"/>
          <p:nvPr/>
        </p:nvSpPr>
        <p:spPr>
          <a:xfrm>
            <a:off x="441325" y="1480820"/>
            <a:ext cx="11546840" cy="3969385"/>
          </a:xfrm>
          <a:prstGeom prst="rect">
            <a:avLst/>
          </a:prstGeom>
          <a:noFill/>
        </p:spPr>
        <p:txBody>
          <a:bodyPr wrap="square" rtlCol="0">
            <a:spAutoFit/>
          </a:bodyPr>
          <a:p>
            <a:pPr algn="l"/>
            <a:r>
              <a:rPr lang="en-US" altLang="zh-CN" sz="3600">
                <a:solidFill>
                  <a:schemeClr val="bg1"/>
                </a:solidFill>
                <a:latin typeface="微软雅黑" panose="020B0503020204020204" charset="-122"/>
                <a:ea typeface="微软雅黑" panose="020B0503020204020204" charset="-122"/>
              </a:rPr>
              <a:t>问题描述：</a:t>
            </a:r>
            <a:endParaRPr lang="en-US" altLang="zh-CN" sz="3600">
              <a:solidFill>
                <a:schemeClr val="bg1"/>
              </a:solidFill>
              <a:latin typeface="微软雅黑" panose="020B0503020204020204" charset="-122"/>
              <a:ea typeface="微软雅黑" panose="020B0503020204020204" charset="-122"/>
            </a:endParaRPr>
          </a:p>
          <a:p>
            <a:pPr algn="l"/>
            <a:r>
              <a:rPr lang="en-US" altLang="zh-CN" sz="3600">
                <a:solidFill>
                  <a:schemeClr val="bg1"/>
                </a:solidFill>
                <a:latin typeface="微软雅黑" panose="020B0503020204020204" charset="-122"/>
                <a:ea typeface="微软雅黑" panose="020B0503020204020204" charset="-122"/>
              </a:rPr>
              <a:t>	给定n种物品和一背包。物品i的重量是wi，其价值为vi，背包的容量为C。问应如何选择装入背包的物品，使得装入背包中物品的总价值最大?</a:t>
            </a:r>
            <a:endParaRPr lang="en-US" altLang="zh-CN" sz="3600">
              <a:solidFill>
                <a:schemeClr val="bg1"/>
              </a:solidFill>
              <a:latin typeface="微软雅黑" panose="020B0503020204020204" charset="-122"/>
              <a:ea typeface="微软雅黑" panose="020B0503020204020204" charset="-122"/>
            </a:endParaRPr>
          </a:p>
          <a:p>
            <a:pPr algn="l"/>
            <a:endParaRPr lang="en-US" altLang="zh-CN" sz="3600">
              <a:solidFill>
                <a:schemeClr val="bg1"/>
              </a:solidFill>
              <a:latin typeface="微软雅黑" panose="020B0503020204020204" charset="-122"/>
              <a:ea typeface="微软雅黑" panose="020B0503020204020204" charset="-122"/>
            </a:endParaRPr>
          </a:p>
          <a:p>
            <a:pPr algn="l"/>
            <a:r>
              <a:rPr lang="en-US" altLang="zh-CN" sz="3600">
                <a:solidFill>
                  <a:schemeClr val="bg1"/>
                </a:solidFill>
                <a:latin typeface="微软雅黑" panose="020B0503020204020204" charset="-122"/>
                <a:ea typeface="微软雅黑" panose="020B0503020204020204" charset="-122"/>
              </a:rPr>
              <a:t>	</a:t>
            </a:r>
            <a:r>
              <a:rPr lang="zh-CN" altLang="en-US" sz="3600">
                <a:solidFill>
                  <a:schemeClr val="bg1"/>
                </a:solidFill>
                <a:latin typeface="微软雅黑" panose="020B0503020204020204" charset="-122"/>
                <a:ea typeface="微软雅黑" panose="020B0503020204020204" charset="-122"/>
              </a:rPr>
              <a:t>与</a:t>
            </a:r>
            <a:r>
              <a:rPr lang="en-US" altLang="zh-CN" sz="3600">
                <a:solidFill>
                  <a:schemeClr val="bg1"/>
                </a:solidFill>
                <a:latin typeface="微软雅黑" panose="020B0503020204020204" charset="-122"/>
                <a:ea typeface="微软雅黑" panose="020B0503020204020204" charset="-122"/>
              </a:rPr>
              <a:t>0-1</a:t>
            </a:r>
            <a:r>
              <a:rPr lang="zh-CN" altLang="en-US" sz="3600">
                <a:solidFill>
                  <a:schemeClr val="bg1"/>
                </a:solidFill>
                <a:latin typeface="微软雅黑" panose="020B0503020204020204" charset="-122"/>
                <a:ea typeface="微软雅黑" panose="020B0503020204020204" charset="-122"/>
              </a:rPr>
              <a:t>背包问题不同的是，</a:t>
            </a:r>
            <a:r>
              <a:rPr lang="en-US" altLang="zh-CN" sz="3600">
                <a:solidFill>
                  <a:schemeClr val="bg1"/>
                </a:solidFill>
                <a:latin typeface="微软雅黑" panose="020B0503020204020204" charset="-122"/>
                <a:ea typeface="微软雅黑" panose="020B0503020204020204" charset="-122"/>
              </a:rPr>
              <a:t>对于一种物品，</a:t>
            </a:r>
            <a:r>
              <a:rPr lang="zh-CN" altLang="en-US" sz="3600">
                <a:solidFill>
                  <a:schemeClr val="bg1"/>
                </a:solidFill>
                <a:latin typeface="微软雅黑" panose="020B0503020204020204" charset="-122"/>
                <a:ea typeface="微软雅黑" panose="020B0503020204020204" charset="-122"/>
              </a:rPr>
              <a:t>可以不取，也可以无限取，</a:t>
            </a:r>
            <a:r>
              <a:rPr lang="en-US" altLang="zh-CN" sz="3600">
                <a:solidFill>
                  <a:schemeClr val="bg1"/>
                </a:solidFill>
                <a:latin typeface="微软雅黑" panose="020B0503020204020204" charset="-122"/>
                <a:ea typeface="微软雅黑" panose="020B0503020204020204" charset="-122"/>
              </a:rPr>
              <a:t>此问题称为</a:t>
            </a:r>
            <a:r>
              <a:rPr lang="zh-CN" altLang="en-US" sz="3600">
                <a:solidFill>
                  <a:schemeClr val="bg1"/>
                </a:solidFill>
                <a:latin typeface="微软雅黑" panose="020B0503020204020204" charset="-122"/>
                <a:ea typeface="微软雅黑" panose="020B0503020204020204" charset="-122"/>
              </a:rPr>
              <a:t>完全</a:t>
            </a:r>
            <a:r>
              <a:rPr lang="en-US" altLang="zh-CN" sz="3600">
                <a:solidFill>
                  <a:schemeClr val="bg1"/>
                </a:solidFill>
                <a:latin typeface="微软雅黑" panose="020B0503020204020204" charset="-122"/>
                <a:ea typeface="微软雅黑" panose="020B0503020204020204" charset="-122"/>
              </a:rPr>
              <a:t>背包问题。</a:t>
            </a:r>
            <a:endParaRPr lang="en-US" altLang="zh-CN" sz="3600">
              <a:solidFill>
                <a:schemeClr val="bg1"/>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p:cNvGrpSpPr/>
        <p:nvPr/>
      </p:nvGrpSpPr>
      <p:grpSpPr/>
      <p:sp>
        <p:nvSpPr>
          <p:cNvPr id="4" name="文本框 3"/>
          <p:cNvSpPr txBox="1"/>
          <p:nvPr/>
        </p:nvSpPr>
        <p:spPr>
          <a:xfrm>
            <a:off x="47625" y="126365"/>
            <a:ext cx="10784840" cy="706755"/>
          </a:xfrm>
          <a:prstGeom prst="rect">
            <a:avLst/>
          </a:prstGeom>
          <a:noFill/>
        </p:spPr>
        <p:txBody>
          <a:bodyPr wrap="square" rtlCol="0">
            <a:spAutoFit/>
          </a:bodyPr>
          <a:p>
            <a:pPr algn="l"/>
            <a:r>
              <a:rPr lang="zh-CN" altLang="en-US" sz="4000">
                <a:solidFill>
                  <a:schemeClr val="bg1"/>
                </a:solidFill>
                <a:latin typeface="微软雅黑" panose="020B0503020204020204" charset="-122"/>
                <a:ea typeface="微软雅黑" panose="020B0503020204020204" charset="-122"/>
              </a:rPr>
              <a:t>完全背包问题</a:t>
            </a:r>
            <a:endParaRPr lang="zh-CN" altLang="en-US" sz="4000">
              <a:solidFill>
                <a:schemeClr val="bg1"/>
              </a:solidFill>
              <a:latin typeface="微软雅黑" panose="020B0503020204020204" charset="-122"/>
              <a:ea typeface="微软雅黑" panose="020B0503020204020204" charset="-122"/>
            </a:endParaRPr>
          </a:p>
        </p:txBody>
      </p:sp>
      <p:cxnSp>
        <p:nvCxnSpPr>
          <p:cNvPr id="5" name="直接连接符 4"/>
          <p:cNvCxnSpPr/>
          <p:nvPr/>
        </p:nvCxnSpPr>
        <p:spPr>
          <a:xfrm>
            <a:off x="78105" y="833120"/>
            <a:ext cx="11974830" cy="0"/>
          </a:xfrm>
          <a:prstGeom prst="line">
            <a:avLst/>
          </a:prstGeom>
          <a:ln w="12700" cmpd="sng">
            <a:solidFill>
              <a:schemeClr val="bg1"/>
            </a:solidFill>
            <a:prstDash val="solid"/>
          </a:ln>
        </p:spPr>
        <p:style>
          <a:lnRef idx="1">
            <a:schemeClr val="dk1"/>
          </a:lnRef>
          <a:fillRef idx="0">
            <a:schemeClr val="dk1"/>
          </a:fillRef>
          <a:effectRef idx="0">
            <a:schemeClr val="dk1"/>
          </a:effectRef>
          <a:fontRef idx="minor">
            <a:schemeClr val="tx1"/>
          </a:fontRef>
        </p:style>
      </p:cxnSp>
      <p:sp>
        <p:nvSpPr>
          <p:cNvPr id="3" name="文本框 2"/>
          <p:cNvSpPr txBox="1"/>
          <p:nvPr/>
        </p:nvSpPr>
        <p:spPr>
          <a:xfrm>
            <a:off x="354965" y="1470025"/>
            <a:ext cx="11546840" cy="1198880"/>
          </a:xfrm>
          <a:prstGeom prst="rect">
            <a:avLst/>
          </a:prstGeom>
          <a:noFill/>
        </p:spPr>
        <p:txBody>
          <a:bodyPr wrap="square" rtlCol="0">
            <a:spAutoFit/>
          </a:bodyPr>
          <a:p>
            <a:pPr algn="l"/>
            <a:r>
              <a:rPr lang="zh-CN" altLang="en-US" sz="3600">
                <a:solidFill>
                  <a:schemeClr val="bg1"/>
                </a:solidFill>
                <a:latin typeface="微软雅黑" panose="020B0503020204020204" charset="-122"/>
                <a:ea typeface="微软雅黑" panose="020B0503020204020204" charset="-122"/>
              </a:rPr>
              <a:t>定义 </a:t>
            </a:r>
            <a:r>
              <a:rPr lang="en-US" altLang="zh-CN" sz="3600">
                <a:solidFill>
                  <a:schemeClr val="bg1"/>
                </a:solidFill>
                <a:latin typeface="微软雅黑" panose="020B0503020204020204" charset="-122"/>
                <a:ea typeface="微软雅黑" panose="020B0503020204020204" charset="-122"/>
              </a:rPr>
              <a:t>F[j] </a:t>
            </a:r>
            <a:r>
              <a:rPr lang="zh-CN" altLang="en-US" sz="3600">
                <a:solidFill>
                  <a:schemeClr val="bg1"/>
                </a:solidFill>
                <a:latin typeface="微软雅黑" panose="020B0503020204020204" charset="-122"/>
                <a:ea typeface="微软雅黑" panose="020B0503020204020204" charset="-122"/>
              </a:rPr>
              <a:t>表示</a:t>
            </a:r>
            <a:endParaRPr lang="zh-CN" altLang="en-US" sz="3600">
              <a:solidFill>
                <a:schemeClr val="bg1"/>
              </a:solidFill>
              <a:latin typeface="微软雅黑" panose="020B0503020204020204" charset="-122"/>
              <a:ea typeface="微软雅黑" panose="020B0503020204020204" charset="-122"/>
            </a:endParaRPr>
          </a:p>
          <a:p>
            <a:pPr algn="l"/>
            <a:r>
              <a:rPr lang="en-US" altLang="zh-CN" sz="3600">
                <a:solidFill>
                  <a:schemeClr val="bg1"/>
                </a:solidFill>
                <a:latin typeface="微软雅黑" panose="020B0503020204020204" charset="-122"/>
                <a:ea typeface="微软雅黑" panose="020B0503020204020204" charset="-122"/>
              </a:rPr>
              <a:t>	</a:t>
            </a:r>
            <a:r>
              <a:rPr lang="zh-CN" altLang="en-US" sz="3600">
                <a:solidFill>
                  <a:schemeClr val="bg1"/>
                </a:solidFill>
                <a:latin typeface="微软雅黑" panose="020B0503020204020204" charset="-122"/>
                <a:ea typeface="微软雅黑" panose="020B0503020204020204" charset="-122"/>
              </a:rPr>
              <a:t>总容量为 </a:t>
            </a:r>
            <a:r>
              <a:rPr lang="en-US" altLang="zh-CN" sz="3600">
                <a:solidFill>
                  <a:schemeClr val="bg1"/>
                </a:solidFill>
                <a:latin typeface="微软雅黑" panose="020B0503020204020204" charset="-122"/>
                <a:ea typeface="微软雅黑" panose="020B0503020204020204" charset="-122"/>
              </a:rPr>
              <a:t>j </a:t>
            </a:r>
            <a:r>
              <a:rPr lang="zh-CN" altLang="en-US" sz="3600">
                <a:solidFill>
                  <a:schemeClr val="bg1"/>
                </a:solidFill>
                <a:latin typeface="微软雅黑" panose="020B0503020204020204" charset="-122"/>
                <a:ea typeface="微软雅黑" panose="020B0503020204020204" charset="-122"/>
              </a:rPr>
              <a:t>的物品的最大价值</a:t>
            </a:r>
            <a:r>
              <a:rPr lang="en-US" altLang="zh-CN" sz="3600">
                <a:solidFill>
                  <a:schemeClr val="bg1"/>
                </a:solidFill>
                <a:latin typeface="微软雅黑" panose="020B0503020204020204" charset="-122"/>
                <a:ea typeface="微软雅黑" panose="020B0503020204020204" charset="-122"/>
              </a:rPr>
              <a:t>	</a:t>
            </a:r>
            <a:endParaRPr lang="en-US" altLang="zh-CN" sz="360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354965" y="3789045"/>
            <a:ext cx="11546840" cy="2861310"/>
          </a:xfrm>
          <a:prstGeom prst="rect">
            <a:avLst/>
          </a:prstGeom>
          <a:noFill/>
        </p:spPr>
        <p:txBody>
          <a:bodyPr wrap="square" rtlCol="0">
            <a:spAutoFit/>
          </a:bodyPr>
          <a:p>
            <a:pPr algn="l"/>
            <a:r>
              <a:rPr lang="zh-CN" altLang="en-US" sz="3600">
                <a:solidFill>
                  <a:schemeClr val="bg1"/>
                </a:solidFill>
                <a:latin typeface="微软雅黑" panose="020B0503020204020204" charset="-122"/>
                <a:ea typeface="微软雅黑" panose="020B0503020204020204" charset="-122"/>
              </a:rPr>
              <a:t>转移方程</a:t>
            </a:r>
            <a:endParaRPr lang="zh-CN" altLang="en-US" sz="3600">
              <a:solidFill>
                <a:schemeClr val="bg1"/>
              </a:solidFill>
              <a:latin typeface="微软雅黑" panose="020B0503020204020204" charset="-122"/>
              <a:ea typeface="微软雅黑" panose="020B0503020204020204" charset="-122"/>
            </a:endParaRPr>
          </a:p>
          <a:p>
            <a:pPr algn="l"/>
            <a:r>
              <a:rPr lang="en-US" altLang="zh-CN" sz="3600">
                <a:solidFill>
                  <a:schemeClr val="bg1"/>
                </a:solidFill>
                <a:latin typeface="微软雅黑" panose="020B0503020204020204" charset="-122"/>
                <a:ea typeface="微软雅黑" panose="020B0503020204020204" charset="-122"/>
              </a:rPr>
              <a:t>	F[j] = max{ F[j-wi]+vi } (j&gt;=wi)</a:t>
            </a:r>
            <a:endParaRPr lang="zh-CN" altLang="en-US" sz="3600">
              <a:solidFill>
                <a:schemeClr val="bg1"/>
              </a:solidFill>
              <a:latin typeface="微软雅黑" panose="020B0503020204020204" charset="-122"/>
              <a:ea typeface="微软雅黑" panose="020B0503020204020204" charset="-122"/>
            </a:endParaRPr>
          </a:p>
          <a:p>
            <a:pPr algn="l"/>
            <a:r>
              <a:rPr lang="en-US" altLang="zh-CN" sz="3600">
                <a:solidFill>
                  <a:schemeClr val="bg1"/>
                </a:solidFill>
                <a:latin typeface="微软雅黑" panose="020B0503020204020204" charset="-122"/>
                <a:ea typeface="微软雅黑" panose="020B0503020204020204" charset="-122"/>
                <a:sym typeface="+mn-ea"/>
              </a:rPr>
              <a:t>	F[j+wi] = max{ F[j+wi] , F[j]+vi } (j&gt;=wi)</a:t>
            </a:r>
            <a:endParaRPr lang="en-US" altLang="zh-CN" sz="3600">
              <a:solidFill>
                <a:schemeClr val="bg1"/>
              </a:solidFill>
              <a:latin typeface="微软雅黑" panose="020B0503020204020204" charset="-122"/>
              <a:ea typeface="微软雅黑" panose="020B0503020204020204" charset="-122"/>
              <a:sym typeface="+mn-ea"/>
            </a:endParaRPr>
          </a:p>
          <a:p>
            <a:pPr algn="l"/>
            <a:r>
              <a:rPr lang="zh-CN" altLang="en-US" sz="3600">
                <a:solidFill>
                  <a:schemeClr val="bg1"/>
                </a:solidFill>
                <a:latin typeface="微软雅黑" panose="020B0503020204020204" charset="-122"/>
                <a:ea typeface="微软雅黑" panose="020B0503020204020204" charset="-122"/>
              </a:rPr>
              <a:t>答案</a:t>
            </a:r>
            <a:endParaRPr lang="zh-CN" altLang="en-US" sz="3600">
              <a:solidFill>
                <a:schemeClr val="bg1"/>
              </a:solidFill>
              <a:latin typeface="微软雅黑" panose="020B0503020204020204" charset="-122"/>
              <a:ea typeface="微软雅黑" panose="020B0503020204020204" charset="-122"/>
            </a:endParaRPr>
          </a:p>
          <a:p>
            <a:pPr algn="l"/>
            <a:r>
              <a:rPr lang="en-US" altLang="zh-CN" sz="3600">
                <a:solidFill>
                  <a:schemeClr val="bg1"/>
                </a:solidFill>
                <a:latin typeface="微软雅黑" panose="020B0503020204020204" charset="-122"/>
                <a:ea typeface="微软雅黑" panose="020B0503020204020204" charset="-122"/>
              </a:rPr>
              <a:t>	F[C]</a:t>
            </a:r>
            <a:endParaRPr lang="zh-CN" altLang="en-US" sz="3600">
              <a:solidFill>
                <a:schemeClr val="bg1"/>
              </a:solidFill>
              <a:latin typeface="微软雅黑" panose="020B0503020204020204" charset="-122"/>
              <a:ea typeface="微软雅黑" panose="020B0503020204020204" charset="-122"/>
            </a:endParaRPr>
          </a:p>
        </p:txBody>
      </p:sp>
      <p:sp>
        <p:nvSpPr>
          <p:cNvPr id="6" name="文本框 5"/>
          <p:cNvSpPr txBox="1"/>
          <p:nvPr/>
        </p:nvSpPr>
        <p:spPr>
          <a:xfrm>
            <a:off x="354965" y="2678430"/>
            <a:ext cx="11546840" cy="1198880"/>
          </a:xfrm>
          <a:prstGeom prst="rect">
            <a:avLst/>
          </a:prstGeom>
          <a:noFill/>
        </p:spPr>
        <p:txBody>
          <a:bodyPr wrap="square" rtlCol="0">
            <a:spAutoFit/>
          </a:bodyPr>
          <a:p>
            <a:pPr algn="l"/>
            <a:r>
              <a:rPr lang="zh-CN" altLang="en-US" sz="3600">
                <a:solidFill>
                  <a:schemeClr val="bg1"/>
                </a:solidFill>
                <a:latin typeface="微软雅黑" panose="020B0503020204020204" charset="-122"/>
                <a:ea typeface="微软雅黑" panose="020B0503020204020204" charset="-122"/>
              </a:rPr>
              <a:t>边界状态</a:t>
            </a:r>
            <a:endParaRPr lang="zh-CN" altLang="en-US" sz="3600">
              <a:solidFill>
                <a:schemeClr val="bg1"/>
              </a:solidFill>
              <a:latin typeface="微软雅黑" panose="020B0503020204020204" charset="-122"/>
              <a:ea typeface="微软雅黑" panose="020B0503020204020204" charset="-122"/>
            </a:endParaRPr>
          </a:p>
          <a:p>
            <a:pPr algn="l"/>
            <a:r>
              <a:rPr lang="en-US" altLang="zh-CN" sz="3600">
                <a:solidFill>
                  <a:schemeClr val="bg1"/>
                </a:solidFill>
                <a:latin typeface="微软雅黑" panose="020B0503020204020204" charset="-122"/>
                <a:ea typeface="微软雅黑" panose="020B0503020204020204" charset="-122"/>
              </a:rPr>
              <a:t>	F[j] = 0</a:t>
            </a:r>
            <a:endParaRPr lang="zh-CN" altLang="en-US" sz="3600">
              <a:solidFill>
                <a:schemeClr val="bg1"/>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p:cNvGrpSpPr/>
        <p:nvPr/>
      </p:nvGrpSpPr>
      <p:grpSpPr/>
      <p:sp>
        <p:nvSpPr>
          <p:cNvPr id="4" name="文本框 3"/>
          <p:cNvSpPr txBox="1"/>
          <p:nvPr/>
        </p:nvSpPr>
        <p:spPr>
          <a:xfrm>
            <a:off x="47625" y="126365"/>
            <a:ext cx="10784840" cy="706755"/>
          </a:xfrm>
          <a:prstGeom prst="rect">
            <a:avLst/>
          </a:prstGeom>
          <a:noFill/>
        </p:spPr>
        <p:txBody>
          <a:bodyPr wrap="square" rtlCol="0">
            <a:spAutoFit/>
          </a:bodyPr>
          <a:p>
            <a:pPr algn="l"/>
            <a:r>
              <a:rPr lang="zh-CN" altLang="en-US" sz="4000">
                <a:solidFill>
                  <a:schemeClr val="bg1"/>
                </a:solidFill>
                <a:latin typeface="微软雅黑" panose="020B0503020204020204" charset="-122"/>
                <a:ea typeface="微软雅黑" panose="020B0503020204020204" charset="-122"/>
              </a:rPr>
              <a:t>区间动态规划</a:t>
            </a:r>
            <a:endParaRPr lang="zh-CN" altLang="en-US" sz="4000">
              <a:solidFill>
                <a:schemeClr val="bg1"/>
              </a:solidFill>
              <a:latin typeface="微软雅黑" panose="020B0503020204020204" charset="-122"/>
              <a:ea typeface="微软雅黑" panose="020B0503020204020204" charset="-122"/>
            </a:endParaRPr>
          </a:p>
        </p:txBody>
      </p:sp>
      <p:cxnSp>
        <p:nvCxnSpPr>
          <p:cNvPr id="5" name="直接连接符 4"/>
          <p:cNvCxnSpPr/>
          <p:nvPr/>
        </p:nvCxnSpPr>
        <p:spPr>
          <a:xfrm>
            <a:off x="78105" y="833120"/>
            <a:ext cx="11974830" cy="0"/>
          </a:xfrm>
          <a:prstGeom prst="line">
            <a:avLst/>
          </a:prstGeom>
          <a:ln w="12700" cmpd="sng">
            <a:solidFill>
              <a:schemeClr val="bg1"/>
            </a:solidFill>
            <a:prstDash val="solid"/>
          </a:ln>
        </p:spPr>
        <p:style>
          <a:lnRef idx="1">
            <a:schemeClr val="dk1"/>
          </a:lnRef>
          <a:fillRef idx="0">
            <a:schemeClr val="dk1"/>
          </a:fillRef>
          <a:effectRef idx="0">
            <a:schemeClr val="dk1"/>
          </a:effectRef>
          <a:fontRef idx="minor">
            <a:schemeClr val="tx1"/>
          </a:fontRef>
        </p:style>
      </p:cxnSp>
      <p:sp>
        <p:nvSpPr>
          <p:cNvPr id="3" name="文本框 2"/>
          <p:cNvSpPr txBox="1"/>
          <p:nvPr/>
        </p:nvSpPr>
        <p:spPr>
          <a:xfrm>
            <a:off x="441325" y="1210945"/>
            <a:ext cx="11546840" cy="2861310"/>
          </a:xfrm>
          <a:prstGeom prst="rect">
            <a:avLst/>
          </a:prstGeom>
          <a:noFill/>
        </p:spPr>
        <p:txBody>
          <a:bodyPr wrap="square" rtlCol="0">
            <a:spAutoFit/>
          </a:bodyPr>
          <a:p>
            <a:pPr algn="l"/>
            <a:r>
              <a:rPr lang="en-US" altLang="zh-CN" sz="3600">
                <a:solidFill>
                  <a:schemeClr val="bg1"/>
                </a:solidFill>
                <a:latin typeface="微软雅黑" panose="020B0503020204020204" charset="-122"/>
                <a:ea typeface="微软雅黑" panose="020B0503020204020204" charset="-122"/>
              </a:rPr>
              <a:t>问题描述：</a:t>
            </a:r>
            <a:endParaRPr lang="en-US" altLang="zh-CN" sz="3600">
              <a:solidFill>
                <a:schemeClr val="bg1"/>
              </a:solidFill>
              <a:latin typeface="微软雅黑" panose="020B0503020204020204" charset="-122"/>
              <a:ea typeface="微软雅黑" panose="020B0503020204020204" charset="-122"/>
            </a:endParaRPr>
          </a:p>
          <a:p>
            <a:pPr algn="l"/>
            <a:r>
              <a:rPr lang="en-US" altLang="zh-CN" sz="3600">
                <a:solidFill>
                  <a:schemeClr val="bg1"/>
                </a:solidFill>
                <a:latin typeface="微软雅黑" panose="020B0503020204020204" charset="-122"/>
                <a:ea typeface="微软雅黑" panose="020B0503020204020204" charset="-122"/>
              </a:rPr>
              <a:t>	</a:t>
            </a:r>
            <a:r>
              <a:rPr sz="3600">
                <a:solidFill>
                  <a:schemeClr val="bg1"/>
                </a:solidFill>
                <a:latin typeface="微软雅黑" panose="020B0503020204020204" charset="-122"/>
                <a:ea typeface="微软雅黑" panose="020B0503020204020204" charset="-122"/>
                <a:sym typeface="+mn-ea"/>
              </a:rPr>
              <a:t>有N堆石子排成一排，每堆石子有一定的数量。现要将N堆石子并成为一堆。合并的过程只能每次将相邻的两堆石子堆成一堆，每次合并花费的代价为这两堆石子的和，经过N-1次合并后成为一堆。求出总的代价最小值。</a:t>
            </a:r>
            <a:endParaRPr sz="3600">
              <a:solidFill>
                <a:schemeClr val="bg1"/>
              </a:solidFill>
              <a:latin typeface="微软雅黑" panose="020B0503020204020204" charset="-122"/>
              <a:ea typeface="微软雅黑" panose="020B0503020204020204" charset="-122"/>
              <a:sym typeface="+mn-ea"/>
            </a:endParaRPr>
          </a:p>
        </p:txBody>
      </p:sp>
      <p:sp>
        <p:nvSpPr>
          <p:cNvPr id="2" name="文本框 1"/>
          <p:cNvSpPr txBox="1"/>
          <p:nvPr/>
        </p:nvSpPr>
        <p:spPr>
          <a:xfrm>
            <a:off x="441325" y="4288155"/>
            <a:ext cx="11546840" cy="1753235"/>
          </a:xfrm>
          <a:prstGeom prst="rect">
            <a:avLst/>
          </a:prstGeom>
          <a:noFill/>
        </p:spPr>
        <p:txBody>
          <a:bodyPr wrap="square" rtlCol="0">
            <a:spAutoFit/>
          </a:bodyPr>
          <a:p>
            <a:pPr algn="l"/>
            <a:r>
              <a:rPr lang="en-US" altLang="zh-CN" sz="3600">
                <a:solidFill>
                  <a:schemeClr val="bg1"/>
                </a:solidFill>
                <a:latin typeface="微软雅黑" panose="020B0503020204020204" charset="-122"/>
                <a:ea typeface="微软雅黑" panose="020B0503020204020204" charset="-122"/>
              </a:rPr>
              <a:t>F[i][j]</a:t>
            </a:r>
            <a:r>
              <a:rPr lang="zh-CN" altLang="en-US" sz="3600">
                <a:solidFill>
                  <a:schemeClr val="bg1"/>
                </a:solidFill>
                <a:latin typeface="微软雅黑" panose="020B0503020204020204" charset="-122"/>
                <a:ea typeface="微软雅黑" panose="020B0503020204020204" charset="-122"/>
              </a:rPr>
              <a:t>表示 将区间</a:t>
            </a:r>
            <a:r>
              <a:rPr lang="en-US" altLang="zh-CN" sz="3600">
                <a:solidFill>
                  <a:schemeClr val="bg1"/>
                </a:solidFill>
                <a:latin typeface="微软雅黑" panose="020B0503020204020204" charset="-122"/>
                <a:ea typeface="微软雅黑" panose="020B0503020204020204" charset="-122"/>
              </a:rPr>
              <a:t>[i , j]</a:t>
            </a:r>
            <a:r>
              <a:rPr lang="zh-CN" altLang="en-US" sz="3600">
                <a:solidFill>
                  <a:schemeClr val="bg1"/>
                </a:solidFill>
                <a:latin typeface="微软雅黑" panose="020B0503020204020204" charset="-122"/>
                <a:ea typeface="微软雅黑" panose="020B0503020204020204" charset="-122"/>
              </a:rPr>
              <a:t>内石子合并的最小代价。</a:t>
            </a:r>
            <a:endParaRPr lang="en-US" altLang="zh-CN" sz="3600">
              <a:solidFill>
                <a:schemeClr val="bg1"/>
              </a:solidFill>
              <a:latin typeface="微软雅黑" panose="020B0503020204020204" charset="-122"/>
              <a:ea typeface="微软雅黑" panose="020B0503020204020204" charset="-122"/>
            </a:endParaRPr>
          </a:p>
          <a:p>
            <a:pPr algn="l"/>
            <a:r>
              <a:rPr lang="en-US" altLang="zh-CN" sz="3600">
                <a:solidFill>
                  <a:schemeClr val="bg1"/>
                </a:solidFill>
                <a:latin typeface="微软雅黑" panose="020B0503020204020204" charset="-122"/>
                <a:ea typeface="微软雅黑" panose="020B0503020204020204" charset="-122"/>
              </a:rPr>
              <a:t>F[i][j] = min</a:t>
            </a:r>
            <a:r>
              <a:rPr lang="en-US" altLang="zh-CN" sz="3600">
                <a:solidFill>
                  <a:schemeClr val="bg1"/>
                </a:solidFill>
                <a:latin typeface="微软雅黑" panose="020B0503020204020204" charset="-122"/>
                <a:ea typeface="微软雅黑" panose="020B0503020204020204" charset="-122"/>
              </a:rPr>
              <a:t>{ F[i][k]+F[k+1][j] } + sum[j] - sum[i-1]</a:t>
            </a:r>
            <a:endParaRPr lang="en-US" altLang="zh-CN" sz="3600">
              <a:solidFill>
                <a:schemeClr val="bg1"/>
              </a:solidFill>
              <a:latin typeface="微软雅黑" panose="020B0503020204020204" charset="-122"/>
              <a:ea typeface="微软雅黑" panose="020B0503020204020204" charset="-122"/>
            </a:endParaRPr>
          </a:p>
          <a:p>
            <a:pPr algn="l"/>
            <a:r>
              <a:rPr lang="zh-CN" altLang="en-US" sz="3600">
                <a:solidFill>
                  <a:schemeClr val="bg1"/>
                </a:solidFill>
                <a:latin typeface="微软雅黑" panose="020B0503020204020204" charset="-122"/>
                <a:ea typeface="微软雅黑" panose="020B0503020204020204" charset="-122"/>
              </a:rPr>
              <a:t>其中</a:t>
            </a:r>
            <a:r>
              <a:rPr lang="en-US" altLang="zh-CN" sz="3600">
                <a:solidFill>
                  <a:schemeClr val="bg1"/>
                </a:solidFill>
                <a:latin typeface="微软雅黑" panose="020B0503020204020204" charset="-122"/>
                <a:ea typeface="微软雅黑" panose="020B0503020204020204" charset="-122"/>
              </a:rPr>
              <a:t>sum[i]</a:t>
            </a:r>
            <a:r>
              <a:rPr lang="zh-CN" altLang="en-US" sz="3600">
                <a:solidFill>
                  <a:schemeClr val="bg1"/>
                </a:solidFill>
                <a:latin typeface="微软雅黑" panose="020B0503020204020204" charset="-122"/>
                <a:ea typeface="微软雅黑" panose="020B0503020204020204" charset="-122"/>
              </a:rPr>
              <a:t>表示前</a:t>
            </a:r>
            <a:r>
              <a:rPr lang="en-US" altLang="zh-CN" sz="3600">
                <a:solidFill>
                  <a:schemeClr val="bg1"/>
                </a:solidFill>
                <a:latin typeface="微软雅黑" panose="020B0503020204020204" charset="-122"/>
                <a:ea typeface="微软雅黑" panose="020B0503020204020204" charset="-122"/>
              </a:rPr>
              <a:t>i</a:t>
            </a:r>
            <a:r>
              <a:rPr lang="zh-CN" altLang="en-US" sz="3600">
                <a:solidFill>
                  <a:schemeClr val="bg1"/>
                </a:solidFill>
                <a:latin typeface="微软雅黑" panose="020B0503020204020204" charset="-122"/>
                <a:ea typeface="微软雅黑" panose="020B0503020204020204" charset="-122"/>
              </a:rPr>
              <a:t>个数之和（前缀和）</a:t>
            </a:r>
            <a:endParaRPr lang="zh-CN" altLang="en-US" sz="3600">
              <a:solidFill>
                <a:schemeClr val="bg1"/>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p:cNvGrpSpPr/>
        <p:nvPr/>
      </p:nvGrpSpPr>
      <p:grpSpPr/>
      <p:sp>
        <p:nvSpPr>
          <p:cNvPr id="4" name="文本框 3"/>
          <p:cNvSpPr txBox="1"/>
          <p:nvPr/>
        </p:nvSpPr>
        <p:spPr>
          <a:xfrm>
            <a:off x="47625" y="126365"/>
            <a:ext cx="10784840" cy="706755"/>
          </a:xfrm>
          <a:prstGeom prst="rect">
            <a:avLst/>
          </a:prstGeom>
          <a:noFill/>
        </p:spPr>
        <p:txBody>
          <a:bodyPr wrap="square" rtlCol="0">
            <a:spAutoFit/>
          </a:bodyPr>
          <a:p>
            <a:pPr algn="l"/>
            <a:r>
              <a:rPr lang="zh-CN" altLang="en-US" sz="4000">
                <a:solidFill>
                  <a:schemeClr val="bg1"/>
                </a:solidFill>
                <a:latin typeface="微软雅黑" panose="020B0503020204020204" charset="-122"/>
                <a:ea typeface="微软雅黑" panose="020B0503020204020204" charset="-122"/>
              </a:rPr>
              <a:t>树状动态规划</a:t>
            </a:r>
            <a:endParaRPr lang="zh-CN" altLang="en-US" sz="4000">
              <a:solidFill>
                <a:schemeClr val="bg1"/>
              </a:solidFill>
              <a:latin typeface="微软雅黑" panose="020B0503020204020204" charset="-122"/>
              <a:ea typeface="微软雅黑" panose="020B0503020204020204" charset="-122"/>
            </a:endParaRPr>
          </a:p>
        </p:txBody>
      </p:sp>
      <p:cxnSp>
        <p:nvCxnSpPr>
          <p:cNvPr id="5" name="直接连接符 4"/>
          <p:cNvCxnSpPr/>
          <p:nvPr/>
        </p:nvCxnSpPr>
        <p:spPr>
          <a:xfrm>
            <a:off x="78105" y="833120"/>
            <a:ext cx="11974830" cy="0"/>
          </a:xfrm>
          <a:prstGeom prst="line">
            <a:avLst/>
          </a:prstGeom>
          <a:ln w="12700" cmpd="sng">
            <a:solidFill>
              <a:schemeClr val="bg1"/>
            </a:solidFill>
            <a:prstDash val="solid"/>
          </a:ln>
        </p:spPr>
        <p:style>
          <a:lnRef idx="1">
            <a:schemeClr val="dk1"/>
          </a:lnRef>
          <a:fillRef idx="0">
            <a:schemeClr val="dk1"/>
          </a:fillRef>
          <a:effectRef idx="0">
            <a:schemeClr val="dk1"/>
          </a:effectRef>
          <a:fontRef idx="minor">
            <a:schemeClr val="tx1"/>
          </a:fontRef>
        </p:style>
      </p:cxnSp>
      <p:sp>
        <p:nvSpPr>
          <p:cNvPr id="2" name="文本框 1"/>
          <p:cNvSpPr txBox="1"/>
          <p:nvPr/>
        </p:nvSpPr>
        <p:spPr>
          <a:xfrm>
            <a:off x="441325" y="1492250"/>
            <a:ext cx="11546840" cy="645160"/>
          </a:xfrm>
          <a:prstGeom prst="rect">
            <a:avLst/>
          </a:prstGeom>
          <a:noFill/>
        </p:spPr>
        <p:txBody>
          <a:bodyPr wrap="square" rtlCol="0">
            <a:spAutoFit/>
          </a:bodyPr>
          <a:p>
            <a:pPr algn="l"/>
            <a:r>
              <a:rPr lang="en-US" altLang="zh-CN" sz="3600">
                <a:solidFill>
                  <a:schemeClr val="bg1"/>
                </a:solidFill>
                <a:latin typeface="微软雅黑" panose="020B0503020204020204" charset="-122"/>
                <a:ea typeface="微软雅黑" panose="020B0503020204020204" charset="-122"/>
              </a:rPr>
              <a:t>F[father] = min { F[son] } ......</a:t>
            </a:r>
            <a:endParaRPr lang="en-US" altLang="zh-CN" sz="3600">
              <a:solidFill>
                <a:schemeClr val="bg1"/>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p:cNvGrpSpPr/>
        <p:nvPr/>
      </p:nvGrpSpPr>
      <p:grpSpPr/>
      <p:sp>
        <p:nvSpPr>
          <p:cNvPr id="4" name="文本框 3"/>
          <p:cNvSpPr txBox="1"/>
          <p:nvPr/>
        </p:nvSpPr>
        <p:spPr>
          <a:xfrm>
            <a:off x="47625" y="126365"/>
            <a:ext cx="10784840" cy="706755"/>
          </a:xfrm>
          <a:prstGeom prst="rect">
            <a:avLst/>
          </a:prstGeom>
          <a:noFill/>
        </p:spPr>
        <p:txBody>
          <a:bodyPr wrap="square" rtlCol="0">
            <a:spAutoFit/>
          </a:bodyPr>
          <a:p>
            <a:pPr algn="l"/>
            <a:r>
              <a:rPr lang="en-US" altLang="zh-CN" sz="4000">
                <a:solidFill>
                  <a:schemeClr val="bg1"/>
                </a:solidFill>
                <a:latin typeface="微软雅黑" panose="020B0503020204020204" charset="-122"/>
                <a:ea typeface="微软雅黑" panose="020B0503020204020204" charset="-122"/>
              </a:rPr>
              <a:t>*</a:t>
            </a:r>
            <a:r>
              <a:rPr lang="zh-CN" altLang="en-US" sz="4000">
                <a:solidFill>
                  <a:schemeClr val="bg1"/>
                </a:solidFill>
                <a:latin typeface="微软雅黑" panose="020B0503020204020204" charset="-122"/>
                <a:ea typeface="微软雅黑" panose="020B0503020204020204" charset="-122"/>
              </a:rPr>
              <a:t>状态压缩动态规划</a:t>
            </a:r>
            <a:endParaRPr lang="zh-CN" altLang="en-US" sz="4000">
              <a:solidFill>
                <a:schemeClr val="bg1"/>
              </a:solidFill>
              <a:latin typeface="微软雅黑" panose="020B0503020204020204" charset="-122"/>
              <a:ea typeface="微软雅黑" panose="020B0503020204020204" charset="-122"/>
            </a:endParaRPr>
          </a:p>
        </p:txBody>
      </p:sp>
      <p:cxnSp>
        <p:nvCxnSpPr>
          <p:cNvPr id="5" name="直接连接符 4"/>
          <p:cNvCxnSpPr/>
          <p:nvPr/>
        </p:nvCxnSpPr>
        <p:spPr>
          <a:xfrm>
            <a:off x="78105" y="833120"/>
            <a:ext cx="11974830" cy="0"/>
          </a:xfrm>
          <a:prstGeom prst="line">
            <a:avLst/>
          </a:prstGeom>
          <a:ln w="12700" cmpd="sng">
            <a:solidFill>
              <a:schemeClr val="bg1"/>
            </a:solidFill>
            <a:prstDash val="solid"/>
          </a:ln>
        </p:spPr>
        <p:style>
          <a:lnRef idx="1">
            <a:schemeClr val="dk1"/>
          </a:lnRef>
          <a:fillRef idx="0">
            <a:schemeClr val="dk1"/>
          </a:fillRef>
          <a:effectRef idx="0">
            <a:schemeClr val="dk1"/>
          </a:effectRef>
          <a:fontRef idx="minor">
            <a:schemeClr val="tx1"/>
          </a:fontRef>
        </p:style>
      </p:cxnSp>
      <p:sp>
        <p:nvSpPr>
          <p:cNvPr id="3" name="文本框 2"/>
          <p:cNvSpPr txBox="1"/>
          <p:nvPr/>
        </p:nvSpPr>
        <p:spPr>
          <a:xfrm>
            <a:off x="441325" y="1210945"/>
            <a:ext cx="11546840" cy="1753235"/>
          </a:xfrm>
          <a:prstGeom prst="rect">
            <a:avLst/>
          </a:prstGeom>
          <a:noFill/>
        </p:spPr>
        <p:txBody>
          <a:bodyPr wrap="square" rtlCol="0">
            <a:spAutoFit/>
          </a:bodyPr>
          <a:p>
            <a:pPr algn="l"/>
            <a:r>
              <a:rPr lang="zh-CN" altLang="en-US" sz="3600">
                <a:solidFill>
                  <a:schemeClr val="bg1"/>
                </a:solidFill>
                <a:latin typeface="微软雅黑" panose="020B0503020204020204" charset="-122"/>
                <a:ea typeface="微软雅黑" panose="020B0503020204020204" charset="-122"/>
              </a:rPr>
              <a:t>状态压缩（一般）：</a:t>
            </a:r>
            <a:endParaRPr lang="zh-CN" altLang="en-US" sz="3600">
              <a:solidFill>
                <a:schemeClr val="bg1"/>
              </a:solidFill>
              <a:latin typeface="微软雅黑" panose="020B0503020204020204" charset="-122"/>
              <a:ea typeface="微软雅黑" panose="020B0503020204020204" charset="-122"/>
            </a:endParaRPr>
          </a:p>
          <a:p>
            <a:pPr algn="l"/>
            <a:r>
              <a:rPr lang="en-US" altLang="zh-CN" sz="3600">
                <a:solidFill>
                  <a:schemeClr val="bg1"/>
                </a:solidFill>
                <a:latin typeface="微软雅黑" panose="020B0503020204020204" charset="-122"/>
                <a:ea typeface="微软雅黑" panose="020B0503020204020204" charset="-122"/>
              </a:rPr>
              <a:t>	</a:t>
            </a:r>
            <a:r>
              <a:rPr lang="zh-CN" altLang="en-US" sz="3600">
                <a:solidFill>
                  <a:schemeClr val="bg1"/>
                </a:solidFill>
                <a:latin typeface="微软雅黑" panose="020B0503020204020204" charset="-122"/>
                <a:ea typeface="微软雅黑" panose="020B0503020204020204" charset="-122"/>
              </a:rPr>
              <a:t>将一个比较复杂的状态通过二进制表示的方法压缩成一个易于表示的状态。</a:t>
            </a:r>
            <a:endParaRPr lang="zh-CN" altLang="en-US" sz="360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441325" y="3316605"/>
            <a:ext cx="11546840" cy="2306955"/>
          </a:xfrm>
          <a:prstGeom prst="rect">
            <a:avLst/>
          </a:prstGeom>
          <a:noFill/>
        </p:spPr>
        <p:txBody>
          <a:bodyPr wrap="square" rtlCol="0">
            <a:spAutoFit/>
          </a:bodyPr>
          <a:p>
            <a:pPr algn="l"/>
            <a:r>
              <a:rPr lang="zh-CN" altLang="en-US" sz="3600">
                <a:solidFill>
                  <a:schemeClr val="bg1"/>
                </a:solidFill>
                <a:latin typeface="微软雅黑" panose="020B0503020204020204" charset="-122"/>
                <a:ea typeface="微软雅黑" panose="020B0503020204020204" charset="-122"/>
              </a:rPr>
              <a:t>假设题目给出</a:t>
            </a:r>
            <a:r>
              <a:rPr lang="en-US" altLang="zh-CN" sz="3600">
                <a:solidFill>
                  <a:schemeClr val="bg1"/>
                </a:solidFill>
                <a:latin typeface="微软雅黑" panose="020B0503020204020204" charset="-122"/>
                <a:ea typeface="微软雅黑" panose="020B0503020204020204" charset="-122"/>
              </a:rPr>
              <a:t>5</a:t>
            </a:r>
            <a:r>
              <a:rPr lang="zh-CN" altLang="en-US" sz="3600">
                <a:solidFill>
                  <a:schemeClr val="bg1"/>
                </a:solidFill>
                <a:latin typeface="微软雅黑" panose="020B0503020204020204" charset="-122"/>
                <a:ea typeface="微软雅黑" panose="020B0503020204020204" charset="-122"/>
              </a:rPr>
              <a:t>个物品，要想将这</a:t>
            </a:r>
            <a:r>
              <a:rPr lang="en-US" altLang="zh-CN" sz="3600">
                <a:solidFill>
                  <a:schemeClr val="bg1"/>
                </a:solidFill>
                <a:latin typeface="微软雅黑" panose="020B0503020204020204" charset="-122"/>
                <a:ea typeface="微软雅黑" panose="020B0503020204020204" charset="-122"/>
              </a:rPr>
              <a:t>5</a:t>
            </a:r>
            <a:r>
              <a:rPr lang="zh-CN" altLang="en-US" sz="3600">
                <a:solidFill>
                  <a:schemeClr val="bg1"/>
                </a:solidFill>
                <a:latin typeface="微软雅黑" panose="020B0503020204020204" charset="-122"/>
                <a:ea typeface="微软雅黑" panose="020B0503020204020204" charset="-122"/>
              </a:rPr>
              <a:t>个物品的取舍作为状态的话，可以用一个</a:t>
            </a:r>
            <a:r>
              <a:rPr lang="en-US" altLang="zh-CN" sz="3600">
                <a:solidFill>
                  <a:schemeClr val="bg1"/>
                </a:solidFill>
                <a:latin typeface="微软雅黑" panose="020B0503020204020204" charset="-122"/>
                <a:ea typeface="微软雅黑" panose="020B0503020204020204" charset="-122"/>
              </a:rPr>
              <a:t>[0 , 2^5-1]</a:t>
            </a:r>
            <a:r>
              <a:rPr lang="zh-CN" altLang="en-US" sz="3600">
                <a:solidFill>
                  <a:schemeClr val="bg1"/>
                </a:solidFill>
                <a:latin typeface="微软雅黑" panose="020B0503020204020204" charset="-122"/>
                <a:ea typeface="微软雅黑" panose="020B0503020204020204" charset="-122"/>
              </a:rPr>
              <a:t>的整数来表示。</a:t>
            </a:r>
            <a:endParaRPr lang="zh-CN" altLang="en-US" sz="3600">
              <a:solidFill>
                <a:schemeClr val="bg1"/>
              </a:solidFill>
              <a:latin typeface="微软雅黑" panose="020B0503020204020204" charset="-122"/>
              <a:ea typeface="微软雅黑" panose="020B0503020204020204" charset="-122"/>
            </a:endParaRPr>
          </a:p>
          <a:p>
            <a:pPr algn="l"/>
            <a:r>
              <a:rPr lang="zh-CN" altLang="en-US" sz="3600">
                <a:solidFill>
                  <a:schemeClr val="bg1"/>
                </a:solidFill>
                <a:latin typeface="微软雅黑" panose="020B0503020204020204" charset="-122"/>
                <a:ea typeface="微软雅黑" panose="020B0503020204020204" charset="-122"/>
              </a:rPr>
              <a:t>取</a:t>
            </a:r>
            <a:r>
              <a:rPr lang="en-US" altLang="zh-CN" sz="3600">
                <a:solidFill>
                  <a:schemeClr val="bg1"/>
                </a:solidFill>
                <a:latin typeface="微软雅黑" panose="020B0503020204020204" charset="-122"/>
                <a:ea typeface="微软雅黑" panose="020B0503020204020204" charset="-122"/>
              </a:rPr>
              <a:t>1.3.4</a:t>
            </a:r>
            <a:r>
              <a:rPr lang="zh-CN" altLang="en-US" sz="3600">
                <a:solidFill>
                  <a:schemeClr val="bg1"/>
                </a:solidFill>
                <a:latin typeface="微软雅黑" panose="020B0503020204020204" charset="-122"/>
                <a:ea typeface="微软雅黑" panose="020B0503020204020204" charset="-122"/>
              </a:rPr>
              <a:t>号物品 </a:t>
            </a:r>
            <a:r>
              <a:rPr lang="en-US" altLang="zh-CN" sz="3600">
                <a:solidFill>
                  <a:schemeClr val="bg1"/>
                </a:solidFill>
                <a:latin typeface="微软雅黑" panose="020B0503020204020204" charset="-122"/>
                <a:ea typeface="微软雅黑" panose="020B0503020204020204" charset="-122"/>
              </a:rPr>
              <a:t>-&gt; </a:t>
            </a:r>
            <a:r>
              <a:rPr lang="zh-CN" altLang="en-US" sz="3600">
                <a:solidFill>
                  <a:schemeClr val="bg1"/>
                </a:solidFill>
                <a:latin typeface="微软雅黑" panose="020B0503020204020204" charset="-122"/>
                <a:ea typeface="微软雅黑" panose="020B0503020204020204" charset="-122"/>
              </a:rPr>
              <a:t>状态</a:t>
            </a:r>
            <a:r>
              <a:rPr lang="en-US" altLang="zh-CN" sz="3600">
                <a:solidFill>
                  <a:schemeClr val="bg1"/>
                </a:solidFill>
                <a:latin typeface="微软雅黑" panose="020B0503020204020204" charset="-122"/>
                <a:ea typeface="微软雅黑" panose="020B0503020204020204" charset="-122"/>
              </a:rPr>
              <a:t>i = 10110 = 22</a:t>
            </a:r>
            <a:endParaRPr lang="en-US" altLang="zh-CN" sz="3600">
              <a:solidFill>
                <a:schemeClr val="bg1"/>
              </a:solidFill>
              <a:latin typeface="微软雅黑" panose="020B0503020204020204" charset="-122"/>
              <a:ea typeface="微软雅黑" panose="020B0503020204020204" charset="-122"/>
            </a:endParaRPr>
          </a:p>
          <a:p>
            <a:pPr algn="l"/>
            <a:r>
              <a:rPr lang="zh-CN" altLang="en-US" sz="3600">
                <a:solidFill>
                  <a:schemeClr val="bg1"/>
                </a:solidFill>
                <a:latin typeface="微软雅黑" panose="020B0503020204020204" charset="-122"/>
                <a:ea typeface="微软雅黑" panose="020B0503020204020204" charset="-122"/>
              </a:rPr>
              <a:t>取</a:t>
            </a:r>
            <a:r>
              <a:rPr lang="en-US" altLang="zh-CN" sz="3600">
                <a:solidFill>
                  <a:schemeClr val="bg1"/>
                </a:solidFill>
                <a:latin typeface="微软雅黑" panose="020B0503020204020204" charset="-122"/>
                <a:ea typeface="微软雅黑" panose="020B0503020204020204" charset="-122"/>
              </a:rPr>
              <a:t>2.5</a:t>
            </a:r>
            <a:r>
              <a:rPr lang="zh-CN" altLang="en-US" sz="3600">
                <a:solidFill>
                  <a:schemeClr val="bg1"/>
                </a:solidFill>
                <a:latin typeface="微软雅黑" panose="020B0503020204020204" charset="-122"/>
                <a:ea typeface="微软雅黑" panose="020B0503020204020204" charset="-122"/>
              </a:rPr>
              <a:t>号物品    </a:t>
            </a:r>
            <a:r>
              <a:rPr lang="en-US" altLang="zh-CN" sz="3600">
                <a:solidFill>
                  <a:schemeClr val="bg1"/>
                </a:solidFill>
                <a:latin typeface="微软雅黑" panose="020B0503020204020204" charset="-122"/>
                <a:ea typeface="微软雅黑" panose="020B0503020204020204" charset="-122"/>
              </a:rPr>
              <a:t>-&gt; </a:t>
            </a:r>
            <a:r>
              <a:rPr lang="zh-CN" altLang="en-US" sz="3600">
                <a:solidFill>
                  <a:schemeClr val="bg1"/>
                </a:solidFill>
                <a:latin typeface="微软雅黑" panose="020B0503020204020204" charset="-122"/>
                <a:ea typeface="微软雅黑" panose="020B0503020204020204" charset="-122"/>
              </a:rPr>
              <a:t>状态</a:t>
            </a:r>
            <a:r>
              <a:rPr lang="en-US" altLang="zh-CN" sz="3600">
                <a:solidFill>
                  <a:schemeClr val="bg1"/>
                </a:solidFill>
                <a:latin typeface="微软雅黑" panose="020B0503020204020204" charset="-122"/>
                <a:ea typeface="微软雅黑" panose="020B0503020204020204" charset="-122"/>
              </a:rPr>
              <a:t>i = 01001 = 9</a:t>
            </a:r>
            <a:endParaRPr lang="en-US" altLang="zh-CN" sz="3600">
              <a:solidFill>
                <a:schemeClr val="bg1"/>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p:cNvGrpSpPr/>
        <p:nvPr/>
      </p:nvGrpSpPr>
      <p:grpSpPr/>
      <p:sp>
        <p:nvSpPr>
          <p:cNvPr id="4" name="文本框 3"/>
          <p:cNvSpPr txBox="1"/>
          <p:nvPr/>
        </p:nvSpPr>
        <p:spPr>
          <a:xfrm>
            <a:off x="2370455" y="2740025"/>
            <a:ext cx="7451090" cy="829945"/>
          </a:xfrm>
          <a:prstGeom prst="rect">
            <a:avLst/>
          </a:prstGeom>
          <a:noFill/>
        </p:spPr>
        <p:txBody>
          <a:bodyPr wrap="square" rtlCol="0">
            <a:spAutoFit/>
          </a:bodyPr>
          <a:p>
            <a:pPr algn="ctr"/>
            <a:r>
              <a:rPr lang="en-US" altLang="zh-CN" sz="4800">
                <a:solidFill>
                  <a:schemeClr val="bg1"/>
                </a:solidFill>
                <a:latin typeface="微软雅黑" panose="020B0503020204020204" charset="-122"/>
                <a:ea typeface="微软雅黑" panose="020B0503020204020204" charset="-122"/>
              </a:rPr>
              <a:t>Thanks</a:t>
            </a:r>
            <a:endParaRPr lang="en-US" altLang="zh-CN" sz="4800">
              <a:solidFill>
                <a:schemeClr val="bg1"/>
              </a:solidFill>
              <a:latin typeface="微软雅黑" panose="020B0503020204020204" charset="-122"/>
              <a:ea typeface="微软雅黑" panose="020B0503020204020204" charset="-122"/>
            </a:endParaRPr>
          </a:p>
        </p:txBody>
      </p:sp>
      <p:cxnSp>
        <p:nvCxnSpPr>
          <p:cNvPr id="5" name="直接连接符 4"/>
          <p:cNvCxnSpPr/>
          <p:nvPr/>
        </p:nvCxnSpPr>
        <p:spPr>
          <a:xfrm>
            <a:off x="2619375" y="3662045"/>
            <a:ext cx="6953250" cy="0"/>
          </a:xfrm>
          <a:prstGeom prst="line">
            <a:avLst/>
          </a:prstGeom>
          <a:ln w="12700" cmpd="sng">
            <a:solidFill>
              <a:schemeClr val="bg1"/>
            </a:solidFill>
            <a:prstDash val="solid"/>
          </a:ln>
        </p:spPr>
        <p:style>
          <a:lnRef idx="1">
            <a:schemeClr val="dk1"/>
          </a:lnRef>
          <a:fillRef idx="0">
            <a:schemeClr val="dk1"/>
          </a:fillRef>
          <a:effectRef idx="0">
            <a:schemeClr val="dk1"/>
          </a:effectRef>
          <a:fontRef idx="minor">
            <a:schemeClr val="tx1"/>
          </a:fontRef>
        </p:style>
      </p:cxnSp>
      <p:sp>
        <p:nvSpPr>
          <p:cNvPr id="6" name="文本框 5"/>
          <p:cNvSpPr txBox="1"/>
          <p:nvPr/>
        </p:nvSpPr>
        <p:spPr>
          <a:xfrm>
            <a:off x="6398895" y="3872865"/>
            <a:ext cx="3682365" cy="368300"/>
          </a:xfrm>
          <a:prstGeom prst="rect">
            <a:avLst/>
          </a:prstGeom>
          <a:noFill/>
        </p:spPr>
        <p:txBody>
          <a:bodyPr wrap="square" rtlCol="0">
            <a:spAutoFit/>
          </a:bodyPr>
          <a:p>
            <a:pPr algn="ctr"/>
            <a:r>
              <a:rPr lang="en-US" altLang="zh-CN">
                <a:solidFill>
                  <a:schemeClr val="bg1"/>
                </a:solidFill>
                <a:latin typeface="微软雅黑" panose="020B0503020204020204" charset="-122"/>
                <a:ea typeface="微软雅黑" panose="020B0503020204020204" charset="-122"/>
              </a:rPr>
              <a:t>2018</a:t>
            </a:r>
            <a:r>
              <a:rPr lang="zh-CN" altLang="en-US">
                <a:solidFill>
                  <a:schemeClr val="bg1"/>
                </a:solidFill>
                <a:latin typeface="微软雅黑" panose="020B0503020204020204" charset="-122"/>
                <a:ea typeface="微软雅黑" panose="020B0503020204020204" charset="-122"/>
              </a:rPr>
              <a:t>年</a:t>
            </a:r>
            <a:r>
              <a:rPr lang="en-US" altLang="zh-CN">
                <a:solidFill>
                  <a:schemeClr val="bg1"/>
                </a:solidFill>
                <a:latin typeface="微软雅黑" panose="020B0503020204020204" charset="-122"/>
                <a:ea typeface="微软雅黑" panose="020B0503020204020204" charset="-122"/>
              </a:rPr>
              <a:t>1</a:t>
            </a:r>
            <a:r>
              <a:rPr lang="zh-CN" altLang="en-US">
                <a:solidFill>
                  <a:schemeClr val="bg1"/>
                </a:solidFill>
                <a:latin typeface="微软雅黑" panose="020B0503020204020204" charset="-122"/>
                <a:ea typeface="微软雅黑" panose="020B0503020204020204" charset="-122"/>
              </a:rPr>
              <a:t>月</a:t>
            </a:r>
            <a:r>
              <a:rPr lang="en-US" altLang="zh-CN">
                <a:solidFill>
                  <a:schemeClr val="bg1"/>
                </a:solidFill>
                <a:latin typeface="微软雅黑" panose="020B0503020204020204" charset="-122"/>
                <a:ea typeface="微软雅黑" panose="020B0503020204020204" charset="-122"/>
              </a:rPr>
              <a:t>23</a:t>
            </a:r>
            <a:r>
              <a:rPr lang="zh-CN" altLang="en-US">
                <a:solidFill>
                  <a:schemeClr val="bg1"/>
                </a:solidFill>
                <a:latin typeface="微软雅黑" panose="020B0503020204020204" charset="-122"/>
                <a:ea typeface="微软雅黑" panose="020B0503020204020204" charset="-122"/>
              </a:rPr>
              <a:t>日</a:t>
            </a:r>
            <a:endParaRPr lang="zh-CN" altLang="en-US">
              <a:solidFill>
                <a:schemeClr val="bg1"/>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2211</Words>
  <Application>WPS 演示</Application>
  <PresentationFormat>宽屏</PresentationFormat>
  <Paragraphs>185</Paragraphs>
  <Slides>23</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23</vt:i4>
      </vt:variant>
    </vt:vector>
  </HeadingPairs>
  <TitlesOfParts>
    <vt:vector size="31" baseType="lpstr">
      <vt:lpstr>Arial</vt:lpstr>
      <vt:lpstr>宋体</vt:lpstr>
      <vt:lpstr>Wingdings</vt:lpstr>
      <vt:lpstr>微软雅黑</vt:lpstr>
      <vt:lpstr>Arial Unicode MS</vt:lpstr>
      <vt:lpstr>Calibri Light</vt:lpstr>
      <vt:lpstr>Calibri</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Lujj</dc:creator>
  <cp:lastModifiedBy>Lujj</cp:lastModifiedBy>
  <cp:revision>3</cp:revision>
  <dcterms:created xsi:type="dcterms:W3CDTF">2018-01-20T13:27:00Z</dcterms:created>
  <dcterms:modified xsi:type="dcterms:W3CDTF">2018-01-21T14:12:06Z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2052-10.1.0.7106</vt:lpwstr>
  </property>
</Properties>
</file>