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3"/>
    <p:sldId id="284" r:id="rId4"/>
    <p:sldId id="271" r:id="rId5"/>
    <p:sldId id="286" r:id="rId6"/>
    <p:sldId id="316" r:id="rId7"/>
    <p:sldId id="287" r:id="rId8"/>
    <p:sldId id="288" r:id="rId9"/>
    <p:sldId id="290" r:id="rId10"/>
    <p:sldId id="291" r:id="rId11"/>
    <p:sldId id="292" r:id="rId12"/>
    <p:sldId id="293" r:id="rId13"/>
    <p:sldId id="295" r:id="rId14"/>
    <p:sldId id="296" r:id="rId15"/>
    <p:sldId id="299" r:id="rId16"/>
    <p:sldId id="300" r:id="rId17"/>
    <p:sldId id="358" r:id="rId18"/>
    <p:sldId id="301" r:id="rId19"/>
    <p:sldId id="302" r:id="rId20"/>
    <p:sldId id="303" r:id="rId21"/>
    <p:sldId id="304" r:id="rId22"/>
    <p:sldId id="306" r:id="rId23"/>
    <p:sldId id="305" r:id="rId24"/>
    <p:sldId id="355" r:id="rId25"/>
    <p:sldId id="307" r:id="rId26"/>
    <p:sldId id="308" r:id="rId27"/>
    <p:sldId id="311" r:id="rId28"/>
    <p:sldId id="309" r:id="rId29"/>
    <p:sldId id="312" r:id="rId30"/>
    <p:sldId id="344" r:id="rId31"/>
    <p:sldId id="354" r:id="rId32"/>
    <p:sldId id="314" r:id="rId33"/>
    <p:sldId id="315"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181" autoAdjust="0"/>
  </p:normalViewPr>
  <p:slideViewPr>
    <p:cSldViewPr snapToGrid="0">
      <p:cViewPr varScale="1">
        <p:scale>
          <a:sx n="61" d="100"/>
          <a:sy n="61" d="100"/>
        </p:scale>
        <p:origin x="86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notesMaster" Target="notesMasters/notesMaster1.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9BF283-84FA-4F70-BA84-963C2F24B7F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55D4E9-6305-489C-9ECD-F6D463EE8DC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3"/>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7" name="Date Placeholder 2"/>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5" name="Footer Placeholder 3"/>
          <p:cNvSpPr>
            <a:spLocks noGrp="1"/>
          </p:cNvSpPr>
          <p:nvPr>
            <p:ph type="ftr" sz="quarter" idx="11"/>
          </p:nvPr>
        </p:nvSpPr>
        <p:spPr/>
        <p:txBody>
          <a:bodyPr/>
          <a:lstStyle/>
          <a:p>
            <a:endParaRPr lang="zh-CN" altLang="en-US"/>
          </a:p>
        </p:txBody>
      </p:sp>
      <p:sp>
        <p:nvSpPr>
          <p:cNvPr id="6" name="Slide Number Placeholder 4"/>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5" name="Footer Placeholder 2"/>
          <p:cNvSpPr>
            <a:spLocks noGrp="1"/>
          </p:cNvSpPr>
          <p:nvPr>
            <p:ph type="ftr" sz="quarter" idx="11"/>
          </p:nvPr>
        </p:nvSpPr>
        <p:spPr/>
        <p:txBody>
          <a:bodyPr/>
          <a:lstStyle/>
          <a:p>
            <a:endParaRPr lang="zh-CN" altLang="en-US"/>
          </a:p>
        </p:txBody>
      </p:sp>
      <p:sp>
        <p:nvSpPr>
          <p:cNvPr id="6" name="Slide Number Placeholder 3"/>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7" name="Date Placeholder 4"/>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5" name="Footer Placeholder 5"/>
          <p:cNvSpPr>
            <a:spLocks noGrp="1"/>
          </p:cNvSpPr>
          <p:nvPr>
            <p:ph type="ftr" sz="quarter" idx="11"/>
          </p:nvPr>
        </p:nvSpPr>
        <p:spPr/>
        <p:txBody>
          <a:bodyPr/>
          <a:lstStyle/>
          <a:p>
            <a:endParaRPr lang="zh-CN" altLang="en-US"/>
          </a:p>
        </p:txBody>
      </p:sp>
      <p:sp>
        <p:nvSpPr>
          <p:cNvPr id="6" name="Slide Number Placeholder 6"/>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zh-CN" altLang="en-US" smtClean="0"/>
              <a:t>单击此处编辑母版标题样式</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zh-CN" altLang="en-US" smtClean="0"/>
              <a:t>单击此处编辑母版标题样式</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smtClean="0"/>
              <a:t>单击此处编辑母版文本样式</a:t>
            </a:r>
            <a:endParaRPr lang="zh-CN" altLang="en-US" smtClean="0"/>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2CB5E5-FA33-45A5-9FEC-B637795B9F42}" type="slidenum">
              <a:rPr lang="zh-CN" altLang="en-US" smtClean="0"/>
            </a:fld>
            <a:endParaRPr lang="zh-CN"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71A8E73-E562-4B1D-80C4-D77DD97B9F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2CB5E5-FA33-45A5-9FEC-B637795B9F4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image" Target="../media/image4.png"/><Relationship Id="rId20" Type="http://schemas.openxmlformats.org/officeDocument/2006/relationships/image" Target="../media/image3.png"/><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8">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19">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0">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1">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71A8E73-E562-4B1D-80C4-D77DD97B9FBA}" type="datetimeFigureOut">
              <a:rPr lang="zh-CN" altLang="en-US" smtClean="0"/>
            </a:fld>
            <a:endParaRPr lang="zh-CN" alt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zh-CN" alt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F2CB5E5-FA33-45A5-9FEC-B637795B9F42}" type="slidenum">
              <a:rPr lang="zh-CN" altLang="en-US" smtClean="0"/>
            </a:fld>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dirty="0" smtClean="0"/>
              <a:t>DAY1		</a:t>
            </a:r>
            <a:r>
              <a:rPr lang="zh-CN" altLang="en-US" dirty="0" smtClean="0"/>
              <a:t>常识、思想</a:t>
            </a:r>
            <a:endParaRPr lang="zh-CN" altLang="en-US" dirty="0" smtClean="0"/>
          </a:p>
        </p:txBody>
      </p:sp>
      <p:sp>
        <p:nvSpPr>
          <p:cNvPr id="3" name="副标题 2"/>
          <p:cNvSpPr>
            <a:spLocks noGrp="1"/>
          </p:cNvSpPr>
          <p:nvPr>
            <p:ph type="subTitle" idx="1"/>
          </p:nvPr>
        </p:nvSpPr>
        <p:spPr/>
        <p:txBody>
          <a:bodyPr/>
          <a:lstStyle/>
          <a:p>
            <a:r>
              <a:rPr lang="en-US" altLang="zh-CN" dirty="0" smtClean="0"/>
              <a:t>by </a:t>
            </a:r>
            <a:r>
              <a:rPr lang="zh-CN" altLang="en-US" dirty="0" smtClean="0"/>
              <a:t>苟</a:t>
            </a:r>
            <a:r>
              <a:rPr lang="en-US" altLang="zh-CN" dirty="0" smtClean="0"/>
              <a:t>·</a:t>
            </a:r>
            <a:r>
              <a:rPr lang="zh-CN" altLang="en-US" dirty="0" smtClean="0"/>
              <a:t>德川家康</a:t>
            </a:r>
            <a:r>
              <a:rPr lang="en-US" altLang="zh-CN" dirty="0" smtClean="0"/>
              <a:t>·</a:t>
            </a:r>
            <a:r>
              <a:rPr lang="zh-CN" altLang="en-US" dirty="0" smtClean="0"/>
              <a:t>薛定谔</a:t>
            </a:r>
            <a:endParaRPr lang="zh-CN" altLang="en-US" dirty="0" smtClean="0"/>
          </a:p>
        </p:txBody>
      </p:sp>
      <p:pic>
        <p:nvPicPr>
          <p:cNvPr id="5" name="图片 4" descr="图片1"/>
          <p:cNvPicPr>
            <a:picLocks noChangeAspect="1"/>
          </p:cNvPicPr>
          <p:nvPr/>
        </p:nvPicPr>
        <p:blipFill>
          <a:blip r:embed="rId1"/>
          <a:stretch>
            <a:fillRect/>
          </a:stretch>
        </p:blipFill>
        <p:spPr>
          <a:xfrm>
            <a:off x="3949065" y="4641850"/>
            <a:ext cx="777240" cy="77724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竞赛基本知识</a:t>
            </a:r>
            <a:endParaRPr lang="zh-CN" altLang="en-US"/>
          </a:p>
        </p:txBody>
      </p:sp>
      <p:sp>
        <p:nvSpPr>
          <p:cNvPr id="3" name="文本占位符 2"/>
          <p:cNvSpPr>
            <a:spLocks noGrp="1"/>
          </p:cNvSpPr>
          <p:nvPr>
            <p:ph type="body" idx="1"/>
          </p:nvPr>
        </p:nvSpPr>
        <p:spPr/>
        <p:txBody>
          <a:bodyPr/>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赛制</a:t>
            </a:r>
            <a:endParaRPr lang="zh-CN" altLang="en-US" dirty="0" smtClean="0"/>
          </a:p>
        </p:txBody>
      </p:sp>
      <p:sp>
        <p:nvSpPr>
          <p:cNvPr id="3" name="内容占位符 2"/>
          <p:cNvSpPr>
            <a:spLocks noGrp="1"/>
          </p:cNvSpPr>
          <p:nvPr>
            <p:ph idx="1"/>
          </p:nvPr>
        </p:nvSpPr>
        <p:spPr/>
        <p:txBody>
          <a:bodyPr/>
          <a:lstStyle/>
          <a:p>
            <a:r>
              <a:rPr lang="en-US" altLang="zh-CN" dirty="0" smtClean="0"/>
              <a:t>ACM</a:t>
            </a:r>
            <a:r>
              <a:rPr lang="zh-CN" altLang="en-US" dirty="0" smtClean="0"/>
              <a:t>其实并不是个比赛</a:t>
            </a:r>
            <a:r>
              <a:rPr lang="en-US" altLang="zh-CN" dirty="0" smtClean="0"/>
              <a:t>……</a:t>
            </a:r>
            <a:endParaRPr lang="en-US" altLang="zh-CN" dirty="0" smtClean="0"/>
          </a:p>
          <a:p>
            <a:r>
              <a:rPr lang="en-US" altLang="zh-CN" dirty="0" smtClean="0"/>
              <a:t>Association for Computing Machinery 国际计算机学会</a:t>
            </a:r>
            <a:endParaRPr lang="en-US" altLang="zh-CN" dirty="0" smtClean="0"/>
          </a:p>
          <a:p>
            <a:r>
              <a:rPr lang="zh-CN" altLang="en-US" dirty="0" smtClean="0"/>
              <a:t>它举办的赛事</a:t>
            </a:r>
            <a:r>
              <a:rPr lang="en-US" altLang="zh-CN" dirty="0" smtClean="0"/>
              <a:t>ACM-ICPC 可以上溯到1970年</a:t>
            </a:r>
            <a:endParaRPr lang="en-US" altLang="zh-CN" dirty="0" smtClean="0"/>
          </a:p>
          <a:p>
            <a:r>
              <a:rPr lang="zh-CN" altLang="en-US" dirty="0" smtClean="0"/>
              <a:t>而它的规则后来沿用到一系列相似的比赛 也就是</a:t>
            </a:r>
            <a:r>
              <a:rPr lang="en-US" altLang="zh-CN" dirty="0" smtClean="0"/>
              <a:t>ACM</a:t>
            </a:r>
            <a:r>
              <a:rPr lang="zh-CN" altLang="en-US" dirty="0" smtClean="0"/>
              <a:t>赛制</a:t>
            </a:r>
            <a:endParaRPr lang="zh-CN" altLang="en-US" dirty="0" smtClean="0"/>
          </a:p>
          <a:p>
            <a:endParaRPr lang="zh-CN" altLang="en-US" dirty="0" smtClean="0"/>
          </a:p>
          <a:p>
            <a:r>
              <a:rPr lang="zh-CN" altLang="en-US" dirty="0" smtClean="0"/>
              <a:t>区别于</a:t>
            </a:r>
            <a:r>
              <a:rPr lang="en-US" altLang="zh-CN" dirty="0" smtClean="0"/>
              <a:t>OI</a:t>
            </a:r>
            <a:r>
              <a:rPr lang="zh-CN" altLang="en-US" dirty="0" smtClean="0"/>
              <a:t>和</a:t>
            </a:r>
            <a:r>
              <a:rPr lang="en-US" altLang="zh-CN" dirty="0" smtClean="0"/>
              <a:t>CF</a:t>
            </a:r>
            <a:r>
              <a:rPr lang="zh-CN" altLang="en-US" dirty="0" smtClean="0"/>
              <a:t>赛制</a:t>
            </a:r>
            <a:endParaRPr lang="zh-CN" altLang="en-US"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赛制</a:t>
            </a:r>
            <a:endParaRPr lang="zh-CN" altLang="en-US" dirty="0" smtClean="0"/>
          </a:p>
        </p:txBody>
      </p:sp>
      <p:sp>
        <p:nvSpPr>
          <p:cNvPr id="7" name="内容占位符 6"/>
          <p:cNvSpPr/>
          <p:nvPr>
            <p:ph idx="1"/>
          </p:nvPr>
        </p:nvSpPr>
        <p:spPr/>
        <p:txBody>
          <a:bodyPr/>
          <a:p>
            <a:r>
              <a:rPr lang="zh-CN" altLang="en-US"/>
              <a:t>一般是十题左右的题目</a:t>
            </a:r>
            <a:endParaRPr lang="zh-CN" altLang="en-US"/>
          </a:p>
          <a:p>
            <a:r>
              <a:rPr lang="zh-CN" altLang="en-US"/>
              <a:t>以</a:t>
            </a:r>
            <a:r>
              <a:rPr lang="en-US" altLang="zh-CN"/>
              <a:t>ICPC2017</a:t>
            </a:r>
            <a:r>
              <a:rPr lang="zh-CN" altLang="en-US"/>
              <a:t>南宁站为例</a:t>
            </a:r>
            <a:endParaRPr lang="zh-CN" altLang="en-US"/>
          </a:p>
          <a:p>
            <a:r>
              <a:rPr lang="zh-CN" altLang="en-US"/>
              <a:t>规则如右图</a:t>
            </a:r>
            <a:endParaRPr lang="zh-CN" altLang="en-US"/>
          </a:p>
        </p:txBody>
      </p:sp>
      <p:pic>
        <p:nvPicPr>
          <p:cNvPr id="8" name="图片 7" descr="QQ图片20180117155747"/>
          <p:cNvPicPr>
            <a:picLocks noChangeAspect="1"/>
          </p:cNvPicPr>
          <p:nvPr/>
        </p:nvPicPr>
        <p:blipFill>
          <a:blip r:embed="rId1"/>
          <a:stretch>
            <a:fillRect/>
          </a:stretch>
        </p:blipFill>
        <p:spPr>
          <a:xfrm>
            <a:off x="4556760" y="123190"/>
            <a:ext cx="5778500" cy="66109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赛制</a:t>
            </a:r>
            <a:endParaRPr lang="zh-CN" altLang="en-US" dirty="0" smtClean="0"/>
          </a:p>
        </p:txBody>
      </p:sp>
      <p:sp>
        <p:nvSpPr>
          <p:cNvPr id="4" name="内容占位符 3"/>
          <p:cNvSpPr/>
          <p:nvPr>
            <p:ph idx="1"/>
          </p:nvPr>
        </p:nvSpPr>
        <p:spPr/>
        <p:txBody>
          <a:bodyPr/>
          <a:p>
            <a:r>
              <a:rPr lang="zh-CN" altLang="en-US"/>
              <a:t>小一些的比赛会提供</a:t>
            </a:r>
            <a:r>
              <a:rPr lang="en-US" altLang="zh-CN"/>
              <a:t>Windows</a:t>
            </a:r>
            <a:endParaRPr lang="en-US" altLang="zh-CN"/>
          </a:p>
          <a:p>
            <a:r>
              <a:rPr lang="en-US" altLang="zh-CN"/>
              <a:t>Dev c++</a:t>
            </a:r>
            <a:r>
              <a:rPr lang="zh-CN" altLang="en-US"/>
              <a:t>之类的</a:t>
            </a:r>
            <a:endParaRPr lang="zh-CN" altLang="en-US"/>
          </a:p>
        </p:txBody>
      </p:sp>
      <p:pic>
        <p:nvPicPr>
          <p:cNvPr id="5" name="图片 4" descr="20180117_160140_Richtone(HDR)"/>
          <p:cNvPicPr>
            <a:picLocks noChangeAspect="1"/>
          </p:cNvPicPr>
          <p:nvPr/>
        </p:nvPicPr>
        <p:blipFill>
          <a:blip r:embed="rId1"/>
          <a:stretch>
            <a:fillRect/>
          </a:stretch>
        </p:blipFill>
        <p:spPr>
          <a:xfrm>
            <a:off x="5482590" y="98425"/>
            <a:ext cx="4705985" cy="67157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提交状态</a:t>
            </a:r>
            <a:endParaRPr lang="zh-CN" altLang="en-US" dirty="0" smtClean="0"/>
          </a:p>
        </p:txBody>
      </p:sp>
      <p:sp>
        <p:nvSpPr>
          <p:cNvPr id="3" name="内容占位符 2"/>
          <p:cNvSpPr>
            <a:spLocks noGrp="1"/>
          </p:cNvSpPr>
          <p:nvPr>
            <p:ph idx="1"/>
          </p:nvPr>
        </p:nvSpPr>
        <p:spPr/>
        <p:txBody>
          <a:bodyPr>
            <a:normAutofit lnSpcReduction="20000"/>
          </a:bodyPr>
          <a:lstStyle/>
          <a:p>
            <a:r>
              <a:rPr lang="zh-CN" altLang="en-US" dirty="0" smtClean="0"/>
              <a:t>Accepted. ——通过！(AC)</a:t>
            </a:r>
            <a:endParaRPr lang="zh-CN" altLang="en-US" dirty="0" smtClean="0"/>
          </a:p>
          <a:p>
            <a:r>
              <a:rPr lang="zh-CN" altLang="en-US" dirty="0" smtClean="0"/>
              <a:t>Wrong Answer.——答案错。(WA)</a:t>
            </a:r>
            <a:endParaRPr lang="zh-CN" altLang="en-US" dirty="0" smtClean="0"/>
          </a:p>
          <a:p>
            <a:r>
              <a:rPr lang="zh-CN" altLang="en-US" dirty="0" smtClean="0"/>
              <a:t>RunTime Error.——程序运行出错，意外终止等。(RTE)</a:t>
            </a:r>
            <a:endParaRPr lang="zh-CN" altLang="en-US" dirty="0" smtClean="0"/>
          </a:p>
          <a:p>
            <a:r>
              <a:rPr lang="zh-CN" altLang="en-US" dirty="0" smtClean="0"/>
              <a:t>Time Limit Exceeded. ——超时。程序没在规定时间内出答案。(TLE)</a:t>
            </a:r>
            <a:endParaRPr lang="zh-CN" altLang="en-US" dirty="0" smtClean="0"/>
          </a:p>
          <a:p>
            <a:r>
              <a:rPr lang="zh-CN" altLang="en-US" dirty="0" smtClean="0"/>
              <a:t>Presentation Error. ——格式错。程序没按规定的格式输出答案。(PE)</a:t>
            </a:r>
            <a:endParaRPr lang="zh-CN" altLang="en-US" dirty="0" smtClean="0"/>
          </a:p>
          <a:p>
            <a:pPr marL="0" indent="0" algn="r">
              <a:buNone/>
            </a:pPr>
            <a:r>
              <a:rPr lang="en-US" altLang="zh-CN" dirty="0" smtClean="0"/>
              <a:t>	</a:t>
            </a:r>
            <a:r>
              <a:rPr lang="zh-CN" altLang="en-US" dirty="0" smtClean="0"/>
              <a:t>部分</a:t>
            </a:r>
            <a:r>
              <a:rPr lang="en-US" altLang="zh-CN" dirty="0" smtClean="0"/>
              <a:t>WA</a:t>
            </a:r>
            <a:r>
              <a:rPr lang="zh-CN" altLang="en-US" dirty="0" smtClean="0"/>
              <a:t>也会显示为</a:t>
            </a:r>
            <a:r>
              <a:rPr lang="en-US" altLang="zh-CN" dirty="0" smtClean="0"/>
              <a:t>PE</a:t>
            </a:r>
            <a:endParaRPr lang="en-US" altLang="zh-CN" dirty="0" smtClean="0"/>
          </a:p>
          <a:p>
            <a:r>
              <a:rPr lang="zh-CN" altLang="en-US" dirty="0" smtClean="0"/>
              <a:t>Memory Limit Exceeded. ——超内存。程序没在规定空间内出答案。(MLE)</a:t>
            </a:r>
            <a:endParaRPr lang="zh-CN" altLang="en-US" dirty="0" smtClean="0"/>
          </a:p>
          <a:p>
            <a:r>
              <a:rPr lang="zh-CN" altLang="en-US" dirty="0" smtClean="0"/>
              <a:t>Compile Error. ——编译错。程序编译不过。(CE)</a:t>
            </a:r>
            <a:endParaRPr lang="zh-CN" altLang="en-US"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时间复杂度</a:t>
            </a:r>
            <a:endParaRPr lang="zh-CN" altLang="en-US" dirty="0" smtClean="0"/>
          </a:p>
        </p:txBody>
      </p:sp>
      <p:sp>
        <p:nvSpPr>
          <p:cNvPr id="3" name="内容占位符 2"/>
          <p:cNvSpPr>
            <a:spLocks noGrp="1"/>
          </p:cNvSpPr>
          <p:nvPr>
            <p:ph idx="1"/>
          </p:nvPr>
        </p:nvSpPr>
        <p:spPr/>
        <p:txBody>
          <a:bodyPr>
            <a:normAutofit/>
          </a:bodyPr>
          <a:lstStyle/>
          <a:p>
            <a:r>
              <a:rPr lang="zh-CN" altLang="en-US" dirty="0" smtClean="0"/>
              <a:t>在计算机科学中，算法的时间复杂度是一个函数，它定性描述了该算法的运行时间。</a:t>
            </a:r>
            <a:endParaRPr lang="zh-CN" altLang="en-US" dirty="0" smtClean="0"/>
          </a:p>
          <a:p>
            <a:r>
              <a:rPr lang="zh-CN" altLang="en-US" dirty="0" smtClean="0"/>
              <a:t>在</a:t>
            </a:r>
            <a:r>
              <a:rPr lang="en-US" altLang="zh-CN" dirty="0" smtClean="0"/>
              <a:t>ACM</a:t>
            </a:r>
            <a:r>
              <a:rPr lang="zh-CN" altLang="en-US" dirty="0" smtClean="0"/>
              <a:t>中我们用大</a:t>
            </a:r>
            <a:r>
              <a:rPr lang="en-US" altLang="zh-CN" dirty="0" smtClean="0"/>
              <a:t>O</a:t>
            </a:r>
            <a:r>
              <a:rPr lang="zh-CN" altLang="en-US" dirty="0" smtClean="0"/>
              <a:t>来描述算法当输入为</a:t>
            </a:r>
            <a:r>
              <a:rPr lang="en-US" altLang="zh-CN" dirty="0" smtClean="0"/>
              <a:t>n</a:t>
            </a:r>
            <a:r>
              <a:rPr lang="zh-CN" altLang="en-US" dirty="0" smtClean="0"/>
              <a:t>时的复杂性上限，其大致的运算次数（描述算法的最差情况）。我们用时间复杂度来判断一个算法在题目要求下是否可行。</a:t>
            </a:r>
            <a:endParaRPr lang="zh-CN" altLang="en-US" dirty="0" smtClean="0"/>
          </a:p>
          <a:p>
            <a:r>
              <a:rPr lang="zh-CN" altLang="en-US" dirty="0" smtClean="0"/>
              <a:t>假如我们把</a:t>
            </a:r>
            <a:r>
              <a:rPr lang="en-US" altLang="zh-CN" dirty="0" smtClean="0"/>
              <a:t>T(n)</a:t>
            </a:r>
            <a:r>
              <a:rPr lang="zh-CN" altLang="en-US" dirty="0" smtClean="0"/>
              <a:t>表示算法的实际运行时间，</a:t>
            </a:r>
            <a:r>
              <a:rPr lang="en-US" altLang="zh-CN" dirty="0" smtClean="0"/>
              <a:t>f(n)</a:t>
            </a:r>
            <a:r>
              <a:rPr lang="zh-CN" altLang="en-US" dirty="0" smtClean="0"/>
              <a:t>则是上限的一个函数表达式</a:t>
            </a:r>
            <a:endParaRPr lang="zh-CN" altLang="en-US" dirty="0" smtClean="0"/>
          </a:p>
          <a:p>
            <a:r>
              <a:rPr lang="en-US" altLang="zh-CN" dirty="0" smtClean="0"/>
              <a:t>Definition </a:t>
            </a:r>
            <a:endParaRPr lang="en-US" altLang="zh-CN" dirty="0" smtClean="0"/>
          </a:p>
          <a:p>
            <a:pPr lvl="1"/>
            <a:r>
              <a:rPr lang="zh-CN" altLang="en-US" sz="1620" dirty="0" smtClean="0"/>
              <a:t>对于非负函数</a:t>
            </a:r>
            <a:r>
              <a:rPr lang="en-US" altLang="zh-CN" sz="1620" dirty="0" smtClean="0"/>
              <a:t>T(n)</a:t>
            </a:r>
            <a:r>
              <a:rPr lang="zh-CN" altLang="en-US" sz="1620" dirty="0" smtClean="0"/>
              <a:t>，如果存在两个正常数</a:t>
            </a:r>
            <a:r>
              <a:rPr lang="en-US" altLang="zh-CN" sz="1620" dirty="0" smtClean="0"/>
              <a:t>c</a:t>
            </a:r>
            <a:r>
              <a:rPr lang="zh-CN" altLang="en-US" sz="1620" dirty="0" smtClean="0"/>
              <a:t>和</a:t>
            </a:r>
            <a:r>
              <a:rPr lang="en-US" altLang="zh-CN" sz="1620" dirty="0" smtClean="0"/>
              <a:t>n</a:t>
            </a:r>
            <a:r>
              <a:rPr lang="en-US" altLang="zh-CN" sz="1620" baseline="-25000" dirty="0" smtClean="0"/>
              <a:t>0</a:t>
            </a:r>
            <a:r>
              <a:rPr lang="zh-CN" altLang="en-US" sz="1620" dirty="0" smtClean="0"/>
              <a:t>，对于任意</a:t>
            </a:r>
            <a:r>
              <a:rPr lang="en-US" altLang="zh-CN" sz="1620" dirty="0" smtClean="0"/>
              <a:t>n&gt;n</a:t>
            </a:r>
            <a:r>
              <a:rPr lang="en-US" altLang="zh-CN" sz="1620" baseline="-25000" dirty="0" smtClean="0"/>
              <a:t>0</a:t>
            </a:r>
            <a:r>
              <a:rPr lang="zh-CN" altLang="en-US" sz="1620" dirty="0" smtClean="0"/>
              <a:t>，有</a:t>
            </a:r>
            <a:r>
              <a:rPr lang="en-US" altLang="zh-CN" sz="1620" dirty="0" smtClean="0"/>
              <a:t>T(n)≤cf(n)</a:t>
            </a:r>
            <a:r>
              <a:rPr lang="zh-CN" altLang="en-US" sz="1620" dirty="0" smtClean="0"/>
              <a:t>，则称</a:t>
            </a:r>
            <a:r>
              <a:rPr lang="en-US" altLang="zh-CN" sz="1620" dirty="0" smtClean="0"/>
              <a:t>T(n)</a:t>
            </a:r>
            <a:r>
              <a:rPr lang="zh-CN" altLang="en-US" sz="1620" dirty="0" smtClean="0"/>
              <a:t>在集合</a:t>
            </a:r>
            <a:r>
              <a:rPr lang="en-US" altLang="zh-CN" sz="1620" dirty="0" smtClean="0"/>
              <a:t>O(f(n))</a:t>
            </a:r>
            <a:r>
              <a:rPr lang="zh-CN" altLang="en-US" sz="1620" dirty="0" smtClean="0"/>
              <a:t>中。</a:t>
            </a:r>
            <a:endParaRPr lang="en-US" altLang="zh-CN"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时间复杂度</a:t>
            </a:r>
            <a:endParaRPr lang="zh-CN" altLang="en-US" dirty="0" smtClean="0"/>
          </a:p>
        </p:txBody>
      </p:sp>
      <p:sp>
        <p:nvSpPr>
          <p:cNvPr id="3" name="内容占位符 2"/>
          <p:cNvSpPr>
            <a:spLocks noGrp="1"/>
          </p:cNvSpPr>
          <p:nvPr>
            <p:ph idx="1"/>
          </p:nvPr>
        </p:nvSpPr>
        <p:spPr/>
        <p:txBody>
          <a:bodyPr>
            <a:normAutofit fontScale="70000"/>
          </a:bodyPr>
          <a:lstStyle/>
          <a:p>
            <a:r>
              <a:rPr lang="zh-CN" altLang="en-US" dirty="0" smtClean="0">
                <a:sym typeface="+mn-ea"/>
              </a:rPr>
              <a:t>下面通过几个例子来看一下</a:t>
            </a:r>
            <a:endParaRPr lang="zh-CN" altLang="en-US" dirty="0" smtClean="0"/>
          </a:p>
          <a:p>
            <a:pPr marL="0" indent="0">
              <a:buNone/>
            </a:pPr>
            <a:r>
              <a:rPr lang="en-US" altLang="zh-CN" dirty="0" smtClean="0">
                <a:sym typeface="+mn-ea"/>
              </a:rPr>
              <a:t>ex1.</a:t>
            </a:r>
            <a:endParaRPr lang="en-US" altLang="zh-CN" dirty="0" smtClean="0"/>
          </a:p>
          <a:p>
            <a:pPr marL="0" indent="0">
              <a:buNone/>
            </a:pPr>
            <a:r>
              <a:rPr lang="en-US" altLang="zh-CN" dirty="0" smtClean="0">
                <a:sym typeface="+mn-ea"/>
              </a:rPr>
              <a:t>a=b        =&gt;O(1)</a:t>
            </a:r>
            <a:endParaRPr lang="en-US" altLang="zh-CN" dirty="0" smtClean="0"/>
          </a:p>
          <a:p>
            <a:pPr marL="0" indent="0">
              <a:buNone/>
            </a:pPr>
            <a:endParaRPr lang="en-US" altLang="zh-CN" dirty="0" smtClean="0"/>
          </a:p>
          <a:p>
            <a:pPr marL="0" indent="0">
              <a:buNone/>
            </a:pPr>
            <a:r>
              <a:rPr lang="en-US" altLang="zh-CN" dirty="0" smtClean="0">
                <a:sym typeface="+mn-ea"/>
              </a:rPr>
              <a:t>ex2.</a:t>
            </a:r>
            <a:endParaRPr lang="en-US" altLang="zh-CN" dirty="0" smtClean="0"/>
          </a:p>
          <a:p>
            <a:pPr marL="0" indent="0">
              <a:buNone/>
            </a:pPr>
            <a:r>
              <a:rPr lang="en-US" altLang="zh-CN" dirty="0" smtClean="0">
                <a:sym typeface="+mn-ea"/>
              </a:rPr>
              <a:t>sum=0;</a:t>
            </a:r>
            <a:endParaRPr lang="en-US" altLang="zh-CN" dirty="0" smtClean="0"/>
          </a:p>
          <a:p>
            <a:pPr marL="0" indent="0">
              <a:buNone/>
            </a:pPr>
            <a:r>
              <a:rPr lang="en-US" altLang="zh-CN" dirty="0" smtClean="0">
                <a:sym typeface="+mn-ea"/>
              </a:rPr>
              <a:t>for(int i=1;i&lt;=n;i++)sum+=n;              =&gt;O(n)</a:t>
            </a:r>
            <a:endParaRPr lang="en-US" altLang="zh-CN" dirty="0" smtClean="0"/>
          </a:p>
          <a:p>
            <a:pPr marL="0" indent="0">
              <a:buNone/>
            </a:pPr>
            <a:endParaRPr lang="en-US" altLang="zh-CN" dirty="0" smtClean="0"/>
          </a:p>
          <a:p>
            <a:pPr marL="0" indent="0">
              <a:buNone/>
            </a:pPr>
            <a:r>
              <a:rPr lang="en-US" altLang="zh-CN" dirty="0" smtClean="0">
                <a:sym typeface="+mn-ea"/>
              </a:rPr>
              <a:t>ex3.</a:t>
            </a:r>
            <a:endParaRPr lang="en-US" altLang="zh-CN" dirty="0" smtClean="0"/>
          </a:p>
          <a:p>
            <a:pPr marL="0" indent="0">
              <a:buNone/>
            </a:pPr>
            <a:r>
              <a:rPr lang="en-US" altLang="zh-CN" dirty="0" smtClean="0">
                <a:sym typeface="+mn-ea"/>
              </a:rPr>
              <a:t>sum1=0;</a:t>
            </a:r>
            <a:endParaRPr lang="en-US" altLang="zh-CN" dirty="0" smtClean="0">
              <a:sym typeface="+mn-ea"/>
            </a:endParaRPr>
          </a:p>
          <a:p>
            <a:pPr marL="0" indent="0">
              <a:buNone/>
            </a:pPr>
            <a:r>
              <a:rPr lang="en-US" altLang="zh-CN" dirty="0" smtClean="0">
                <a:sym typeface="+mn-ea"/>
              </a:rPr>
              <a:t>for(int i=1;i&lt;=n;i++)</a:t>
            </a:r>
            <a:endParaRPr lang="en-US" altLang="zh-CN" dirty="0" smtClean="0">
              <a:sym typeface="+mn-ea"/>
            </a:endParaRPr>
          </a:p>
          <a:p>
            <a:pPr marL="0" indent="0">
              <a:buNone/>
            </a:pPr>
            <a:r>
              <a:rPr lang="en-US" altLang="zh-CN" dirty="0" smtClean="0">
                <a:sym typeface="+mn-ea"/>
              </a:rPr>
              <a:t>	for(j=1;j&lt;=n;j++)sum1++;			=&gt;O(n</a:t>
            </a:r>
            <a:r>
              <a:rPr lang="en-US" altLang="zh-CN" baseline="30000" dirty="0" smtClean="0">
                <a:sym typeface="+mn-ea"/>
              </a:rPr>
              <a:t>2</a:t>
            </a:r>
            <a:r>
              <a:rPr lang="en-US" altLang="zh-CN" dirty="0" smtClean="0">
                <a:sym typeface="+mn-ea"/>
              </a:rPr>
              <a:t>)</a:t>
            </a:r>
            <a:endParaRPr lang="en-US" altLang="zh-CN" dirty="0" smtClean="0">
              <a:sym typeface="+mn-ea"/>
            </a:endParaRPr>
          </a:p>
          <a:p>
            <a:endParaRPr lang="en-US" altLang="zh-CN"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时间复杂度</a:t>
            </a:r>
            <a:endParaRPr lang="zh-CN" altLang="en-US" dirty="0" smtClean="0"/>
          </a:p>
        </p:txBody>
      </p:sp>
      <p:sp>
        <p:nvSpPr>
          <p:cNvPr id="3" name="内容占位符 2"/>
          <p:cNvSpPr>
            <a:spLocks noGrp="1"/>
          </p:cNvSpPr>
          <p:nvPr>
            <p:ph idx="1"/>
          </p:nvPr>
        </p:nvSpPr>
        <p:spPr/>
        <p:txBody>
          <a:bodyPr>
            <a:normAutofit/>
          </a:bodyPr>
          <a:lstStyle/>
          <a:p>
            <a:r>
              <a:rPr lang="zh-CN" altLang="en-US" dirty="0" smtClean="0">
                <a:sym typeface="+mn-ea"/>
              </a:rPr>
              <a:t>时间复杂度化简法则</a:t>
            </a:r>
            <a:endParaRPr lang="zh-CN" altLang="en-US" dirty="0" smtClean="0">
              <a:sym typeface="+mn-ea"/>
            </a:endParaRPr>
          </a:p>
          <a:p>
            <a:pPr marL="0" indent="0">
              <a:buNone/>
            </a:pPr>
            <a:r>
              <a:rPr lang="en-US" altLang="zh-CN" dirty="0" smtClean="0">
                <a:sym typeface="+mn-ea"/>
              </a:rPr>
              <a:t>1</a:t>
            </a:r>
            <a:r>
              <a:rPr lang="zh-CN" altLang="en-US" dirty="0" smtClean="0">
                <a:sym typeface="+mn-ea"/>
              </a:rPr>
              <a:t>、若</a:t>
            </a:r>
            <a:r>
              <a:rPr lang="en-US" altLang="zh-CN" dirty="0" smtClean="0">
                <a:sym typeface="+mn-ea"/>
              </a:rPr>
              <a:t>f(n)</a:t>
            </a:r>
            <a:r>
              <a:rPr lang="zh-CN" altLang="en-US" dirty="0" smtClean="0">
                <a:sym typeface="+mn-ea"/>
              </a:rPr>
              <a:t>在</a:t>
            </a:r>
            <a:r>
              <a:rPr lang="en-US" altLang="zh-CN" dirty="0" smtClean="0">
                <a:sym typeface="+mn-ea"/>
              </a:rPr>
              <a:t>O(g(n))</a:t>
            </a:r>
            <a:r>
              <a:rPr lang="zh-CN" altLang="en-US" dirty="0" smtClean="0">
                <a:sym typeface="+mn-ea"/>
              </a:rPr>
              <a:t>中，且</a:t>
            </a:r>
            <a:r>
              <a:rPr lang="en-US" altLang="zh-CN" dirty="0" smtClean="0">
                <a:sym typeface="+mn-ea"/>
              </a:rPr>
              <a:t>g(n)</a:t>
            </a:r>
            <a:r>
              <a:rPr lang="zh-CN" altLang="en-US" dirty="0" smtClean="0">
                <a:sym typeface="+mn-ea"/>
              </a:rPr>
              <a:t>在</a:t>
            </a:r>
            <a:r>
              <a:rPr lang="en-US" altLang="zh-CN" dirty="0" smtClean="0">
                <a:sym typeface="+mn-ea"/>
              </a:rPr>
              <a:t>O(h(n))</a:t>
            </a:r>
            <a:r>
              <a:rPr lang="zh-CN" altLang="en-US" dirty="0" smtClean="0">
                <a:sym typeface="+mn-ea"/>
              </a:rPr>
              <a:t>中，则</a:t>
            </a:r>
            <a:r>
              <a:rPr lang="en-US" altLang="zh-CN" dirty="0" smtClean="0">
                <a:sym typeface="+mn-ea"/>
              </a:rPr>
              <a:t>f(n)</a:t>
            </a:r>
            <a:r>
              <a:rPr lang="zh-CN" altLang="en-US" dirty="0" smtClean="0">
                <a:sym typeface="+mn-ea"/>
              </a:rPr>
              <a:t>在</a:t>
            </a:r>
            <a:r>
              <a:rPr lang="en-US" altLang="zh-CN" dirty="0" smtClean="0">
                <a:sym typeface="+mn-ea"/>
              </a:rPr>
              <a:t>O(h(n))</a:t>
            </a:r>
            <a:r>
              <a:rPr lang="zh-CN" altLang="en-US" dirty="0" smtClean="0">
                <a:sym typeface="+mn-ea"/>
              </a:rPr>
              <a:t>中；</a:t>
            </a:r>
            <a:endParaRPr lang="zh-CN" altLang="en-US" dirty="0" smtClean="0">
              <a:sym typeface="+mn-ea"/>
            </a:endParaRPr>
          </a:p>
          <a:p>
            <a:pPr marL="0" indent="0">
              <a:buNone/>
            </a:pPr>
            <a:r>
              <a:rPr lang="en-US" altLang="zh-CN" dirty="0" smtClean="0">
                <a:sym typeface="+mn-ea"/>
              </a:rPr>
              <a:t>2</a:t>
            </a:r>
            <a:r>
              <a:rPr lang="zh-CN" altLang="en-US" dirty="0" smtClean="0">
                <a:sym typeface="+mn-ea"/>
              </a:rPr>
              <a:t>、若</a:t>
            </a:r>
            <a:r>
              <a:rPr lang="en-US" altLang="zh-CN" dirty="0" smtClean="0">
                <a:sym typeface="+mn-ea"/>
              </a:rPr>
              <a:t>f(n)</a:t>
            </a:r>
            <a:r>
              <a:rPr lang="zh-CN" altLang="en-US" dirty="0" smtClean="0">
                <a:sym typeface="+mn-ea"/>
              </a:rPr>
              <a:t>在</a:t>
            </a:r>
            <a:r>
              <a:rPr lang="en-US" altLang="zh-CN" dirty="0" smtClean="0">
                <a:sym typeface="+mn-ea"/>
              </a:rPr>
              <a:t>O(kg(n))</a:t>
            </a:r>
            <a:r>
              <a:rPr lang="zh-CN" altLang="en-US" dirty="0" smtClean="0">
                <a:sym typeface="+mn-ea"/>
              </a:rPr>
              <a:t>中，对于任意常数</a:t>
            </a:r>
            <a:r>
              <a:rPr lang="en-US" altLang="zh-CN" dirty="0" smtClean="0">
                <a:sym typeface="+mn-ea"/>
              </a:rPr>
              <a:t>k&gt;0</a:t>
            </a:r>
            <a:r>
              <a:rPr lang="zh-CN" altLang="en-US" dirty="0" smtClean="0">
                <a:sym typeface="+mn-ea"/>
              </a:rPr>
              <a:t>成立，则</a:t>
            </a:r>
            <a:r>
              <a:rPr lang="en-US" altLang="zh-CN" dirty="0" smtClean="0">
                <a:sym typeface="+mn-ea"/>
              </a:rPr>
              <a:t>f(n)</a:t>
            </a:r>
            <a:r>
              <a:rPr lang="zh-CN" altLang="en-US" dirty="0" smtClean="0">
                <a:sym typeface="+mn-ea"/>
              </a:rPr>
              <a:t>在</a:t>
            </a:r>
            <a:r>
              <a:rPr lang="en-US" altLang="zh-CN" dirty="0" smtClean="0">
                <a:sym typeface="+mn-ea"/>
              </a:rPr>
              <a:t>O(g(n))</a:t>
            </a:r>
            <a:r>
              <a:rPr lang="zh-CN" altLang="en-US" dirty="0" smtClean="0">
                <a:sym typeface="+mn-ea"/>
              </a:rPr>
              <a:t>中；</a:t>
            </a:r>
            <a:endParaRPr lang="zh-CN" altLang="en-US" dirty="0" smtClean="0">
              <a:sym typeface="+mn-ea"/>
            </a:endParaRPr>
          </a:p>
          <a:p>
            <a:pPr marL="0" indent="0">
              <a:buNone/>
            </a:pPr>
            <a:r>
              <a:rPr lang="en-US" altLang="zh-CN" dirty="0" smtClean="0">
                <a:sym typeface="+mn-ea"/>
              </a:rPr>
              <a:t>3</a:t>
            </a:r>
            <a:r>
              <a:rPr lang="zh-CN" altLang="en-US" dirty="0" smtClean="0">
                <a:sym typeface="+mn-ea"/>
              </a:rPr>
              <a:t>、若</a:t>
            </a:r>
            <a:r>
              <a:rPr lang="en-US" altLang="zh-CN" dirty="0" smtClean="0">
                <a:sym typeface="+mn-ea"/>
              </a:rPr>
              <a:t>f</a:t>
            </a:r>
            <a:r>
              <a:rPr lang="en-US" altLang="zh-CN" baseline="-25000" dirty="0" smtClean="0">
                <a:sym typeface="+mn-ea"/>
              </a:rPr>
              <a:t>1</a:t>
            </a:r>
            <a:r>
              <a:rPr lang="en-US" altLang="zh-CN" dirty="0" smtClean="0">
                <a:sym typeface="+mn-ea"/>
              </a:rPr>
              <a:t>(n)</a:t>
            </a:r>
            <a:r>
              <a:rPr lang="zh-CN" altLang="en-US" dirty="0" smtClean="0">
                <a:sym typeface="+mn-ea"/>
              </a:rPr>
              <a:t>在</a:t>
            </a:r>
            <a:r>
              <a:rPr lang="en-US" altLang="zh-CN" dirty="0" smtClean="0">
                <a:sym typeface="+mn-ea"/>
              </a:rPr>
              <a:t>O(g</a:t>
            </a:r>
            <a:r>
              <a:rPr lang="en-US" altLang="zh-CN" baseline="-25000" dirty="0" smtClean="0">
                <a:sym typeface="+mn-ea"/>
              </a:rPr>
              <a:t>1</a:t>
            </a:r>
            <a:r>
              <a:rPr lang="en-US" altLang="zh-CN" dirty="0" smtClean="0">
                <a:sym typeface="+mn-ea"/>
              </a:rPr>
              <a:t>(n))</a:t>
            </a:r>
            <a:r>
              <a:rPr lang="zh-CN" altLang="en-US" dirty="0" smtClean="0">
                <a:sym typeface="+mn-ea"/>
              </a:rPr>
              <a:t>中，且</a:t>
            </a:r>
            <a:r>
              <a:rPr lang="en-US" altLang="zh-CN" dirty="0" smtClean="0">
                <a:sym typeface="+mn-ea"/>
              </a:rPr>
              <a:t>f</a:t>
            </a:r>
            <a:r>
              <a:rPr lang="en-US" altLang="zh-CN" baseline="-25000" dirty="0" smtClean="0">
                <a:sym typeface="+mn-ea"/>
              </a:rPr>
              <a:t>2</a:t>
            </a:r>
            <a:r>
              <a:rPr lang="en-US" altLang="zh-CN" dirty="0" smtClean="0">
                <a:sym typeface="+mn-ea"/>
              </a:rPr>
              <a:t>(n)</a:t>
            </a:r>
            <a:r>
              <a:rPr lang="zh-CN" altLang="en-US" dirty="0" smtClean="0">
                <a:sym typeface="+mn-ea"/>
              </a:rPr>
              <a:t>在</a:t>
            </a:r>
            <a:r>
              <a:rPr lang="en-US" altLang="zh-CN" dirty="0" smtClean="0">
                <a:sym typeface="+mn-ea"/>
              </a:rPr>
              <a:t>O(g</a:t>
            </a:r>
            <a:r>
              <a:rPr lang="en-US" altLang="zh-CN" baseline="-25000" dirty="0" smtClean="0">
                <a:sym typeface="+mn-ea"/>
              </a:rPr>
              <a:t>2</a:t>
            </a:r>
            <a:r>
              <a:rPr lang="en-US" altLang="zh-CN" dirty="0" smtClean="0">
                <a:sym typeface="+mn-ea"/>
              </a:rPr>
              <a:t>(n))</a:t>
            </a:r>
            <a:r>
              <a:rPr lang="zh-CN" altLang="en-US" dirty="0" smtClean="0">
                <a:sym typeface="+mn-ea"/>
              </a:rPr>
              <a:t>中，则</a:t>
            </a:r>
            <a:r>
              <a:rPr lang="en-US" altLang="zh-CN" dirty="0" smtClean="0">
                <a:sym typeface="+mn-ea"/>
              </a:rPr>
              <a:t>f</a:t>
            </a:r>
            <a:r>
              <a:rPr lang="en-US" altLang="zh-CN" baseline="-25000" dirty="0" smtClean="0">
                <a:sym typeface="+mn-ea"/>
              </a:rPr>
              <a:t>1</a:t>
            </a:r>
            <a:r>
              <a:rPr lang="en-US" altLang="zh-CN" dirty="0" smtClean="0">
                <a:sym typeface="+mn-ea"/>
              </a:rPr>
              <a:t>(n)+f</a:t>
            </a:r>
            <a:r>
              <a:rPr lang="en-US" altLang="zh-CN" baseline="-25000" dirty="0" smtClean="0">
                <a:sym typeface="+mn-ea"/>
              </a:rPr>
              <a:t>2</a:t>
            </a:r>
            <a:r>
              <a:rPr lang="en-US" altLang="zh-CN" dirty="0" smtClean="0">
                <a:sym typeface="+mn-ea"/>
              </a:rPr>
              <a:t>(n)</a:t>
            </a:r>
            <a:r>
              <a:rPr lang="zh-CN" altLang="en-US" dirty="0" smtClean="0">
                <a:sym typeface="+mn-ea"/>
              </a:rPr>
              <a:t>在</a:t>
            </a:r>
            <a:r>
              <a:rPr lang="en-US" altLang="zh-CN" dirty="0" smtClean="0">
                <a:sym typeface="+mn-ea"/>
              </a:rPr>
              <a:t>O(max(g</a:t>
            </a:r>
            <a:r>
              <a:rPr lang="en-US" altLang="zh-CN" baseline="-25000" dirty="0" smtClean="0">
                <a:sym typeface="+mn-ea"/>
              </a:rPr>
              <a:t>1</a:t>
            </a:r>
            <a:r>
              <a:rPr lang="en-US" altLang="zh-CN" dirty="0" smtClean="0">
                <a:sym typeface="+mn-ea"/>
              </a:rPr>
              <a:t>(n),g</a:t>
            </a:r>
            <a:r>
              <a:rPr lang="en-US" altLang="zh-CN" baseline="-25000" dirty="0" smtClean="0">
                <a:sym typeface="+mn-ea"/>
              </a:rPr>
              <a:t>2</a:t>
            </a:r>
            <a:r>
              <a:rPr lang="en-US" altLang="zh-CN" dirty="0" smtClean="0">
                <a:sym typeface="+mn-ea"/>
              </a:rPr>
              <a:t>(n)))</a:t>
            </a:r>
            <a:r>
              <a:rPr lang="zh-CN" altLang="en-US" dirty="0" smtClean="0">
                <a:sym typeface="+mn-ea"/>
              </a:rPr>
              <a:t>中；</a:t>
            </a:r>
            <a:endParaRPr lang="zh-CN" altLang="en-US" dirty="0" smtClean="0">
              <a:sym typeface="+mn-ea"/>
            </a:endParaRPr>
          </a:p>
          <a:p>
            <a:pPr marL="0" indent="0">
              <a:buNone/>
            </a:pPr>
            <a:r>
              <a:rPr lang="en-US" altLang="zh-CN" dirty="0" smtClean="0">
                <a:sym typeface="+mn-ea"/>
              </a:rPr>
              <a:t>4</a:t>
            </a:r>
            <a:r>
              <a:rPr lang="zh-CN" altLang="en-US" dirty="0" smtClean="0">
                <a:sym typeface="+mn-ea"/>
              </a:rPr>
              <a:t>、若</a:t>
            </a:r>
            <a:r>
              <a:rPr lang="en-US" altLang="zh-CN" dirty="0" smtClean="0">
                <a:sym typeface="+mn-ea"/>
              </a:rPr>
              <a:t>f</a:t>
            </a:r>
            <a:r>
              <a:rPr lang="en-US" altLang="zh-CN" baseline="-25000" dirty="0" smtClean="0">
                <a:sym typeface="+mn-ea"/>
              </a:rPr>
              <a:t>1</a:t>
            </a:r>
            <a:r>
              <a:rPr lang="en-US" altLang="zh-CN" dirty="0" smtClean="0">
                <a:sym typeface="+mn-ea"/>
              </a:rPr>
              <a:t>(n)</a:t>
            </a:r>
            <a:r>
              <a:rPr lang="zh-CN" altLang="en-US" dirty="0" smtClean="0">
                <a:sym typeface="+mn-ea"/>
              </a:rPr>
              <a:t>在</a:t>
            </a:r>
            <a:r>
              <a:rPr lang="en-US" altLang="zh-CN" dirty="0" smtClean="0">
                <a:sym typeface="+mn-ea"/>
              </a:rPr>
              <a:t>O(g</a:t>
            </a:r>
            <a:r>
              <a:rPr lang="en-US" altLang="zh-CN" baseline="-25000" dirty="0" smtClean="0">
                <a:sym typeface="+mn-ea"/>
              </a:rPr>
              <a:t>1</a:t>
            </a:r>
            <a:r>
              <a:rPr lang="en-US" altLang="zh-CN" dirty="0" smtClean="0">
                <a:sym typeface="+mn-ea"/>
              </a:rPr>
              <a:t>(n))</a:t>
            </a:r>
            <a:r>
              <a:rPr lang="zh-CN" altLang="en-US" dirty="0" smtClean="0">
                <a:sym typeface="+mn-ea"/>
              </a:rPr>
              <a:t>中，且</a:t>
            </a:r>
            <a:r>
              <a:rPr lang="en-US" altLang="zh-CN" dirty="0" smtClean="0">
                <a:sym typeface="+mn-ea"/>
              </a:rPr>
              <a:t>f</a:t>
            </a:r>
            <a:r>
              <a:rPr lang="en-US" altLang="zh-CN" baseline="-25000" dirty="0" smtClean="0">
                <a:sym typeface="+mn-ea"/>
              </a:rPr>
              <a:t>2</a:t>
            </a:r>
            <a:r>
              <a:rPr lang="en-US" altLang="zh-CN" dirty="0" smtClean="0">
                <a:sym typeface="+mn-ea"/>
              </a:rPr>
              <a:t>(n)</a:t>
            </a:r>
            <a:r>
              <a:rPr lang="zh-CN" altLang="en-US" dirty="0" smtClean="0">
                <a:sym typeface="+mn-ea"/>
              </a:rPr>
              <a:t>在</a:t>
            </a:r>
            <a:r>
              <a:rPr lang="en-US" altLang="zh-CN" dirty="0" smtClean="0">
                <a:sym typeface="+mn-ea"/>
              </a:rPr>
              <a:t>O(g</a:t>
            </a:r>
            <a:r>
              <a:rPr lang="en-US" altLang="zh-CN" baseline="-25000" dirty="0" smtClean="0">
                <a:sym typeface="+mn-ea"/>
              </a:rPr>
              <a:t>2</a:t>
            </a:r>
            <a:r>
              <a:rPr lang="en-US" altLang="zh-CN" dirty="0" smtClean="0">
                <a:sym typeface="+mn-ea"/>
              </a:rPr>
              <a:t>(n))</a:t>
            </a:r>
            <a:r>
              <a:rPr lang="zh-CN" altLang="en-US" dirty="0" smtClean="0">
                <a:sym typeface="+mn-ea"/>
              </a:rPr>
              <a:t>中，则</a:t>
            </a:r>
            <a:r>
              <a:rPr lang="en-US" altLang="zh-CN" dirty="0" smtClean="0">
                <a:sym typeface="+mn-ea"/>
              </a:rPr>
              <a:t>f</a:t>
            </a:r>
            <a:r>
              <a:rPr lang="en-US" altLang="zh-CN" baseline="-25000" dirty="0" smtClean="0">
                <a:sym typeface="+mn-ea"/>
              </a:rPr>
              <a:t>1</a:t>
            </a:r>
            <a:r>
              <a:rPr lang="en-US" altLang="zh-CN" dirty="0" smtClean="0">
                <a:sym typeface="+mn-ea"/>
              </a:rPr>
              <a:t>(n)f</a:t>
            </a:r>
            <a:r>
              <a:rPr lang="en-US" altLang="zh-CN" baseline="-25000" dirty="0" smtClean="0">
                <a:sym typeface="+mn-ea"/>
              </a:rPr>
              <a:t>2</a:t>
            </a:r>
            <a:r>
              <a:rPr lang="en-US" altLang="zh-CN" dirty="0" smtClean="0">
                <a:sym typeface="+mn-ea"/>
              </a:rPr>
              <a:t>(n)</a:t>
            </a:r>
            <a:r>
              <a:rPr lang="zh-CN" altLang="en-US" dirty="0" smtClean="0">
                <a:sym typeface="+mn-ea"/>
              </a:rPr>
              <a:t>在</a:t>
            </a:r>
            <a:r>
              <a:rPr lang="en-US" altLang="zh-CN" dirty="0" smtClean="0">
                <a:sym typeface="+mn-ea"/>
              </a:rPr>
              <a:t>O(g</a:t>
            </a:r>
            <a:r>
              <a:rPr lang="en-US" altLang="zh-CN" baseline="-25000" dirty="0" smtClean="0">
                <a:sym typeface="+mn-ea"/>
              </a:rPr>
              <a:t>1</a:t>
            </a:r>
            <a:r>
              <a:rPr lang="en-US" altLang="zh-CN" dirty="0" smtClean="0">
                <a:sym typeface="+mn-ea"/>
              </a:rPr>
              <a:t>(n)g</a:t>
            </a:r>
            <a:r>
              <a:rPr lang="en-US" altLang="zh-CN" baseline="-25000" dirty="0" smtClean="0">
                <a:sym typeface="+mn-ea"/>
              </a:rPr>
              <a:t>2</a:t>
            </a:r>
            <a:r>
              <a:rPr lang="en-US" altLang="zh-CN" dirty="0" smtClean="0">
                <a:sym typeface="+mn-ea"/>
              </a:rPr>
              <a:t>(n))</a:t>
            </a:r>
            <a:r>
              <a:rPr lang="zh-CN" altLang="en-US" dirty="0" smtClean="0">
                <a:sym typeface="+mn-ea"/>
              </a:rPr>
              <a:t>中；</a:t>
            </a:r>
            <a:endParaRPr lang="zh-CN" altLang="en-US" dirty="0" smtClean="0">
              <a:sym typeface="+mn-ea"/>
            </a:endParaRPr>
          </a:p>
          <a:p>
            <a:endParaRPr lang="en-US" altLang="zh-CN"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时间复杂度</a:t>
            </a:r>
            <a:endParaRPr lang="zh-CN" altLang="en-US" dirty="0" smtClean="0"/>
          </a:p>
        </p:txBody>
      </p:sp>
      <p:sp>
        <p:nvSpPr>
          <p:cNvPr id="3" name="内容占位符 2"/>
          <p:cNvSpPr>
            <a:spLocks noGrp="1"/>
          </p:cNvSpPr>
          <p:nvPr>
            <p:ph idx="1"/>
          </p:nvPr>
        </p:nvSpPr>
        <p:spPr/>
        <p:txBody>
          <a:bodyPr>
            <a:normAutofit lnSpcReduction="20000"/>
          </a:bodyPr>
          <a:lstStyle/>
          <a:p>
            <a:pPr marL="0" indent="0">
              <a:buNone/>
            </a:pPr>
            <a:r>
              <a:rPr lang="en-US" altLang="zh-CN" dirty="0" smtClean="0">
                <a:sym typeface="+mn-ea"/>
              </a:rPr>
              <a:t>ex4.</a:t>
            </a:r>
            <a:endParaRPr lang="en-US" altLang="zh-CN" dirty="0" smtClean="0">
              <a:sym typeface="+mn-ea"/>
            </a:endParaRPr>
          </a:p>
          <a:p>
            <a:pPr marL="0" indent="0">
              <a:buNone/>
            </a:pPr>
            <a:r>
              <a:rPr lang="en-US" altLang="zh-CN" dirty="0" smtClean="0">
                <a:sym typeface="+mn-ea"/>
              </a:rPr>
              <a:t>sum2=0</a:t>
            </a:r>
            <a:r>
              <a:rPr lang="zh-CN" altLang="en-US" dirty="0" smtClean="0">
                <a:sym typeface="+mn-ea"/>
              </a:rPr>
              <a:t>；</a:t>
            </a:r>
            <a:endParaRPr lang="zh-CN" altLang="en-US" dirty="0" smtClean="0">
              <a:sym typeface="+mn-ea"/>
            </a:endParaRPr>
          </a:p>
          <a:p>
            <a:pPr marL="0" indent="0">
              <a:buNone/>
            </a:pPr>
            <a:r>
              <a:rPr lang="en-US" altLang="zh-CN" dirty="0" smtClean="0">
                <a:sym typeface="+mn-ea"/>
              </a:rPr>
              <a:t>for(int i=1;i&lt;=n;i++)</a:t>
            </a:r>
            <a:endParaRPr lang="en-US" altLang="zh-CN" dirty="0" smtClean="0">
              <a:sym typeface="+mn-ea"/>
            </a:endParaRPr>
          </a:p>
          <a:p>
            <a:pPr marL="0" indent="0">
              <a:buNone/>
            </a:pPr>
            <a:r>
              <a:rPr lang="en-US" altLang="zh-CN" dirty="0" smtClean="0">
                <a:sym typeface="+mn-ea"/>
              </a:rPr>
              <a:t>	for(int j=1;</a:t>
            </a:r>
            <a:r>
              <a:rPr lang="en-US" altLang="zh-CN" dirty="0" smtClean="0">
                <a:solidFill>
                  <a:srgbClr val="FFFF00"/>
                </a:solidFill>
                <a:sym typeface="+mn-ea"/>
              </a:rPr>
              <a:t>j&lt;=i</a:t>
            </a:r>
            <a:r>
              <a:rPr lang="en-US" altLang="zh-CN" dirty="0" smtClean="0">
                <a:sym typeface="+mn-ea"/>
              </a:rPr>
              <a:t>;j++)sum2++					=&gt;O(n</a:t>
            </a:r>
            <a:r>
              <a:rPr lang="en-US" altLang="zh-CN" baseline="30000" dirty="0" smtClean="0">
                <a:sym typeface="+mn-ea"/>
              </a:rPr>
              <a:t>2</a:t>
            </a:r>
            <a:r>
              <a:rPr lang="en-US" altLang="zh-CN" dirty="0" smtClean="0">
                <a:sym typeface="+mn-ea"/>
              </a:rPr>
              <a:t>)</a:t>
            </a:r>
            <a:endParaRPr lang="en-US" altLang="zh-CN" dirty="0" smtClean="0">
              <a:sym typeface="+mn-ea"/>
            </a:endParaRPr>
          </a:p>
          <a:p>
            <a:endParaRPr lang="en-US" altLang="zh-CN" dirty="0" smtClean="0"/>
          </a:p>
          <a:p>
            <a:pPr marL="0" indent="0">
              <a:buNone/>
            </a:pPr>
            <a:r>
              <a:rPr lang="en-US" altLang="zh-CN" dirty="0" smtClean="0"/>
              <a:t>ex5.</a:t>
            </a:r>
            <a:endParaRPr lang="en-US" altLang="zh-CN" dirty="0" smtClean="0"/>
          </a:p>
          <a:p>
            <a:pPr marL="0" indent="0">
              <a:buNone/>
            </a:pPr>
            <a:r>
              <a:rPr lang="en-US" altLang="zh-CN" dirty="0" smtClean="0"/>
              <a:t>sum1=0;</a:t>
            </a:r>
            <a:endParaRPr lang="en-US" altLang="zh-CN" dirty="0" smtClean="0"/>
          </a:p>
          <a:p>
            <a:pPr marL="0" indent="0">
              <a:buNone/>
            </a:pPr>
            <a:r>
              <a:rPr lang="en-US" altLang="zh-CN" dirty="0" smtClean="0"/>
              <a:t>for(int k=1;k&lt;=n;k*=2)</a:t>
            </a:r>
            <a:endParaRPr lang="en-US" altLang="zh-CN" dirty="0" smtClean="0"/>
          </a:p>
          <a:p>
            <a:pPr marL="0" indent="0" algn="l">
              <a:buNone/>
            </a:pPr>
            <a:r>
              <a:rPr lang="en-US" altLang="zh-CN" dirty="0" smtClean="0"/>
              <a:t>	for(int j=1;j&lt;=n;j++)sum1++;					=&gt;O(nlogn) </a:t>
            </a:r>
            <a:endParaRPr lang="en-US" altLang="zh-CN" dirty="0" smtClean="0"/>
          </a:p>
          <a:p>
            <a:pPr marL="0" indent="0" algn="r">
              <a:buNone/>
            </a:pPr>
            <a:r>
              <a:rPr lang="zh-CN" altLang="en-US" dirty="0" smtClean="0">
                <a:solidFill>
                  <a:schemeClr val="tx1"/>
                </a:solidFill>
                <a:effectLst>
                  <a:outerShdw blurRad="38100" dist="19050" dir="2700000" algn="tl" rotWithShape="0">
                    <a:schemeClr val="dk1">
                      <a:alpha val="40000"/>
                    </a:schemeClr>
                  </a:outerShdw>
                </a:effectLst>
              </a:rPr>
              <a:t>一般以</a:t>
            </a:r>
            <a:r>
              <a:rPr lang="en-US" altLang="zh-CN" dirty="0" smtClean="0">
                <a:solidFill>
                  <a:schemeClr val="tx1"/>
                </a:solidFill>
                <a:effectLst>
                  <a:outerShdw blurRad="38100" dist="19050" dir="2700000" algn="tl" rotWithShape="0">
                    <a:schemeClr val="dk1">
                      <a:alpha val="40000"/>
                    </a:schemeClr>
                  </a:outerShdw>
                </a:effectLst>
              </a:rPr>
              <a:t>2</a:t>
            </a:r>
            <a:r>
              <a:rPr lang="zh-CN" altLang="en-US" dirty="0" smtClean="0">
                <a:solidFill>
                  <a:schemeClr val="tx1"/>
                </a:solidFill>
                <a:effectLst>
                  <a:outerShdw blurRad="38100" dist="19050" dir="2700000" algn="tl" rotWithShape="0">
                    <a:schemeClr val="dk1">
                      <a:alpha val="40000"/>
                    </a:schemeClr>
                  </a:outerShdw>
                </a:effectLst>
              </a:rPr>
              <a:t>为底的对数直接记</a:t>
            </a:r>
            <a:r>
              <a:rPr lang="en-US" altLang="zh-CN" dirty="0" smtClean="0">
                <a:solidFill>
                  <a:schemeClr val="tx1"/>
                </a:solidFill>
                <a:effectLst>
                  <a:outerShdw blurRad="38100" dist="19050" dir="2700000" algn="tl" rotWithShape="0">
                    <a:schemeClr val="dk1">
                      <a:alpha val="40000"/>
                    </a:schemeClr>
                  </a:outerShdw>
                </a:effectLst>
              </a:rPr>
              <a:t>log</a:t>
            </a:r>
            <a:r>
              <a:rPr lang="zh-CN" altLang="en-US" dirty="0" smtClean="0">
                <a:solidFill>
                  <a:schemeClr val="tx1"/>
                </a:solidFill>
                <a:effectLst>
                  <a:outerShdw blurRad="38100" dist="19050" dir="2700000" algn="tl" rotWithShape="0">
                    <a:schemeClr val="dk1">
                      <a:alpha val="40000"/>
                    </a:schemeClr>
                  </a:outerShdw>
                </a:effectLst>
              </a:rPr>
              <a:t>就好</a:t>
            </a:r>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时间复杂度</a:t>
            </a:r>
            <a:endParaRPr lang="zh-CN" altLang="en-US" dirty="0" smtClean="0"/>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时间复杂度也有可能与多个未知数相关，因为不知道其之间的关系所以不能随便略去。</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在现在的比赛环境下一般要控制时间复杂度在代入了限制条件后计算出来的值不超过</a:t>
            </a:r>
            <a:r>
              <a:rPr lang="en-US" altLang="zh-CN" dirty="0" smtClean="0">
                <a:solidFill>
                  <a:schemeClr val="tx1"/>
                </a:solidFill>
                <a:effectLst>
                  <a:outerShdw blurRad="38100" dist="19050" dir="2700000" algn="tl" rotWithShape="0">
                    <a:schemeClr val="dk1">
                      <a:alpha val="40000"/>
                    </a:schemeClr>
                  </a:outerShdw>
                </a:effectLst>
              </a:rPr>
              <a:t>10</a:t>
            </a:r>
            <a:r>
              <a:rPr lang="en-US" altLang="zh-CN" baseline="30000" dirty="0" smtClean="0">
                <a:solidFill>
                  <a:schemeClr val="tx1"/>
                </a:solidFill>
                <a:effectLst>
                  <a:outerShdw blurRad="38100" dist="19050" dir="2700000" algn="tl" rotWithShape="0">
                    <a:schemeClr val="dk1">
                      <a:alpha val="40000"/>
                    </a:schemeClr>
                  </a:outerShdw>
                </a:effectLst>
              </a:rPr>
              <a:t>8 </a:t>
            </a:r>
            <a:r>
              <a:rPr lang="zh-CN" altLang="en-US" dirty="0" smtClean="0">
                <a:solidFill>
                  <a:schemeClr val="tx1"/>
                </a:solidFill>
                <a:effectLst>
                  <a:outerShdw blurRad="38100" dist="19050" dir="2700000" algn="tl" rotWithShape="0">
                    <a:schemeClr val="dk1">
                      <a:alpha val="40000"/>
                    </a:schemeClr>
                  </a:outerShdw>
                </a:effectLst>
              </a:rPr>
              <a:t>但是根据提供的硬件环境的不同 这个数字也有可能要处以</a:t>
            </a:r>
            <a:r>
              <a:rPr lang="en-US" altLang="zh-CN" dirty="0" smtClean="0">
                <a:solidFill>
                  <a:schemeClr val="tx1"/>
                </a:solidFill>
                <a:effectLst>
                  <a:outerShdw blurRad="38100" dist="19050" dir="2700000" algn="tl" rotWithShape="0">
                    <a:schemeClr val="dk1">
                      <a:alpha val="40000"/>
                    </a:schemeClr>
                  </a:outerShdw>
                </a:effectLst>
              </a:rPr>
              <a:t>10</a:t>
            </a:r>
            <a:endParaRPr lang="en-US" altLang="zh-CN" dirty="0" smtClean="0">
              <a:solidFill>
                <a:schemeClr val="tx1"/>
              </a:solidFill>
              <a:effectLst>
                <a:outerShdw blurRad="38100" dist="19050" dir="2700000" algn="tl" rotWithShape="0">
                  <a:schemeClr val="dk1">
                    <a:alpha val="40000"/>
                  </a:schemeClr>
                </a:outerShdw>
              </a:effectLst>
            </a:endParaRPr>
          </a:p>
          <a:p>
            <a:endParaRPr lang="en-US" altLang="zh-CN" baseline="30000" dirty="0" smtClean="0">
              <a:solidFill>
                <a:schemeClr val="tx1"/>
              </a:solidFill>
              <a:effectLst>
                <a:outerShdw blurRad="38100" dist="19050" dir="2700000" algn="tl" rotWithShape="0">
                  <a:schemeClr val="dk1">
                    <a:alpha val="40000"/>
                  </a:schemeClr>
                </a:outerShdw>
              </a:effectLst>
            </a:endParaRPr>
          </a:p>
          <a:p>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空间复杂度</a:t>
            </a:r>
            <a:endParaRPr lang="zh-CN" altLang="en-US" dirty="0" smtClean="0"/>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空间复杂度(Space Complexity)是对一个算法在运行过程中临时占用存储空间大小的量度</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和时间复杂度相类似的，我们用大</a:t>
            </a:r>
            <a:r>
              <a:rPr lang="en-US" altLang="zh-CN" dirty="0" smtClean="0">
                <a:solidFill>
                  <a:schemeClr val="tx1"/>
                </a:solidFill>
                <a:effectLst>
                  <a:outerShdw blurRad="38100" dist="19050" dir="2700000" algn="tl" rotWithShape="0">
                    <a:schemeClr val="dk1">
                      <a:alpha val="40000"/>
                    </a:schemeClr>
                  </a:outerShdw>
                </a:effectLst>
              </a:rPr>
              <a:t>O</a:t>
            </a:r>
            <a:r>
              <a:rPr lang="zh-CN" altLang="en-US" dirty="0" smtClean="0">
                <a:solidFill>
                  <a:schemeClr val="tx1"/>
                </a:solidFill>
                <a:effectLst>
                  <a:outerShdw blurRad="38100" dist="19050" dir="2700000" algn="tl" rotWithShape="0">
                    <a:schemeClr val="dk1">
                      <a:alpha val="40000"/>
                    </a:schemeClr>
                  </a:outerShdw>
                </a:effectLst>
              </a:rPr>
              <a:t>来记</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为了计算空间复杂度 我们要对</a:t>
            </a:r>
            <a:r>
              <a:rPr lang="en-US" altLang="zh-CN" dirty="0" smtClean="0">
                <a:solidFill>
                  <a:schemeClr val="tx1"/>
                </a:solidFill>
                <a:effectLst>
                  <a:outerShdw blurRad="38100" dist="19050" dir="2700000" algn="tl" rotWithShape="0">
                    <a:schemeClr val="dk1">
                      <a:alpha val="40000"/>
                    </a:schemeClr>
                  </a:outerShdw>
                </a:effectLst>
              </a:rPr>
              <a:t>C++</a:t>
            </a:r>
            <a:r>
              <a:rPr lang="zh-CN" altLang="en-US" dirty="0" smtClean="0">
                <a:solidFill>
                  <a:schemeClr val="tx1"/>
                </a:solidFill>
                <a:effectLst>
                  <a:outerShdw blurRad="38100" dist="19050" dir="2700000" algn="tl" rotWithShape="0">
                    <a:schemeClr val="dk1">
                      <a:alpha val="40000"/>
                    </a:schemeClr>
                  </a:outerShdw>
                </a:effectLst>
              </a:rPr>
              <a:t>的数据类型有一定的了解</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用</a:t>
            </a:r>
            <a:r>
              <a:rPr lang="en-US" altLang="zh-CN" dirty="0" smtClean="0">
                <a:solidFill>
                  <a:schemeClr val="tx1"/>
                </a:solidFill>
                <a:effectLst>
                  <a:outerShdw blurRad="38100" dist="19050" dir="2700000" algn="tl" rotWithShape="0">
                    <a:schemeClr val="dk1">
                      <a:alpha val="40000"/>
                    </a:schemeClr>
                  </a:outerShdw>
                </a:effectLst>
              </a:rPr>
              <a:t>sizeof</a:t>
            </a:r>
            <a:r>
              <a:rPr lang="zh-CN" altLang="en-US" dirty="0" smtClean="0">
                <a:solidFill>
                  <a:schemeClr val="tx1"/>
                </a:solidFill>
                <a:effectLst>
                  <a:outerShdw blurRad="38100" dist="19050" dir="2700000" algn="tl" rotWithShape="0">
                    <a:schemeClr val="dk1">
                      <a:alpha val="40000"/>
                    </a:schemeClr>
                  </a:outerShdw>
                </a:effectLst>
              </a:rPr>
              <a:t>可以测试出特定类型所占的空间</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effectLst>
                  <a:outerShdw blurRad="38100" dist="19050" dir="2700000" algn="tl" rotWithShape="0">
                    <a:schemeClr val="dk1">
                      <a:alpha val="40000"/>
                    </a:schemeClr>
                  </a:outerShdw>
                </a:effectLst>
                <a:sym typeface="+mn-ea"/>
              </a:rPr>
              <a:t>时间复杂度和空间复杂度往往是相互制约的</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effectLst>
                  <a:outerShdw blurRad="38100" dist="19050" dir="2700000" algn="tl" rotWithShape="0">
                    <a:schemeClr val="dk1">
                      <a:alpha val="40000"/>
                    </a:schemeClr>
                  </a:outerShdw>
                </a:effectLst>
                <a:sym typeface="+mn-ea"/>
              </a:rPr>
              <a:t>需要根据题目的时限和空间限制进行取舍</a:t>
            </a:r>
            <a:endParaRPr lang="zh-CN" altLang="en-US" dirty="0" smtClean="0">
              <a:solidFill>
                <a:schemeClr val="tx1"/>
              </a:solidFill>
              <a:effectLst>
                <a:outerShdw blurRad="38100" dist="19050" dir="2700000" algn="tl" rotWithShape="0">
                  <a:schemeClr val="dk1">
                    <a:alpha val="40000"/>
                  </a:schemeClr>
                </a:outerShdw>
              </a:effectLst>
            </a:endParaRPr>
          </a:p>
          <a:p>
            <a:endParaRPr lang="en-US" altLang="zh-CN" baseline="30000" dirty="0" smtClean="0">
              <a:solidFill>
                <a:schemeClr val="tx1"/>
              </a:solidFill>
              <a:effectLst>
                <a:outerShdw blurRad="38100" dist="19050" dir="2700000" algn="tl" rotWithShape="0">
                  <a:schemeClr val="dk1">
                    <a:alpha val="40000"/>
                  </a:schemeClr>
                </a:outerShdw>
              </a:effectLst>
            </a:endParaRPr>
          </a:p>
          <a:p>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空间复杂度</a:t>
            </a:r>
            <a:endParaRPr lang="zh-CN" altLang="en-US" dirty="0" smtClean="0"/>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endParaRPr lang="zh-CN" altLang="en-US" dirty="0" smtClean="0">
              <a:solidFill>
                <a:schemeClr val="tx1"/>
              </a:solidFill>
              <a:effectLst>
                <a:outerShdw blurRad="38100" dist="19050" dir="2700000" algn="tl" rotWithShape="0">
                  <a:schemeClr val="dk1">
                    <a:alpha val="40000"/>
                  </a:schemeClr>
                </a:outerShdw>
              </a:effectLst>
            </a:endParaRPr>
          </a:p>
          <a:p>
            <a:endParaRPr lang="en-US" altLang="zh-CN" baseline="30000" dirty="0" smtClean="0">
              <a:solidFill>
                <a:schemeClr val="tx1"/>
              </a:solidFill>
              <a:effectLst>
                <a:outerShdw blurRad="38100" dist="19050" dir="2700000" algn="tl" rotWithShape="0">
                  <a:schemeClr val="dk1">
                    <a:alpha val="40000"/>
                  </a:schemeClr>
                </a:outerShdw>
              </a:effectLst>
            </a:endParaRPr>
          </a:p>
          <a:p>
            <a:endParaRPr lang="zh-CN" altLang="en-US" dirty="0" smtClean="0">
              <a:solidFill>
                <a:schemeClr val="tx1"/>
              </a:solidFill>
              <a:effectLst>
                <a:outerShdw blurRad="38100" dist="19050" dir="2700000" algn="tl" rotWithShape="0">
                  <a:schemeClr val="dk1">
                    <a:alpha val="40000"/>
                  </a:schemeClr>
                </a:outerShdw>
              </a:effectLst>
            </a:endParaRPr>
          </a:p>
        </p:txBody>
      </p:sp>
      <p:pic>
        <p:nvPicPr>
          <p:cNvPr id="4" name="图片 3"/>
          <p:cNvPicPr>
            <a:picLocks noChangeAspect="1"/>
          </p:cNvPicPr>
          <p:nvPr/>
        </p:nvPicPr>
        <p:blipFill>
          <a:blip r:embed="rId1"/>
          <a:stretch>
            <a:fillRect/>
          </a:stretch>
        </p:blipFill>
        <p:spPr>
          <a:xfrm>
            <a:off x="2361565" y="1634490"/>
            <a:ext cx="6774815" cy="44202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输入输出</a:t>
            </a:r>
            <a:endParaRPr lang="zh-CN" altLang="en-US" dirty="0" smtClean="0"/>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往往遇到的都是</a:t>
            </a:r>
            <a:r>
              <a:rPr lang="en-US" altLang="zh-CN" dirty="0" smtClean="0">
                <a:solidFill>
                  <a:schemeClr val="tx1"/>
                </a:solidFill>
                <a:effectLst>
                  <a:outerShdw blurRad="38100" dist="19050" dir="2700000" algn="tl" rotWithShape="0">
                    <a:schemeClr val="dk1">
                      <a:alpha val="40000"/>
                    </a:schemeClr>
                  </a:outerShdw>
                </a:effectLst>
              </a:rPr>
              <a:t>standard input/output </a:t>
            </a:r>
            <a:r>
              <a:rPr lang="zh-CN" altLang="en-US" dirty="0" smtClean="0">
                <a:solidFill>
                  <a:schemeClr val="tx1"/>
                </a:solidFill>
                <a:effectLst>
                  <a:outerShdw blurRad="38100" dist="19050" dir="2700000" algn="tl" rotWithShape="0">
                    <a:schemeClr val="dk1">
                      <a:alpha val="40000"/>
                    </a:schemeClr>
                  </a:outerShdw>
                </a:effectLst>
              </a:rPr>
              <a:t>只要直接读入</a:t>
            </a:r>
            <a:r>
              <a:rPr lang="en-US" altLang="zh-CN" dirty="0" smtClean="0">
                <a:solidFill>
                  <a:schemeClr val="tx1"/>
                </a:solidFill>
                <a:effectLst>
                  <a:outerShdw blurRad="38100" dist="19050" dir="2700000" algn="tl" rotWithShape="0">
                    <a:schemeClr val="dk1">
                      <a:alpha val="40000"/>
                    </a:schemeClr>
                  </a:outerShdw>
                </a:effectLst>
              </a:rPr>
              <a:t>/</a:t>
            </a:r>
            <a:r>
              <a:rPr lang="zh-CN" altLang="en-US" dirty="0" smtClean="0">
                <a:solidFill>
                  <a:schemeClr val="tx1"/>
                </a:solidFill>
                <a:effectLst>
                  <a:outerShdw blurRad="38100" dist="19050" dir="2700000" algn="tl" rotWithShape="0">
                    <a:schemeClr val="dk1">
                      <a:alpha val="40000"/>
                    </a:schemeClr>
                  </a:outerShdw>
                </a:effectLst>
              </a:rPr>
              <a:t>输出就好</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很少会遇到有规定文件的（往往是日常的训练中会遇到）</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那么就用</a:t>
            </a:r>
            <a:endParaRPr lang="zh-CN" altLang="en-US" dirty="0" smtClean="0">
              <a:solidFill>
                <a:schemeClr val="tx1"/>
              </a:solidFill>
              <a:effectLst>
                <a:outerShdw blurRad="38100" dist="19050" dir="2700000" algn="tl" rotWithShape="0">
                  <a:schemeClr val="dk1">
                    <a:alpha val="40000"/>
                  </a:schemeClr>
                </a:outerShdw>
              </a:effectLst>
            </a:endParaRPr>
          </a:p>
          <a:p>
            <a:pPr marL="0" indent="0">
              <a:buNone/>
            </a:pPr>
            <a:r>
              <a:rPr lang="en-US" altLang="zh-CN" dirty="0" smtClean="0">
                <a:solidFill>
                  <a:schemeClr val="tx1"/>
                </a:solidFill>
                <a:effectLst>
                  <a:outerShdw blurRad="38100" dist="19050" dir="2700000" algn="tl" rotWithShape="0">
                    <a:schemeClr val="dk1">
                      <a:alpha val="40000"/>
                    </a:schemeClr>
                  </a:outerShdw>
                </a:effectLst>
              </a:rPr>
              <a:t>freopen(</a:t>
            </a:r>
            <a:r>
              <a:rPr lang="en-US" altLang="zh-CN" dirty="0" smtClean="0">
                <a:effectLst>
                  <a:outerShdw blurRad="38100" dist="19050" dir="2700000" algn="tl" rotWithShape="0">
                    <a:schemeClr val="dk1">
                      <a:alpha val="40000"/>
                    </a:schemeClr>
                  </a:outerShdw>
                </a:effectLst>
                <a:sym typeface="+mn-ea"/>
              </a:rPr>
              <a:t>“</a:t>
            </a:r>
            <a:r>
              <a:rPr lang="en-US" altLang="zh-CN" dirty="0" smtClean="0">
                <a:solidFill>
                  <a:schemeClr val="tx1"/>
                </a:solidFill>
                <a:effectLst>
                  <a:outerShdw blurRad="38100" dist="19050" dir="2700000" algn="tl" rotWithShape="0">
                    <a:schemeClr val="dk1">
                      <a:alpha val="40000"/>
                    </a:schemeClr>
                  </a:outerShdw>
                </a:effectLst>
              </a:rPr>
              <a:t>*.in”,</a:t>
            </a:r>
            <a:r>
              <a:rPr lang="en-US" altLang="zh-CN" dirty="0" smtClean="0">
                <a:effectLst>
                  <a:outerShdw blurRad="38100" dist="19050" dir="2700000" algn="tl" rotWithShape="0">
                    <a:schemeClr val="dk1">
                      <a:alpha val="40000"/>
                    </a:schemeClr>
                  </a:outerShdw>
                </a:effectLst>
                <a:sym typeface="+mn-ea"/>
              </a:rPr>
              <a:t>“r”,stdin</a:t>
            </a:r>
            <a:r>
              <a:rPr lang="en-US" altLang="zh-CN" dirty="0" smtClean="0">
                <a:solidFill>
                  <a:schemeClr val="tx1"/>
                </a:solidFill>
                <a:effectLst>
                  <a:outerShdw blurRad="38100" dist="19050" dir="2700000" algn="tl" rotWithShape="0">
                    <a:schemeClr val="dk1">
                      <a:alpha val="40000"/>
                    </a:schemeClr>
                  </a:outerShdw>
                </a:effectLst>
              </a:rPr>
              <a:t>);	freopen(“*.out”,</a:t>
            </a:r>
            <a:r>
              <a:rPr lang="en-US" altLang="zh-CN" dirty="0" smtClean="0">
                <a:effectLst>
                  <a:outerShdw blurRad="38100" dist="19050" dir="2700000" algn="tl" rotWithShape="0">
                    <a:schemeClr val="dk1">
                      <a:alpha val="40000"/>
                    </a:schemeClr>
                  </a:outerShdw>
                </a:effectLst>
                <a:sym typeface="+mn-ea"/>
              </a:rPr>
              <a:t>“w”,stdout</a:t>
            </a:r>
            <a:r>
              <a:rPr lang="en-US" altLang="zh-CN" dirty="0" smtClean="0">
                <a:solidFill>
                  <a:schemeClr val="tx1"/>
                </a:solidFill>
                <a:effectLst>
                  <a:outerShdw blurRad="38100" dist="19050" dir="2700000" algn="tl" rotWithShape="0">
                    <a:schemeClr val="dk1">
                      <a:alpha val="40000"/>
                    </a:schemeClr>
                  </a:outerShdw>
                </a:effectLst>
              </a:rPr>
              <a:t>);</a:t>
            </a:r>
            <a:endParaRPr lang="en-US" altLang="zh-CN" dirty="0" smtClean="0">
              <a:solidFill>
                <a:schemeClr val="tx1"/>
              </a:solidFill>
              <a:effectLst>
                <a:outerShdw blurRad="38100" dist="19050" dir="2700000" algn="tl" rotWithShape="0">
                  <a:schemeClr val="dk1">
                    <a:alpha val="40000"/>
                  </a:schemeClr>
                </a:outerShdw>
              </a:effectLst>
            </a:endParaRPr>
          </a:p>
          <a:p>
            <a:pPr marL="0" indent="0">
              <a:buNone/>
            </a:pPr>
            <a:r>
              <a:rPr lang="en-US" altLang="zh-CN" dirty="0" smtClean="0">
                <a:solidFill>
                  <a:schemeClr val="tx1"/>
                </a:solidFill>
                <a:effectLst>
                  <a:outerShdw blurRad="38100" dist="19050" dir="2700000" algn="tl" rotWithShape="0">
                    <a:schemeClr val="dk1">
                      <a:alpha val="40000"/>
                    </a:schemeClr>
                  </a:outerShdw>
                </a:effectLst>
              </a:rPr>
              <a:t>	</a:t>
            </a:r>
            <a:r>
              <a:rPr lang="zh-CN" altLang="en-US" dirty="0" smtClean="0">
                <a:solidFill>
                  <a:schemeClr val="tx1"/>
                </a:solidFill>
                <a:effectLst>
                  <a:outerShdw blurRad="38100" dist="19050" dir="2700000" algn="tl" rotWithShape="0">
                    <a:schemeClr val="dk1">
                      <a:alpha val="40000"/>
                    </a:schemeClr>
                  </a:outerShdw>
                </a:effectLst>
              </a:rPr>
              <a:t>就好</a:t>
            </a:r>
            <a:endParaRPr lang="zh-CN" altLang="en-US" dirty="0" smtClean="0">
              <a:solidFill>
                <a:schemeClr val="tx1"/>
              </a:solidFill>
              <a:effectLst>
                <a:outerShdw blurRad="38100" dist="19050" dir="2700000" algn="tl" rotWithShape="0">
                  <a:schemeClr val="dk1">
                    <a:alpha val="40000"/>
                  </a:schemeClr>
                </a:outerShdw>
              </a:effectLst>
            </a:endParaRPr>
          </a:p>
          <a:p>
            <a:pPr marL="0" indent="0">
              <a:buNone/>
            </a:pP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遇到读到文件结束的 可以用类似 while(cin &gt;&gt;a)和while(scanf(“%d”,&amp;a)!=EOF)之类的语句</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尽量使用</a:t>
            </a:r>
            <a:r>
              <a:rPr lang="en-US" altLang="zh-CN" dirty="0" smtClean="0">
                <a:solidFill>
                  <a:schemeClr val="tx1"/>
                </a:solidFill>
                <a:effectLst>
                  <a:outerShdw blurRad="38100" dist="19050" dir="2700000" algn="tl" rotWithShape="0">
                    <a:schemeClr val="dk1">
                      <a:alpha val="40000"/>
                    </a:schemeClr>
                  </a:outerShdw>
                </a:effectLst>
              </a:rPr>
              <a:t>c</a:t>
            </a:r>
            <a:r>
              <a:rPr lang="zh-CN" altLang="en-US" dirty="0" smtClean="0">
                <a:solidFill>
                  <a:schemeClr val="tx1"/>
                </a:solidFill>
                <a:effectLst>
                  <a:outerShdw blurRad="38100" dist="19050" dir="2700000" algn="tl" rotWithShape="0">
                    <a:schemeClr val="dk1">
                      <a:alpha val="40000"/>
                    </a:schemeClr>
                  </a:outerShdw>
                </a:effectLst>
              </a:rPr>
              <a:t>语言标准的输入输出，比</a:t>
            </a:r>
            <a:r>
              <a:rPr lang="en-US" altLang="zh-CN" dirty="0" smtClean="0">
                <a:solidFill>
                  <a:schemeClr val="tx1"/>
                </a:solidFill>
                <a:effectLst>
                  <a:outerShdw blurRad="38100" dist="19050" dir="2700000" algn="tl" rotWithShape="0">
                    <a:schemeClr val="dk1">
                      <a:alpha val="40000"/>
                    </a:schemeClr>
                  </a:outerShdw>
                </a:effectLst>
              </a:rPr>
              <a:t>c++</a:t>
            </a:r>
            <a:r>
              <a:rPr lang="zh-CN" altLang="en-US" dirty="0" smtClean="0">
                <a:solidFill>
                  <a:schemeClr val="tx1"/>
                </a:solidFill>
                <a:effectLst>
                  <a:outerShdw blurRad="38100" dist="19050" dir="2700000" algn="tl" rotWithShape="0">
                    <a:schemeClr val="dk1">
                      <a:alpha val="40000"/>
                    </a:schemeClr>
                  </a:outerShdw>
                </a:effectLst>
              </a:rPr>
              <a:t>快，</a:t>
            </a:r>
            <a:r>
              <a:rPr lang="en-US" altLang="zh-CN" dirty="0" smtClean="0">
                <a:solidFill>
                  <a:schemeClr val="tx1"/>
                </a:solidFill>
                <a:effectLst>
                  <a:outerShdw blurRad="38100" dist="19050" dir="2700000" algn="tl" rotWithShape="0">
                    <a:schemeClr val="dk1">
                      <a:alpha val="40000"/>
                    </a:schemeClr>
                  </a:outerShdw>
                </a:effectLst>
              </a:rPr>
              <a:t>c++</a:t>
            </a:r>
            <a:r>
              <a:rPr lang="zh-CN" altLang="en-US" dirty="0" smtClean="0">
                <a:solidFill>
                  <a:schemeClr val="tx1"/>
                </a:solidFill>
                <a:effectLst>
                  <a:outerShdw blurRad="38100" dist="19050" dir="2700000" algn="tl" rotWithShape="0">
                    <a:schemeClr val="dk1">
                      <a:alpha val="40000"/>
                    </a:schemeClr>
                  </a:outerShdw>
                </a:effectLst>
              </a:rPr>
              <a:t>开了取消同步的开关有的时候还是会被卡的</a:t>
            </a:r>
            <a:endParaRPr lang="zh-CN" altLang="en-US" dirty="0" smtClean="0">
              <a:solidFill>
                <a:schemeClr val="tx1"/>
              </a:solidFill>
              <a:effectLst>
                <a:outerShdw blurRad="38100" dist="19050" dir="2700000" algn="tl" rotWithShape="0">
                  <a:schemeClr val="dk1">
                    <a:alpha val="40000"/>
                  </a:schemeClr>
                </a:outerShdw>
              </a:effectLst>
            </a:endParaRPr>
          </a:p>
          <a:p>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输入输出</a:t>
            </a:r>
            <a:endParaRPr lang="zh-CN" altLang="en-US" dirty="0" smtClean="0"/>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有的时候用</a:t>
            </a:r>
            <a:r>
              <a:rPr lang="en-US" altLang="zh-CN" dirty="0" smtClean="0">
                <a:solidFill>
                  <a:schemeClr val="tx1"/>
                </a:solidFill>
                <a:effectLst>
                  <a:outerShdw blurRad="38100" dist="19050" dir="2700000" algn="tl" rotWithShape="0">
                    <a:schemeClr val="dk1">
                      <a:alpha val="40000"/>
                    </a:schemeClr>
                  </a:outerShdw>
                </a:effectLst>
              </a:rPr>
              <a:t>c</a:t>
            </a:r>
            <a:r>
              <a:rPr lang="zh-CN" altLang="en-US" dirty="0" smtClean="0">
                <a:solidFill>
                  <a:schemeClr val="tx1"/>
                </a:solidFill>
                <a:effectLst>
                  <a:outerShdw blurRad="38100" dist="19050" dir="2700000" algn="tl" rotWithShape="0">
                    <a:schemeClr val="dk1">
                      <a:alpha val="40000"/>
                    </a:schemeClr>
                  </a:outerShdw>
                </a:effectLst>
              </a:rPr>
              <a:t>语言标准的语句依旧会被卡</a:t>
            </a:r>
            <a:r>
              <a:rPr lang="en-US" altLang="zh-CN" dirty="0" smtClean="0">
                <a:solidFill>
                  <a:schemeClr val="tx1"/>
                </a:solidFill>
                <a:effectLst>
                  <a:outerShdw blurRad="38100" dist="19050" dir="2700000" algn="tl" rotWithShape="0">
                    <a:schemeClr val="dk1">
                      <a:alpha val="40000"/>
                    </a:schemeClr>
                  </a:outerShdw>
                </a:effectLst>
              </a:rPr>
              <a:t>……Emmmmm</a:t>
            </a:r>
            <a:endParaRPr lang="en-US" altLang="zh-CN"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原因！</a:t>
            </a:r>
            <a:r>
              <a:rPr lang="en-US" altLang="zh-CN" dirty="0" smtClean="0">
                <a:solidFill>
                  <a:schemeClr val="tx1"/>
                </a:solidFill>
                <a:effectLst>
                  <a:outerShdw blurRad="38100" dist="19050" dir="2700000" algn="tl" rotWithShape="0">
                    <a:schemeClr val="dk1">
                      <a:alpha val="40000"/>
                    </a:schemeClr>
                  </a:outerShdw>
                </a:effectLst>
              </a:rPr>
              <a:t>@#</a:t>
            </a:r>
            <a:r>
              <a:rPr lang="zh-CN" altLang="en-US" dirty="0" smtClean="0">
                <a:solidFill>
                  <a:schemeClr val="tx1"/>
                </a:solidFill>
                <a:effectLst>
                  <a:outerShdw blurRad="38100" dist="19050" dir="2700000" algn="tl" rotWithShape="0">
                    <a:schemeClr val="dk1">
                      <a:alpha val="40000"/>
                    </a:schemeClr>
                  </a:outerShdw>
                </a:effectLst>
              </a:rPr>
              <a:t>！</a:t>
            </a:r>
            <a:r>
              <a:rPr lang="en-US" altLang="zh-CN" dirty="0" smtClean="0">
                <a:solidFill>
                  <a:schemeClr val="tx1"/>
                </a:solidFill>
                <a:effectLst>
                  <a:outerShdw blurRad="38100" dist="19050" dir="2700000" algn="tl" rotWithShape="0">
                    <a:schemeClr val="dk1">
                      <a:alpha val="40000"/>
                    </a:schemeClr>
                  </a:outerShdw>
                </a:effectLst>
              </a:rPr>
              <a:t>%#%</a:t>
            </a:r>
            <a:endParaRPr lang="en-US" altLang="zh-CN"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需要用到输入输出挂</a:t>
            </a:r>
            <a:r>
              <a:rPr lang="en-US" altLang="zh-CN" dirty="0" smtClean="0">
                <a:solidFill>
                  <a:schemeClr val="tx1"/>
                </a:solidFill>
                <a:effectLst>
                  <a:outerShdw blurRad="38100" dist="19050" dir="2700000" algn="tl" rotWithShape="0">
                    <a:schemeClr val="dk1">
                      <a:alpha val="40000"/>
                    </a:schemeClr>
                  </a:outerShdw>
                </a:effectLst>
              </a:rPr>
              <a:t>……</a:t>
            </a:r>
            <a:r>
              <a:rPr lang="zh-CN" altLang="en-US" dirty="0" smtClean="0">
                <a:solidFill>
                  <a:schemeClr val="tx1"/>
                </a:solidFill>
                <a:effectLst>
                  <a:outerShdw blurRad="38100" dist="19050" dir="2700000" algn="tl" rotWithShape="0">
                    <a:schemeClr val="dk1">
                      <a:alpha val="40000"/>
                    </a:schemeClr>
                  </a:outerShdw>
                </a:effectLst>
              </a:rPr>
              <a:t>写出自己喜欢的挂有有必要的</a:t>
            </a:r>
            <a:endParaRPr lang="zh-CN" altLang="en-US" dirty="0" smtClean="0">
              <a:solidFill>
                <a:schemeClr val="tx1"/>
              </a:solidFill>
              <a:effectLst>
                <a:outerShdw blurRad="38100" dist="19050" dir="2700000" algn="tl" rotWithShape="0">
                  <a:schemeClr val="dk1">
                    <a:alpha val="40000"/>
                  </a:schemeClr>
                </a:outerShdw>
              </a:effectLst>
            </a:endParaRPr>
          </a:p>
          <a:p>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输入输出</a:t>
            </a:r>
            <a:endParaRPr lang="zh-CN" altLang="en-US" dirty="0" smtClean="0"/>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endParaRPr lang="zh-CN" altLang="en-US" dirty="0" smtClean="0">
              <a:solidFill>
                <a:schemeClr val="tx1"/>
              </a:solidFill>
              <a:effectLst>
                <a:outerShdw blurRad="38100" dist="19050" dir="2700000" algn="tl" rotWithShape="0">
                  <a:schemeClr val="dk1">
                    <a:alpha val="40000"/>
                  </a:schemeClr>
                </a:outerShdw>
              </a:effectLst>
            </a:endParaRPr>
          </a:p>
        </p:txBody>
      </p:sp>
      <p:pic>
        <p:nvPicPr>
          <p:cNvPr id="4" name="图片 3"/>
          <p:cNvPicPr>
            <a:picLocks noChangeAspect="1"/>
          </p:cNvPicPr>
          <p:nvPr/>
        </p:nvPicPr>
        <p:blipFill>
          <a:blip r:embed="rId1"/>
          <a:stretch>
            <a:fillRect/>
          </a:stretch>
        </p:blipFill>
        <p:spPr>
          <a:xfrm>
            <a:off x="2535555" y="1294765"/>
            <a:ext cx="6393815" cy="52203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思想和技巧</a:t>
            </a:r>
            <a:endParaRPr lang="zh-CN" altLang="en-US"/>
          </a:p>
        </p:txBody>
      </p:sp>
      <p:sp>
        <p:nvSpPr>
          <p:cNvPr id="3" name="文本占位符 2"/>
          <p:cNvSpPr>
            <a:spLocks noGrp="1"/>
          </p:cNvSpPr>
          <p:nvPr>
            <p:ph type="body" idx="1"/>
          </p:nvPr>
        </p:nvSpPr>
        <p:spPr/>
        <p:txBody>
          <a:bodyPr/>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模拟</a:t>
            </a:r>
            <a:endParaRPr lang="zh-CN" altLang="en-US">
              <a:sym typeface="+mn-ea"/>
            </a:endParaRPr>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模拟这种东西，就是字面上的意思</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可能需要根据实际的情况挑选合适的数据结构来模拟题目的过程</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一般情况下看起来会比较令人开心</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但是有的时候会很恶心 </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模拟的重要性在于 可以先写出一个正确的程序 然后拿来找规律或者对拍</a:t>
            </a:r>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暴力</a:t>
            </a:r>
            <a:endParaRPr lang="zh-CN" altLang="en-US">
              <a:sym typeface="+mn-ea"/>
            </a:endParaRPr>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暴力对于每个人的意义并不一样</a:t>
            </a:r>
            <a:r>
              <a:rPr lang="en-US" altLang="zh-CN" dirty="0" smtClean="0">
                <a:solidFill>
                  <a:schemeClr val="tx1"/>
                </a:solidFill>
                <a:effectLst>
                  <a:outerShdw blurRad="38100" dist="19050" dir="2700000" algn="tl" rotWithShape="0">
                    <a:schemeClr val="dk1">
                      <a:alpha val="40000"/>
                    </a:schemeClr>
                  </a:outerShdw>
                </a:effectLst>
              </a:rPr>
              <a:t>……</a:t>
            </a:r>
            <a:endParaRPr lang="en-US" altLang="zh-CN"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可以粗略地认为就是看到题目不需要思考 就可以找到的能保证正确性的算法（效率</a:t>
            </a:r>
            <a:r>
              <a:rPr lang="zh-CN" altLang="en-US" dirty="0" smtClean="0">
                <a:solidFill>
                  <a:schemeClr val="accent1"/>
                </a:solidFill>
                <a:effectLst>
                  <a:outerShdw blurRad="38100" dist="25400" dir="5400000" algn="ctr" rotWithShape="0">
                    <a:srgbClr val="6E747A">
                      <a:alpha val="43000"/>
                    </a:srgbClr>
                  </a:outerShdw>
                </a:effectLst>
              </a:rPr>
              <a:t>可能</a:t>
            </a:r>
            <a:r>
              <a:rPr lang="zh-CN" altLang="en-US" dirty="0" smtClean="0">
                <a:solidFill>
                  <a:schemeClr val="tx1"/>
                </a:solidFill>
                <a:effectLst>
                  <a:outerShdw blurRad="38100" dist="19050" dir="2700000" algn="tl" rotWithShape="0">
                    <a:schemeClr val="dk1">
                      <a:alpha val="40000"/>
                    </a:schemeClr>
                  </a:outerShdw>
                </a:effectLst>
              </a:rPr>
              <a:t>不一定高）</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比较直观的来说就像是根据题意尝试所有的可能性（搜索），不加任何剪枝优化。后续会有搜索的专题，这里就简单地提一下。</a:t>
            </a:r>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贪心</a:t>
            </a:r>
            <a:endParaRPr lang="zh-CN" altLang="en-US">
              <a:sym typeface="+mn-ea"/>
            </a:endParaRPr>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求解最优化问题的算法通常需要经过一系列的步骤，在每个步骤都面临多种选择。</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b="1" dirty="0" smtClean="0">
                <a:solidFill>
                  <a:schemeClr val="tx1"/>
                </a:solidFill>
                <a:effectLst>
                  <a:outerShdw blurRad="38100" dist="19050" dir="2700000" algn="tl" rotWithShape="0">
                    <a:schemeClr val="dk1">
                      <a:alpha val="40000"/>
                    </a:schemeClr>
                  </a:outerShdw>
                </a:effectLst>
              </a:rPr>
              <a:t>贪心算法</a:t>
            </a:r>
            <a:r>
              <a:rPr lang="zh-CN" altLang="en-US" dirty="0" smtClean="0">
                <a:solidFill>
                  <a:schemeClr val="tx1"/>
                </a:solidFill>
                <a:effectLst>
                  <a:outerShdw blurRad="38100" dist="19050" dir="2700000" algn="tl" rotWithShape="0">
                    <a:schemeClr val="dk1">
                      <a:alpha val="40000"/>
                    </a:schemeClr>
                  </a:outerShdw>
                </a:effectLst>
              </a:rPr>
              <a:t>在每一步都做出当时看起来最佳的选择。也就是说，它总是做出局部最优的选择，寄希望这样的选择能导致全局最优解。</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贪心并不能保证得到最优解，但是对很多问题确实可以求得最优解。</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用到贪心的一些举例：</a:t>
            </a:r>
            <a:endParaRPr lang="zh-CN" altLang="en-US" dirty="0" smtClean="0">
              <a:solidFill>
                <a:schemeClr val="tx1"/>
              </a:solidFill>
              <a:effectLst>
                <a:outerShdw blurRad="38100" dist="19050" dir="2700000" algn="tl" rotWithShape="0">
                  <a:schemeClr val="dk1">
                    <a:alpha val="40000"/>
                  </a:schemeClr>
                </a:outerShdw>
              </a:effectLst>
            </a:endParaRPr>
          </a:p>
          <a:p>
            <a:pPr marL="0" indent="0">
              <a:buNone/>
            </a:pPr>
            <a:r>
              <a:rPr lang="zh-CN" altLang="en-US" dirty="0" smtClean="0">
                <a:solidFill>
                  <a:schemeClr val="tx1"/>
                </a:solidFill>
                <a:effectLst>
                  <a:outerShdw blurRad="38100" dist="19050" dir="2700000" algn="tl" rotWithShape="0">
                    <a:schemeClr val="dk1">
                      <a:alpha val="40000"/>
                    </a:schemeClr>
                  </a:outerShdw>
                </a:effectLst>
              </a:rPr>
              <a:t>设计数据压缩编码（</a:t>
            </a:r>
            <a:r>
              <a:rPr lang="en-US" altLang="zh-CN" dirty="0" smtClean="0">
                <a:solidFill>
                  <a:schemeClr val="tx1"/>
                </a:solidFill>
                <a:effectLst>
                  <a:outerShdw blurRad="38100" dist="19050" dir="2700000" algn="tl" rotWithShape="0">
                    <a:schemeClr val="dk1">
                      <a:alpha val="40000"/>
                    </a:schemeClr>
                  </a:outerShdw>
                </a:effectLst>
              </a:rPr>
              <a:t>Huffman</a:t>
            </a:r>
            <a:r>
              <a:rPr lang="zh-CN" altLang="en-US" dirty="0" smtClean="0">
                <a:solidFill>
                  <a:schemeClr val="tx1"/>
                </a:solidFill>
                <a:effectLst>
                  <a:outerShdw blurRad="38100" dist="19050" dir="2700000" algn="tl" rotWithShape="0">
                    <a:schemeClr val="dk1">
                      <a:alpha val="40000"/>
                    </a:schemeClr>
                  </a:outerShdw>
                </a:effectLst>
              </a:rPr>
              <a:t>编码）</a:t>
            </a:r>
            <a:endParaRPr lang="zh-CN" altLang="en-US" dirty="0" smtClean="0">
              <a:solidFill>
                <a:schemeClr val="tx1"/>
              </a:solidFill>
              <a:effectLst>
                <a:outerShdw blurRad="38100" dist="19050" dir="2700000" algn="tl" rotWithShape="0">
                  <a:schemeClr val="dk1">
                    <a:alpha val="40000"/>
                  </a:schemeClr>
                </a:outerShdw>
              </a:effectLst>
            </a:endParaRPr>
          </a:p>
          <a:p>
            <a:pPr marL="0" indent="0">
              <a:buNone/>
            </a:pPr>
            <a:r>
              <a:rPr lang="zh-CN" altLang="en-US" dirty="0" smtClean="0">
                <a:solidFill>
                  <a:schemeClr val="tx1"/>
                </a:solidFill>
                <a:effectLst>
                  <a:outerShdw blurRad="38100" dist="19050" dir="2700000" algn="tl" rotWithShape="0">
                    <a:schemeClr val="dk1">
                      <a:alpha val="40000"/>
                    </a:schemeClr>
                  </a:outerShdw>
                </a:effectLst>
              </a:rPr>
              <a:t>最小生成树算法</a:t>
            </a:r>
            <a:r>
              <a:rPr lang="en-US" altLang="zh-CN" dirty="0" smtClean="0">
                <a:solidFill>
                  <a:schemeClr val="tx1"/>
                </a:solidFill>
                <a:effectLst>
                  <a:outerShdw blurRad="38100" dist="19050" dir="2700000" algn="tl" rotWithShape="0">
                    <a:schemeClr val="dk1">
                      <a:alpha val="40000"/>
                    </a:schemeClr>
                  </a:outerShdw>
                </a:effectLst>
              </a:rPr>
              <a:t>		</a:t>
            </a:r>
            <a:r>
              <a:rPr lang="zh-CN" altLang="en-US" dirty="0" smtClean="0">
                <a:solidFill>
                  <a:schemeClr val="tx1"/>
                </a:solidFill>
                <a:effectLst>
                  <a:outerShdw blurRad="38100" dist="19050" dir="2700000" algn="tl" rotWithShape="0">
                    <a:schemeClr val="dk1">
                      <a:alpha val="40000"/>
                    </a:schemeClr>
                  </a:outerShdw>
                </a:effectLst>
              </a:rPr>
              <a:t>单源最短路</a:t>
            </a:r>
            <a:r>
              <a:rPr lang="en-US" altLang="zh-CN" dirty="0" smtClean="0">
                <a:solidFill>
                  <a:schemeClr val="tx1"/>
                </a:solidFill>
                <a:effectLst>
                  <a:outerShdw blurRad="38100" dist="19050" dir="2700000" algn="tl" rotWithShape="0">
                    <a:schemeClr val="dk1">
                      <a:alpha val="40000"/>
                    </a:schemeClr>
                  </a:outerShdw>
                </a:effectLst>
              </a:rPr>
              <a:t>Dijkstra</a:t>
            </a:r>
            <a:r>
              <a:rPr lang="zh-CN" altLang="en-US" dirty="0" smtClean="0">
                <a:solidFill>
                  <a:schemeClr val="tx1"/>
                </a:solidFill>
                <a:effectLst>
                  <a:outerShdw blurRad="38100" dist="19050" dir="2700000" algn="tl" rotWithShape="0">
                    <a:schemeClr val="dk1">
                      <a:alpha val="40000"/>
                    </a:schemeClr>
                  </a:outerShdw>
                </a:effectLst>
              </a:rPr>
              <a:t>算法</a:t>
            </a:r>
            <a:endParaRPr lang="zh-CN" altLang="en-US" dirty="0" smtClean="0">
              <a:solidFill>
                <a:schemeClr val="tx1"/>
              </a:solidFill>
              <a:effectLst>
                <a:outerShdw blurRad="38100" dist="19050" dir="2700000" algn="tl" rotWithShape="0">
                  <a:schemeClr val="dk1">
                    <a:alpha val="40000"/>
                  </a:schemeClr>
                </a:outerShdw>
              </a:effectLst>
            </a:endParaRPr>
          </a:p>
          <a:p>
            <a:pPr marL="0" indent="0">
              <a:buNone/>
            </a:pPr>
            <a:endParaRPr lang="zh-CN" altLang="en-US" dirty="0" smtClean="0">
              <a:solidFill>
                <a:schemeClr val="tx1"/>
              </a:solidFill>
              <a:effectLst>
                <a:outerShdw blurRad="38100" dist="19050" dir="2700000" algn="tl" rotWithShape="0">
                  <a:schemeClr val="dk1">
                    <a:alpha val="40000"/>
                  </a:schemeClr>
                </a:outerShdw>
              </a:effectLst>
            </a:endParaRPr>
          </a:p>
          <a:p>
            <a:pPr marL="0" indent="0">
              <a:buNone/>
            </a:pPr>
            <a:r>
              <a:rPr lang="zh-CN" altLang="en-US" dirty="0" smtClean="0">
                <a:solidFill>
                  <a:schemeClr val="tx1"/>
                </a:solidFill>
                <a:effectLst>
                  <a:outerShdw blurRad="38100" dist="19050" dir="2700000" algn="tl" rotWithShape="0">
                    <a:schemeClr val="dk1">
                      <a:alpha val="40000"/>
                    </a:schemeClr>
                  </a:outerShdw>
                </a:effectLst>
              </a:rPr>
              <a:t>贪心也有可能会被拿来得到后续算法所需的条件，比如：确定动态规划的上界</a:t>
            </a:r>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贪心算法原理</a:t>
            </a:r>
            <a:endParaRPr lang="zh-CN" altLang="en-US">
              <a:sym typeface="+mn-ea"/>
            </a:endParaRPr>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en-US" altLang="zh-CN" dirty="0" smtClean="0">
                <a:solidFill>
                  <a:schemeClr val="tx1"/>
                </a:solidFill>
                <a:effectLst>
                  <a:outerShdw blurRad="38100" dist="19050" dir="2700000" algn="tl" rotWithShape="0">
                    <a:schemeClr val="dk1">
                      <a:alpha val="40000"/>
                    </a:schemeClr>
                  </a:outerShdw>
                </a:effectLst>
              </a:rPr>
              <a:t>1</a:t>
            </a:r>
            <a:r>
              <a:rPr lang="zh-CN" altLang="en-US" dirty="0" smtClean="0">
                <a:solidFill>
                  <a:schemeClr val="tx1"/>
                </a:solidFill>
                <a:effectLst>
                  <a:outerShdw blurRad="38100" dist="19050" dir="2700000" algn="tl" rotWithShape="0">
                    <a:schemeClr val="dk1">
                      <a:alpha val="40000"/>
                    </a:schemeClr>
                  </a:outerShdw>
                </a:effectLst>
              </a:rPr>
              <a:t>、贪心选择性质</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我们可以通过做出局部最优（贪心）选择来构造全局最优解。</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话句话说，当进行选择时，我们直接做出在当前问题中看来最优的选择，而不必考虑子问题的解。</a:t>
            </a:r>
            <a:endParaRPr lang="zh-CN" altLang="en-US" dirty="0" smtClean="0">
              <a:solidFill>
                <a:schemeClr val="tx1"/>
              </a:solidFill>
              <a:effectLst>
                <a:outerShdw blurRad="38100" dist="19050" dir="2700000" algn="tl" rotWithShape="0">
                  <a:schemeClr val="dk1">
                    <a:alpha val="40000"/>
                  </a:schemeClr>
                </a:outerShdw>
              </a:effectLst>
            </a:endParaRPr>
          </a:p>
          <a:p>
            <a:endParaRPr lang="zh-CN" altLang="en-US"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2</a:t>
            </a:r>
            <a:r>
              <a:rPr lang="zh-CN" altLang="en-US" dirty="0" smtClean="0">
                <a:solidFill>
                  <a:schemeClr val="tx1"/>
                </a:solidFill>
                <a:effectLst>
                  <a:outerShdw blurRad="38100" dist="19050" dir="2700000" algn="tl" rotWithShape="0">
                    <a:schemeClr val="dk1">
                      <a:alpha val="40000"/>
                    </a:schemeClr>
                  </a:outerShdw>
                </a:effectLst>
              </a:rPr>
              <a:t>、最优子结构</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如果一个问题的最优解包含其子问题的最优解，则称此问题具有最优子结构性质。</a:t>
            </a:r>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贪心算法设计过程</a:t>
            </a:r>
            <a:endParaRPr lang="zh-CN" altLang="en-US">
              <a:sym typeface="+mn-ea"/>
            </a:endParaRPr>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en-US" altLang="zh-CN" dirty="0" smtClean="0">
                <a:solidFill>
                  <a:schemeClr val="tx1"/>
                </a:solidFill>
                <a:effectLst>
                  <a:outerShdw blurRad="38100" dist="19050" dir="2700000" algn="tl" rotWithShape="0">
                    <a:schemeClr val="dk1">
                      <a:alpha val="40000"/>
                    </a:schemeClr>
                  </a:outerShdw>
                </a:effectLst>
              </a:rPr>
              <a:t>1</a:t>
            </a:r>
            <a:r>
              <a:rPr lang="zh-CN" altLang="en-US" dirty="0" smtClean="0">
                <a:solidFill>
                  <a:schemeClr val="tx1"/>
                </a:solidFill>
                <a:effectLst>
                  <a:outerShdw blurRad="38100" dist="19050" dir="2700000" algn="tl" rotWithShape="0">
                    <a:schemeClr val="dk1">
                      <a:alpha val="40000"/>
                    </a:schemeClr>
                  </a:outerShdw>
                </a:effectLst>
              </a:rPr>
              <a:t>、将最优化问题转化为：对其做出一次选择后，只剩下一个子问题需要求解</a:t>
            </a:r>
            <a:endParaRPr lang="zh-CN" altLang="en-US"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2</a:t>
            </a:r>
            <a:r>
              <a:rPr lang="zh-CN" altLang="en-US" dirty="0" smtClean="0">
                <a:solidFill>
                  <a:schemeClr val="tx1"/>
                </a:solidFill>
                <a:effectLst>
                  <a:outerShdw blurRad="38100" dist="19050" dir="2700000" algn="tl" rotWithShape="0">
                    <a:schemeClr val="dk1">
                      <a:alpha val="40000"/>
                    </a:schemeClr>
                  </a:outerShdw>
                </a:effectLst>
              </a:rPr>
              <a:t>、证明做出贪心选择后，原问题总是存在最优解，即贪心选择总是安全的。</a:t>
            </a:r>
            <a:endParaRPr lang="zh-CN" altLang="en-US"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3</a:t>
            </a:r>
            <a:r>
              <a:rPr lang="zh-CN" altLang="en-US" dirty="0" smtClean="0">
                <a:solidFill>
                  <a:schemeClr val="tx1"/>
                </a:solidFill>
                <a:effectLst>
                  <a:outerShdw blurRad="38100" dist="19050" dir="2700000" algn="tl" rotWithShape="0">
                    <a:schemeClr val="dk1">
                      <a:alpha val="40000"/>
                    </a:schemeClr>
                  </a:outerShdw>
                </a:effectLst>
              </a:rPr>
              <a:t>、证明做出贪心选择后，剩余的子问题满足性质：其最优解与贪心选择组合即可得到原问题的最优解，这样就得到了最优子结构</a:t>
            </a:r>
            <a:endParaRPr lang="zh-CN" altLang="en-US" dirty="0" smtClean="0">
              <a:solidFill>
                <a:schemeClr val="tx1"/>
              </a:solidFill>
              <a:effectLst>
                <a:outerShdw blurRad="38100" dist="19050" dir="2700000" algn="tl" rotWithShape="0">
                  <a:schemeClr val="dk1">
                    <a:alpha val="40000"/>
                  </a:schemeClr>
                </a:outerShdw>
              </a:effectLst>
            </a:endParaRPr>
          </a:p>
          <a:p>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但是实际情况中 后两步证明往往会被不由自主地省略</a:t>
            </a:r>
            <a:r>
              <a:rPr lang="en-US" altLang="zh-CN" dirty="0" smtClean="0">
                <a:solidFill>
                  <a:schemeClr val="tx1"/>
                </a:solidFill>
                <a:effectLst>
                  <a:outerShdw blurRad="38100" dist="19050" dir="2700000" algn="tl" rotWithShape="0">
                    <a:schemeClr val="dk1">
                      <a:alpha val="40000"/>
                    </a:schemeClr>
                  </a:outerShdw>
                </a:effectLst>
              </a:rPr>
              <a:t>……</a:t>
            </a:r>
            <a:r>
              <a:rPr lang="zh-CN" altLang="en-US" dirty="0" smtClean="0">
                <a:solidFill>
                  <a:schemeClr val="tx1"/>
                </a:solidFill>
                <a:effectLst>
                  <a:outerShdw blurRad="38100" dist="19050" dir="2700000" algn="tl" rotWithShape="0">
                    <a:schemeClr val="dk1">
                      <a:alpha val="40000"/>
                    </a:schemeClr>
                  </a:outerShdw>
                </a:effectLst>
              </a:rPr>
              <a:t>囧</a:t>
            </a:r>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chemeClr val="tx1"/>
                </a:solidFill>
                <a:effectLst>
                  <a:outerShdw blurRad="38100" dist="19050" dir="2700000" algn="tl" rotWithShape="0">
                    <a:schemeClr val="dk1">
                      <a:alpha val="40000"/>
                    </a:schemeClr>
                  </a:outerShdw>
                </a:effectLst>
                <a:sym typeface="+mn-ea"/>
              </a:rPr>
              <a:t>Huffman</a:t>
            </a:r>
            <a:r>
              <a:rPr lang="zh-CN" altLang="en-US" dirty="0" smtClean="0">
                <a:solidFill>
                  <a:schemeClr val="tx1"/>
                </a:solidFill>
                <a:effectLst>
                  <a:outerShdw blurRad="38100" dist="19050" dir="2700000" algn="tl" rotWithShape="0">
                    <a:schemeClr val="dk1">
                      <a:alpha val="40000"/>
                    </a:schemeClr>
                  </a:outerShdw>
                </a:effectLst>
                <a:sym typeface="+mn-ea"/>
              </a:rPr>
              <a:t>编码</a:t>
            </a:r>
            <a:endParaRPr lang="zh-CN" altLang="en-US">
              <a:sym typeface="+mn-ea"/>
            </a:endParaRPr>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初始序列：</a:t>
            </a:r>
            <a:endParaRPr lang="zh-CN" altLang="en-US" dirty="0" smtClean="0">
              <a:solidFill>
                <a:schemeClr val="tx1"/>
              </a:solidFill>
              <a:effectLst>
                <a:outerShdw blurRad="38100" dist="19050" dir="2700000" algn="tl" rotWithShape="0">
                  <a:schemeClr val="dk1">
                    <a:alpha val="40000"/>
                  </a:schemeClr>
                </a:outerShdw>
              </a:effectLst>
            </a:endParaRPr>
          </a:p>
          <a:p>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数字是权值或者说是出现的频次</a:t>
            </a:r>
            <a:endParaRPr lang="zh-CN" altLang="en-US" dirty="0" smtClean="0">
              <a:solidFill>
                <a:schemeClr val="tx1"/>
              </a:solidFill>
              <a:effectLst>
                <a:outerShdw blurRad="38100" dist="19050" dir="2700000" algn="tl" rotWithShape="0">
                  <a:schemeClr val="dk1">
                    <a:alpha val="40000"/>
                  </a:schemeClr>
                </a:outerShdw>
              </a:effectLst>
            </a:endParaRPr>
          </a:p>
          <a:p>
            <a:endParaRPr lang="en-US" altLang="zh-CN"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Huffman</a:t>
            </a:r>
            <a:r>
              <a:rPr lang="zh-CN" altLang="en-US" dirty="0" smtClean="0">
                <a:solidFill>
                  <a:schemeClr val="tx1"/>
                </a:solidFill>
                <a:effectLst>
                  <a:outerShdw blurRad="38100" dist="19050" dir="2700000" algn="tl" rotWithShape="0">
                    <a:schemeClr val="dk1">
                      <a:alpha val="40000"/>
                    </a:schemeClr>
                  </a:outerShdw>
                </a:effectLst>
              </a:rPr>
              <a:t>树：</a:t>
            </a:r>
            <a:endParaRPr lang="zh-CN" altLang="en-US" dirty="0" smtClean="0">
              <a:solidFill>
                <a:schemeClr val="tx1"/>
              </a:solidFill>
              <a:effectLst>
                <a:outerShdw blurRad="38100" dist="19050" dir="2700000" algn="tl" rotWithShape="0">
                  <a:schemeClr val="dk1">
                    <a:alpha val="40000"/>
                  </a:schemeClr>
                </a:outerShdw>
              </a:effectLst>
            </a:endParaRPr>
          </a:p>
        </p:txBody>
      </p:sp>
      <p:pic>
        <p:nvPicPr>
          <p:cNvPr id="4" name="图片 3"/>
          <p:cNvPicPr>
            <a:picLocks noChangeAspect="1"/>
          </p:cNvPicPr>
          <p:nvPr/>
        </p:nvPicPr>
        <p:blipFill>
          <a:blip r:embed="rId1"/>
          <a:stretch>
            <a:fillRect/>
          </a:stretch>
        </p:blipFill>
        <p:spPr>
          <a:xfrm>
            <a:off x="4895850" y="2338705"/>
            <a:ext cx="2087880" cy="518160"/>
          </a:xfrm>
          <a:prstGeom prst="rect">
            <a:avLst/>
          </a:prstGeom>
        </p:spPr>
      </p:pic>
      <p:pic>
        <p:nvPicPr>
          <p:cNvPr id="5" name="图片 4"/>
          <p:cNvPicPr>
            <a:picLocks noChangeAspect="1"/>
          </p:cNvPicPr>
          <p:nvPr/>
        </p:nvPicPr>
        <p:blipFill>
          <a:blip r:embed="rId2"/>
          <a:stretch>
            <a:fillRect/>
          </a:stretch>
        </p:blipFill>
        <p:spPr>
          <a:xfrm>
            <a:off x="3574415" y="3913505"/>
            <a:ext cx="5319395" cy="21488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二分</a:t>
            </a:r>
            <a:endParaRPr lang="zh-CN" altLang="en-US">
              <a:sym typeface="+mn-ea"/>
            </a:endParaRPr>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如图（红黑可以调换，灵活变通，这里就以图上的情况为例）</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二分往往是用于一个区间（或者序列）</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effectLst>
                  <a:outerShdw blurRad="38100" dist="19050" dir="2700000" algn="tl" rotWithShape="0">
                    <a:schemeClr val="dk1">
                      <a:alpha val="40000"/>
                    </a:schemeClr>
                  </a:outerShdw>
                </a:effectLst>
                <a:sym typeface="+mn-ea"/>
              </a:rPr>
              <a:t>在这里我们不妨说黑线部分的点是不符合目标（题目中定义的情况）的部分，红线是符合目标的部分。</a:t>
            </a:r>
            <a:endParaRPr lang="zh-CN" altLang="en-US" dirty="0" smtClean="0">
              <a:effectLst>
                <a:outerShdw blurRad="38100" dist="19050" dir="2700000" algn="tl" rotWithShape="0">
                  <a:schemeClr val="dk1">
                    <a:alpha val="40000"/>
                  </a:schemeClr>
                </a:outerShdw>
              </a:effectLst>
              <a:sym typeface="+mn-ea"/>
            </a:endParaRPr>
          </a:p>
          <a:p>
            <a:r>
              <a:rPr lang="zh-CN" altLang="en-US" dirty="0" smtClean="0">
                <a:solidFill>
                  <a:schemeClr val="tx1"/>
                </a:solidFill>
                <a:effectLst>
                  <a:outerShdw blurRad="38100" dist="19050" dir="2700000" algn="tl" rotWithShape="0">
                    <a:schemeClr val="dk1">
                      <a:alpha val="40000"/>
                    </a:schemeClr>
                  </a:outerShdw>
                </a:effectLst>
              </a:rPr>
              <a:t>我们要求的往往是红线和黑线的交界处的那个点（一定是如图的情况，黑的一边，红的一边，不存在黑</a:t>
            </a:r>
            <a:r>
              <a:rPr lang="en-US" altLang="zh-CN" dirty="0" smtClean="0">
                <a:solidFill>
                  <a:schemeClr val="tx1"/>
                </a:solidFill>
                <a:effectLst>
                  <a:outerShdw blurRad="38100" dist="19050" dir="2700000" algn="tl" rotWithShape="0">
                    <a:schemeClr val="dk1">
                      <a:alpha val="40000"/>
                    </a:schemeClr>
                  </a:outerShdw>
                </a:effectLst>
              </a:rPr>
              <a:t>-</a:t>
            </a:r>
            <a:r>
              <a:rPr lang="zh-CN" altLang="en-US" dirty="0" smtClean="0">
                <a:solidFill>
                  <a:schemeClr val="tx1"/>
                </a:solidFill>
                <a:effectLst>
                  <a:outerShdw blurRad="38100" dist="19050" dir="2700000" algn="tl" rotWithShape="0">
                    <a:schemeClr val="dk1">
                      <a:alpha val="40000"/>
                    </a:schemeClr>
                  </a:outerShdw>
                </a:effectLst>
              </a:rPr>
              <a:t>红</a:t>
            </a:r>
            <a:r>
              <a:rPr lang="en-US" altLang="zh-CN" dirty="0" smtClean="0">
                <a:solidFill>
                  <a:schemeClr val="tx1"/>
                </a:solidFill>
                <a:effectLst>
                  <a:outerShdw blurRad="38100" dist="19050" dir="2700000" algn="tl" rotWithShape="0">
                    <a:schemeClr val="dk1">
                      <a:alpha val="40000"/>
                    </a:schemeClr>
                  </a:outerShdw>
                </a:effectLst>
              </a:rPr>
              <a:t>-</a:t>
            </a:r>
            <a:r>
              <a:rPr lang="zh-CN" altLang="en-US" dirty="0" smtClean="0">
                <a:solidFill>
                  <a:schemeClr val="tx1"/>
                </a:solidFill>
                <a:effectLst>
                  <a:outerShdw blurRad="38100" dist="19050" dir="2700000" algn="tl" rotWithShape="0">
                    <a:schemeClr val="dk1">
                      <a:alpha val="40000"/>
                    </a:schemeClr>
                  </a:outerShdw>
                </a:effectLst>
              </a:rPr>
              <a:t>黑之类的情况），或者说是可行最小解</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二分的过程可以划分为</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①取区间的中点，判断中点是否符合目标情况</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②符合</a:t>
            </a:r>
            <a:r>
              <a:rPr lang="en-US" altLang="zh-CN" dirty="0" smtClean="0">
                <a:solidFill>
                  <a:schemeClr val="tx1"/>
                </a:solidFill>
                <a:effectLst>
                  <a:outerShdw blurRad="38100" dist="19050" dir="2700000" algn="tl" rotWithShape="0">
                    <a:schemeClr val="dk1">
                      <a:alpha val="40000"/>
                    </a:schemeClr>
                  </a:outerShdw>
                </a:effectLst>
              </a:rPr>
              <a:t>=&gt;</a:t>
            </a:r>
            <a:r>
              <a:rPr lang="zh-CN" altLang="en-US" dirty="0" smtClean="0">
                <a:solidFill>
                  <a:schemeClr val="tx1"/>
                </a:solidFill>
                <a:effectLst>
                  <a:outerShdw blurRad="38100" dist="19050" dir="2700000" algn="tl" rotWithShape="0">
                    <a:schemeClr val="dk1">
                      <a:alpha val="40000"/>
                    </a:schemeClr>
                  </a:outerShdw>
                </a:effectLst>
              </a:rPr>
              <a:t>取左区间，转到①；不符合</a:t>
            </a:r>
            <a:r>
              <a:rPr lang="en-US" altLang="zh-CN" dirty="0" smtClean="0">
                <a:solidFill>
                  <a:schemeClr val="tx1"/>
                </a:solidFill>
                <a:effectLst>
                  <a:outerShdw blurRad="38100" dist="19050" dir="2700000" algn="tl" rotWithShape="0">
                    <a:schemeClr val="dk1">
                      <a:alpha val="40000"/>
                    </a:schemeClr>
                  </a:outerShdw>
                </a:effectLst>
              </a:rPr>
              <a:t>=&gt;</a:t>
            </a:r>
            <a:r>
              <a:rPr lang="zh-CN" altLang="en-US" dirty="0" smtClean="0">
                <a:solidFill>
                  <a:schemeClr val="tx1"/>
                </a:solidFill>
                <a:effectLst>
                  <a:outerShdw blurRad="38100" dist="19050" dir="2700000" algn="tl" rotWithShape="0">
                    <a:schemeClr val="dk1">
                      <a:alpha val="40000"/>
                    </a:schemeClr>
                  </a:outerShdw>
                </a:effectLst>
              </a:rPr>
              <a:t>取右区间，转到①。</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③区间已经退成一个点，</a:t>
            </a:r>
            <a:r>
              <a:rPr lang="en-US" altLang="zh-CN" dirty="0" smtClean="0">
                <a:solidFill>
                  <a:schemeClr val="tx1"/>
                </a:solidFill>
                <a:effectLst>
                  <a:outerShdw blurRad="38100" dist="19050" dir="2700000" algn="tl" rotWithShape="0">
                    <a:schemeClr val="dk1">
                      <a:alpha val="40000"/>
                    </a:schemeClr>
                  </a:outerShdw>
                </a:effectLst>
              </a:rPr>
              <a:t>get</a:t>
            </a:r>
            <a:endParaRPr lang="en-US" altLang="zh-CN" dirty="0" smtClean="0">
              <a:solidFill>
                <a:schemeClr val="tx1"/>
              </a:solidFill>
              <a:effectLst>
                <a:outerShdw blurRad="38100" dist="19050" dir="2700000" algn="tl" rotWithShape="0">
                  <a:schemeClr val="dk1">
                    <a:alpha val="40000"/>
                  </a:schemeClr>
                </a:outerShdw>
              </a:effectLst>
            </a:endParaRPr>
          </a:p>
          <a:p>
            <a:pPr marL="0" indent="0">
              <a:buNone/>
            </a:pPr>
            <a:endParaRPr lang="zh-CN" altLang="en-US" dirty="0" smtClean="0">
              <a:solidFill>
                <a:schemeClr val="tx1"/>
              </a:solidFill>
              <a:effectLst>
                <a:outerShdw blurRad="38100" dist="19050" dir="2700000" algn="tl" rotWithShape="0">
                  <a:schemeClr val="dk1">
                    <a:alpha val="40000"/>
                  </a:schemeClr>
                </a:outerShdw>
              </a:effectLst>
            </a:endParaRPr>
          </a:p>
        </p:txBody>
      </p:sp>
      <p:pic>
        <p:nvPicPr>
          <p:cNvPr id="5" name="图片 4"/>
          <p:cNvPicPr>
            <a:picLocks noChangeAspect="1"/>
          </p:cNvPicPr>
          <p:nvPr/>
        </p:nvPicPr>
        <p:blipFill>
          <a:blip r:embed="rId1"/>
          <a:stretch>
            <a:fillRect/>
          </a:stretch>
        </p:blipFill>
        <p:spPr>
          <a:xfrm>
            <a:off x="4736465" y="931545"/>
            <a:ext cx="4260215" cy="922020"/>
          </a:xfrm>
          <a:prstGeom prst="rect">
            <a:avLst/>
          </a:prstGeom>
        </p:spPr>
      </p:pic>
      <p:pic>
        <p:nvPicPr>
          <p:cNvPr id="6" name="图片 5"/>
          <p:cNvPicPr>
            <a:picLocks noChangeAspect="1"/>
          </p:cNvPicPr>
          <p:nvPr/>
        </p:nvPicPr>
        <p:blipFill>
          <a:blip r:embed="rId2"/>
          <a:stretch>
            <a:fillRect/>
          </a:stretch>
        </p:blipFill>
        <p:spPr>
          <a:xfrm>
            <a:off x="9244330" y="4474845"/>
            <a:ext cx="2628900" cy="609600"/>
          </a:xfrm>
          <a:prstGeom prst="rect">
            <a:avLst/>
          </a:prstGeom>
        </p:spPr>
      </p:pic>
      <p:pic>
        <p:nvPicPr>
          <p:cNvPr id="7" name="图片 6"/>
          <p:cNvPicPr>
            <a:picLocks noChangeAspect="1"/>
          </p:cNvPicPr>
          <p:nvPr/>
        </p:nvPicPr>
        <p:blipFill>
          <a:blip r:embed="rId3"/>
          <a:stretch>
            <a:fillRect/>
          </a:stretch>
        </p:blipFill>
        <p:spPr>
          <a:xfrm>
            <a:off x="9244330" y="5380990"/>
            <a:ext cx="2461260" cy="3962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二分查找</a:t>
            </a:r>
            <a:endParaRPr lang="zh-CN" altLang="en-US">
              <a:sym typeface="+mn-ea"/>
            </a:endParaRPr>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如图</a:t>
            </a:r>
            <a:endParaRPr lang="en-US" altLang="zh-CN" dirty="0" smtClean="0">
              <a:solidFill>
                <a:schemeClr val="tx1"/>
              </a:solidFill>
              <a:effectLst>
                <a:outerShdw blurRad="38100" dist="19050" dir="2700000" algn="tl" rotWithShape="0">
                  <a:schemeClr val="dk1">
                    <a:alpha val="40000"/>
                  </a:schemeClr>
                </a:outerShdw>
              </a:effectLst>
            </a:endParaRPr>
          </a:p>
          <a:p>
            <a:pPr marL="0" indent="0">
              <a:buNone/>
            </a:pPr>
            <a:endParaRPr lang="zh-CN" altLang="en-US" dirty="0" smtClean="0">
              <a:solidFill>
                <a:schemeClr val="tx1"/>
              </a:solidFill>
              <a:effectLst>
                <a:outerShdw blurRad="38100" dist="19050" dir="2700000" algn="tl" rotWithShape="0">
                  <a:schemeClr val="dk1">
                    <a:alpha val="40000"/>
                  </a:schemeClr>
                </a:outerShdw>
              </a:effectLst>
            </a:endParaRPr>
          </a:p>
        </p:txBody>
      </p:sp>
      <p:pic>
        <p:nvPicPr>
          <p:cNvPr id="6" name="图片 5" descr="图片2"/>
          <p:cNvPicPr>
            <a:picLocks noChangeAspect="1"/>
          </p:cNvPicPr>
          <p:nvPr/>
        </p:nvPicPr>
        <p:blipFill>
          <a:blip r:embed="rId1"/>
          <a:stretch>
            <a:fillRect/>
          </a:stretch>
        </p:blipFill>
        <p:spPr>
          <a:xfrm>
            <a:off x="3503295" y="621030"/>
            <a:ext cx="5408930" cy="59664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二分查找</a:t>
            </a:r>
            <a:endParaRPr lang="zh-CN" altLang="en-US">
              <a:sym typeface="+mn-ea"/>
            </a:endParaRPr>
          </a:p>
        </p:txBody>
      </p:sp>
      <p:sp>
        <p:nvSpPr>
          <p:cNvPr id="3" name="内容占位符 2"/>
          <p:cNvSpPr>
            <a:spLocks noGrp="1"/>
          </p:cNvSpPr>
          <p:nvPr>
            <p:ph idx="1"/>
          </p:nvPr>
        </p:nvSpPr>
        <p:spPr/>
        <p:txBody>
          <a:bodyPr>
            <a:normAutofit/>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以</a:t>
            </a:r>
            <a:r>
              <a:rPr lang="en-US" altLang="zh-CN" dirty="0" smtClean="0">
                <a:solidFill>
                  <a:schemeClr val="tx1"/>
                </a:solidFill>
                <a:effectLst>
                  <a:outerShdw blurRad="38100" dist="19050" dir="2700000" algn="tl" rotWithShape="0">
                    <a:schemeClr val="dk1">
                      <a:alpha val="40000"/>
                    </a:schemeClr>
                  </a:outerShdw>
                </a:effectLst>
              </a:rPr>
              <a:t>2</a:t>
            </a:r>
            <a:r>
              <a:rPr lang="zh-CN" altLang="en-US" dirty="0" smtClean="0">
                <a:solidFill>
                  <a:schemeClr val="tx1"/>
                </a:solidFill>
                <a:effectLst>
                  <a:outerShdw blurRad="38100" dist="19050" dir="2700000" algn="tl" rotWithShape="0">
                    <a:schemeClr val="dk1">
                      <a:alpha val="40000"/>
                    </a:schemeClr>
                  </a:outerShdw>
                </a:effectLst>
              </a:rPr>
              <a:t>、</a:t>
            </a:r>
            <a:r>
              <a:rPr lang="en-US" altLang="zh-CN" dirty="0" smtClean="0">
                <a:solidFill>
                  <a:schemeClr val="tx1"/>
                </a:solidFill>
                <a:effectLst>
                  <a:outerShdw blurRad="38100" dist="19050" dir="2700000" algn="tl" rotWithShape="0">
                    <a:schemeClr val="dk1">
                      <a:alpha val="40000"/>
                    </a:schemeClr>
                  </a:outerShdw>
                </a:effectLst>
              </a:rPr>
              <a:t>3</a:t>
            </a:r>
            <a:r>
              <a:rPr lang="zh-CN" altLang="en-US" dirty="0" smtClean="0">
                <a:solidFill>
                  <a:schemeClr val="tx1"/>
                </a:solidFill>
                <a:effectLst>
                  <a:outerShdw blurRad="38100" dist="19050" dir="2700000" algn="tl" rotWithShape="0">
                    <a:schemeClr val="dk1">
                      <a:alpha val="40000"/>
                    </a:schemeClr>
                  </a:outerShdw>
                </a:effectLst>
              </a:rPr>
              <a:t>、</a:t>
            </a:r>
            <a:r>
              <a:rPr lang="en-US" altLang="zh-CN" dirty="0" smtClean="0">
                <a:solidFill>
                  <a:schemeClr val="tx1"/>
                </a:solidFill>
                <a:effectLst>
                  <a:outerShdw blurRad="38100" dist="19050" dir="2700000" algn="tl" rotWithShape="0">
                    <a:schemeClr val="dk1">
                      <a:alpha val="40000"/>
                    </a:schemeClr>
                  </a:outerShdw>
                </a:effectLst>
              </a:rPr>
              <a:t>5</a:t>
            </a:r>
            <a:r>
              <a:rPr lang="zh-CN" altLang="en-US" dirty="0" smtClean="0">
                <a:solidFill>
                  <a:schemeClr val="tx1"/>
                </a:solidFill>
                <a:effectLst>
                  <a:outerShdw blurRad="38100" dist="19050" dir="2700000" algn="tl" rotWithShape="0">
                    <a:schemeClr val="dk1">
                      <a:alpha val="40000"/>
                    </a:schemeClr>
                  </a:outerShdw>
                </a:effectLst>
              </a:rPr>
              <a:t>、</a:t>
            </a:r>
            <a:r>
              <a:rPr lang="en-US" altLang="zh-CN" dirty="0" smtClean="0">
                <a:solidFill>
                  <a:schemeClr val="tx1"/>
                </a:solidFill>
                <a:effectLst>
                  <a:outerShdw blurRad="38100" dist="19050" dir="2700000" algn="tl" rotWithShape="0">
                    <a:schemeClr val="dk1">
                      <a:alpha val="40000"/>
                    </a:schemeClr>
                  </a:outerShdw>
                </a:effectLst>
              </a:rPr>
              <a:t>7</a:t>
            </a:r>
            <a:r>
              <a:rPr lang="zh-CN" altLang="en-US" dirty="0" smtClean="0">
                <a:solidFill>
                  <a:schemeClr val="tx1"/>
                </a:solidFill>
                <a:effectLst>
                  <a:outerShdw blurRad="38100" dist="19050" dir="2700000" algn="tl" rotWithShape="0">
                    <a:schemeClr val="dk1">
                      <a:alpha val="40000"/>
                    </a:schemeClr>
                  </a:outerShdw>
                </a:effectLst>
              </a:rPr>
              <a:t>、</a:t>
            </a:r>
            <a:r>
              <a:rPr lang="en-US" altLang="zh-CN" dirty="0" smtClean="0">
                <a:solidFill>
                  <a:schemeClr val="tx1"/>
                </a:solidFill>
                <a:effectLst>
                  <a:outerShdw blurRad="38100" dist="19050" dir="2700000" algn="tl" rotWithShape="0">
                    <a:schemeClr val="dk1">
                      <a:alpha val="40000"/>
                    </a:schemeClr>
                  </a:outerShdw>
                </a:effectLst>
              </a:rPr>
              <a:t>10		find(7)</a:t>
            </a:r>
            <a:r>
              <a:rPr lang="zh-CN" altLang="en-US" dirty="0" smtClean="0">
                <a:solidFill>
                  <a:schemeClr val="tx1"/>
                </a:solidFill>
                <a:effectLst>
                  <a:outerShdw blurRad="38100" dist="19050" dir="2700000" algn="tl" rotWithShape="0">
                    <a:schemeClr val="dk1">
                      <a:alpha val="40000"/>
                    </a:schemeClr>
                  </a:outerShdw>
                </a:effectLst>
              </a:rPr>
              <a:t>为例</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 </a:t>
            </a:r>
            <a:r>
              <a:rPr lang="en-US" altLang="zh-CN" dirty="0" smtClean="0">
                <a:solidFill>
                  <a:schemeClr val="tx1"/>
                </a:solidFill>
                <a:effectLst>
                  <a:outerShdw blurRad="38100" dist="19050" dir="2700000" algn="tl" rotWithShape="0">
                    <a:schemeClr val="dk1">
                      <a:alpha val="40000"/>
                    </a:schemeClr>
                  </a:outerShdw>
                </a:effectLst>
              </a:rPr>
              <a:t>L	R	P</a:t>
            </a:r>
            <a:endParaRPr lang="en-US" altLang="zh-CN"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0	6	3</a:t>
            </a:r>
            <a:endParaRPr lang="en-US" altLang="zh-CN"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3	6   3</a:t>
            </a:r>
            <a:endParaRPr lang="en-US" altLang="zh-CN"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           1</a:t>
            </a:r>
            <a:endParaRPr lang="en-US" altLang="zh-CN"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           4</a:t>
            </a:r>
            <a:endParaRPr lang="en-US" altLang="zh-CN" dirty="0" smtClean="0">
              <a:solidFill>
                <a:schemeClr val="tx1"/>
              </a:solidFill>
              <a:effectLst>
                <a:outerShdw blurRad="38100" dist="19050" dir="2700000" algn="tl" rotWithShape="0">
                  <a:schemeClr val="dk1">
                    <a:alpha val="40000"/>
                  </a:schemeClr>
                </a:outerShdw>
              </a:effectLst>
            </a:endParaRPr>
          </a:p>
          <a:p>
            <a:pPr marL="0" indent="0">
              <a:buNone/>
            </a:pPr>
            <a:endParaRPr lang="zh-CN" altLang="en-US" dirty="0" smtClean="0">
              <a:solidFill>
                <a:schemeClr val="tx1"/>
              </a:solidFill>
              <a:effectLst>
                <a:outerShdw blurRad="38100" dist="19050" dir="2700000" algn="tl" rotWithShape="0">
                  <a:schemeClr val="dk1">
                    <a:alpha val="40000"/>
                  </a:schemeClr>
                </a:outerShdw>
              </a:effectLst>
            </a:endParaRPr>
          </a:p>
        </p:txBody>
      </p:sp>
      <p:pic>
        <p:nvPicPr>
          <p:cNvPr id="6" name="图片 5" descr="图片2"/>
          <p:cNvPicPr>
            <a:picLocks noChangeAspect="1"/>
          </p:cNvPicPr>
          <p:nvPr/>
        </p:nvPicPr>
        <p:blipFill>
          <a:blip r:embed="rId1"/>
          <a:stretch>
            <a:fillRect/>
          </a:stretch>
        </p:blipFill>
        <p:spPr>
          <a:xfrm>
            <a:off x="6724650" y="1437640"/>
            <a:ext cx="4447540" cy="490601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二分答案</a:t>
            </a:r>
            <a:endParaRPr lang="zh-CN" altLang="en-US">
              <a:sym typeface="+mn-ea"/>
            </a:endParaRPr>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和二分查找有点像</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题目往往要求找到一个临界值</a:t>
            </a:r>
            <a:r>
              <a:rPr lang="en-US" altLang="zh-CN" dirty="0" smtClean="0">
                <a:solidFill>
                  <a:schemeClr val="tx1"/>
                </a:solidFill>
                <a:effectLst>
                  <a:outerShdw blurRad="38100" dist="19050" dir="2700000" algn="tl" rotWithShape="0">
                    <a:schemeClr val="dk1">
                      <a:alpha val="40000"/>
                    </a:schemeClr>
                  </a:outerShdw>
                </a:effectLst>
              </a:rPr>
              <a:t>	</a:t>
            </a:r>
            <a:r>
              <a:rPr lang="zh-CN" altLang="en-US" dirty="0" smtClean="0">
                <a:solidFill>
                  <a:schemeClr val="tx1"/>
                </a:solidFill>
                <a:effectLst>
                  <a:outerShdw blurRad="38100" dist="19050" dir="2700000" algn="tl" rotWithShape="0">
                    <a:schemeClr val="dk1">
                      <a:alpha val="40000"/>
                    </a:schemeClr>
                  </a:outerShdw>
                </a:effectLst>
              </a:rPr>
              <a:t>最优解</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而我们可以根据题意确定这个最优解的大小范围</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在这个范围内</a:t>
            </a:r>
            <a:r>
              <a:rPr lang="en-US" altLang="zh-CN" dirty="0" smtClean="0">
                <a:solidFill>
                  <a:schemeClr val="tx1"/>
                </a:solidFill>
                <a:effectLst>
                  <a:outerShdw blurRad="38100" dist="19050" dir="2700000" algn="tl" rotWithShape="0">
                    <a:schemeClr val="dk1">
                      <a:alpha val="40000"/>
                    </a:schemeClr>
                  </a:outerShdw>
                </a:effectLst>
              </a:rPr>
              <a:t>	</a:t>
            </a:r>
            <a:r>
              <a:rPr lang="zh-CN" altLang="en-US" dirty="0" smtClean="0">
                <a:solidFill>
                  <a:schemeClr val="tx1"/>
                </a:solidFill>
                <a:effectLst>
                  <a:outerShdw blurRad="38100" dist="19050" dir="2700000" algn="tl" rotWithShape="0">
                    <a:schemeClr val="dk1">
                      <a:alpha val="40000"/>
                    </a:schemeClr>
                  </a:outerShdw>
                </a:effectLst>
              </a:rPr>
              <a:t>临界值的一边都是可行解</a:t>
            </a:r>
            <a:r>
              <a:rPr lang="en-US" altLang="zh-CN" dirty="0" smtClean="0">
                <a:solidFill>
                  <a:schemeClr val="tx1"/>
                </a:solidFill>
                <a:effectLst>
                  <a:outerShdw blurRad="38100" dist="19050" dir="2700000" algn="tl" rotWithShape="0">
                    <a:schemeClr val="dk1">
                      <a:alpha val="40000"/>
                    </a:schemeClr>
                  </a:outerShdw>
                </a:effectLst>
              </a:rPr>
              <a:t>	</a:t>
            </a:r>
            <a:r>
              <a:rPr lang="zh-CN" altLang="en-US" dirty="0" smtClean="0">
                <a:solidFill>
                  <a:schemeClr val="tx1"/>
                </a:solidFill>
                <a:effectLst>
                  <a:outerShdw blurRad="38100" dist="19050" dir="2700000" algn="tl" rotWithShape="0">
                    <a:schemeClr val="dk1">
                      <a:alpha val="40000"/>
                    </a:schemeClr>
                  </a:outerShdw>
                </a:effectLst>
              </a:rPr>
              <a:t>另一边都不可行</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我们对这个区间范围进行二分</a:t>
            </a:r>
            <a:r>
              <a:rPr lang="en-US" altLang="zh-CN" dirty="0" smtClean="0">
                <a:solidFill>
                  <a:schemeClr val="tx1"/>
                </a:solidFill>
                <a:effectLst>
                  <a:outerShdw blurRad="38100" dist="19050" dir="2700000" algn="tl" rotWithShape="0">
                    <a:schemeClr val="dk1">
                      <a:alpha val="40000"/>
                    </a:schemeClr>
                  </a:outerShdw>
                </a:effectLst>
              </a:rPr>
              <a:t>		</a:t>
            </a:r>
            <a:r>
              <a:rPr lang="zh-CN" altLang="en-US" dirty="0" smtClean="0">
                <a:solidFill>
                  <a:schemeClr val="tx1"/>
                </a:solidFill>
                <a:effectLst>
                  <a:outerShdw blurRad="38100" dist="19050" dir="2700000" algn="tl" rotWithShape="0">
                    <a:schemeClr val="dk1">
                      <a:alpha val="40000"/>
                    </a:schemeClr>
                  </a:outerShdw>
                </a:effectLst>
              </a:rPr>
              <a:t>然后将每一步二分的答案代入原题中检验看是否符合题意</a:t>
            </a:r>
            <a:r>
              <a:rPr lang="en-US" altLang="zh-CN" dirty="0" smtClean="0">
                <a:solidFill>
                  <a:schemeClr val="tx1"/>
                </a:solidFill>
                <a:effectLst>
                  <a:outerShdw blurRad="38100" dist="19050" dir="2700000" algn="tl" rotWithShape="0">
                    <a:schemeClr val="dk1">
                      <a:alpha val="40000"/>
                    </a:schemeClr>
                  </a:outerShdw>
                </a:effectLst>
              </a:rPr>
              <a:t>	</a:t>
            </a:r>
            <a:r>
              <a:rPr lang="zh-CN" altLang="en-US" dirty="0" smtClean="0">
                <a:solidFill>
                  <a:schemeClr val="tx1"/>
                </a:solidFill>
                <a:effectLst>
                  <a:outerShdw blurRad="38100" dist="19050" dir="2700000" algn="tl" rotWithShape="0">
                    <a:schemeClr val="dk1">
                      <a:alpha val="40000"/>
                    </a:schemeClr>
                  </a:outerShdw>
                </a:effectLst>
              </a:rPr>
              <a:t>再进行区间调整</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最优解问题</a:t>
            </a:r>
            <a:r>
              <a:rPr lang="en-US" altLang="zh-CN" dirty="0" smtClean="0">
                <a:solidFill>
                  <a:schemeClr val="tx1"/>
                </a:solidFill>
                <a:effectLst>
                  <a:outerShdw blurRad="38100" dist="19050" dir="2700000" algn="tl" rotWithShape="0">
                    <a:schemeClr val="dk1">
                      <a:alpha val="40000"/>
                    </a:schemeClr>
                  </a:outerShdw>
                </a:effectLst>
              </a:rPr>
              <a:t>=&gt;</a:t>
            </a:r>
            <a:r>
              <a:rPr lang="zh-CN" altLang="en-US" dirty="0" smtClean="0">
                <a:solidFill>
                  <a:schemeClr val="tx1"/>
                </a:solidFill>
                <a:effectLst>
                  <a:outerShdw blurRad="38100" dist="19050" dir="2700000" algn="tl" rotWithShape="0">
                    <a:schemeClr val="dk1">
                      <a:alpha val="40000"/>
                    </a:schemeClr>
                  </a:outerShdw>
                </a:effectLst>
              </a:rPr>
              <a:t>判定性问题</a:t>
            </a:r>
            <a:r>
              <a:rPr lang="en-US" altLang="zh-CN" dirty="0" smtClean="0">
                <a:solidFill>
                  <a:schemeClr val="tx1"/>
                </a:solidFill>
                <a:effectLst>
                  <a:outerShdw blurRad="38100" dist="19050" dir="2700000" algn="tl" rotWithShape="0">
                    <a:schemeClr val="dk1">
                      <a:alpha val="40000"/>
                    </a:schemeClr>
                  </a:outerShdw>
                </a:effectLst>
              </a:rPr>
              <a:t>	</a:t>
            </a:r>
            <a:endParaRPr lang="zh-CN" altLang="en-US" dirty="0" smtClean="0">
              <a:solidFill>
                <a:schemeClr val="tx1"/>
              </a:solidFill>
              <a:effectLst>
                <a:outerShdw blurRad="38100" dist="19050" dir="2700000" algn="tl" rotWithShape="0">
                  <a:schemeClr val="dk1">
                    <a:alpha val="40000"/>
                  </a:schemeClr>
                </a:outerShdw>
              </a:effectLst>
            </a:endParaRPr>
          </a:p>
          <a:p>
            <a:pPr marL="0" indent="0">
              <a:buNone/>
            </a:pPr>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三分</a:t>
            </a:r>
            <a:endParaRPr lang="zh-CN" altLang="en-US">
              <a:sym typeface="+mn-ea"/>
            </a:endParaRPr>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在二分查找的基础上，在右区间（或左区间）再进行一次二分，这样的查找算法称为三分查找，也就是三分法。</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三分查找通常用来迅速确定最值。</a:t>
            </a:r>
            <a:endParaRPr lang="zh-CN" altLang="en-US" dirty="0" smtClean="0">
              <a:solidFill>
                <a:schemeClr val="tx1"/>
              </a:solidFill>
              <a:effectLst>
                <a:outerShdw blurRad="38100" dist="19050" dir="2700000" algn="tl" rotWithShape="0">
                  <a:schemeClr val="dk1">
                    <a:alpha val="40000"/>
                  </a:schemeClr>
                </a:outerShdw>
              </a:effectLst>
            </a:endParaRPr>
          </a:p>
          <a:p>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二分查找所面向的搜索序列的要求是：具有单调性（不一定严格单调）；没有单调性的序列不是使用二分查找。</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与二分查找不同的是，三分法所面向的搜索序列的要求是：序列为一个凸性函数。通俗来讲，就是该序列必须有一个最大值（或最小值），在最大值（最小值）的左侧序列，必须满足不严格单调递增（递减），右侧序列必须满足不严格单调递减（递增）。</a:t>
            </a:r>
            <a:endParaRPr lang="zh-CN" altLang="en-US" dirty="0" smtClean="0">
              <a:solidFill>
                <a:schemeClr val="tx1"/>
              </a:solidFill>
              <a:effectLst>
                <a:outerShdw blurRad="38100" dist="19050" dir="2700000" algn="tl" rotWithShape="0">
                  <a:schemeClr val="dk1">
                    <a:alpha val="40000"/>
                  </a:schemeClr>
                </a:outerShdw>
              </a:effectLst>
            </a:endParaRPr>
          </a:p>
          <a:p>
            <a:endParaRPr lang="en-US" altLang="zh-CN" dirty="0" smtClean="0">
              <a:solidFill>
                <a:schemeClr val="tx1"/>
              </a:solidFill>
              <a:effectLst>
                <a:outerShdw blurRad="38100" dist="19050" dir="2700000" algn="tl" rotWithShape="0">
                  <a:schemeClr val="dk1">
                    <a:alpha val="40000"/>
                  </a:schemeClr>
                </a:outerShdw>
              </a:effectLst>
            </a:endParaRPr>
          </a:p>
          <a:p>
            <a:pPr marL="0" indent="0">
              <a:buNone/>
            </a:pPr>
            <a:endParaRPr lang="zh-CN" altLang="en-US" dirty="0" smtClean="0">
              <a:solidFill>
                <a:schemeClr val="tx1"/>
              </a:solidFill>
              <a:effectLst>
                <a:outerShdw blurRad="38100" dist="19050" dir="2700000" algn="tl" rotWithShape="0">
                  <a:schemeClr val="dk1">
                    <a:alpha val="40000"/>
                  </a:schemeClr>
                </a:outerShdw>
              </a:effectLst>
            </a:endParaRPr>
          </a:p>
        </p:txBody>
      </p:sp>
      <p:pic>
        <p:nvPicPr>
          <p:cNvPr id="4" name="图片 3"/>
          <p:cNvPicPr>
            <a:picLocks noChangeAspect="1"/>
          </p:cNvPicPr>
          <p:nvPr/>
        </p:nvPicPr>
        <p:blipFill>
          <a:blip r:embed="rId1"/>
          <a:stretch>
            <a:fillRect/>
          </a:stretch>
        </p:blipFill>
        <p:spPr>
          <a:xfrm>
            <a:off x="7155180" y="188595"/>
            <a:ext cx="2894965" cy="202120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三分过程</a:t>
            </a:r>
            <a:endParaRPr lang="zh-CN" altLang="en-US">
              <a:sym typeface="+mn-ea"/>
            </a:endParaRPr>
          </a:p>
        </p:txBody>
      </p:sp>
      <p:sp>
        <p:nvSpPr>
          <p:cNvPr id="3" name="内容占位符 2"/>
          <p:cNvSpPr>
            <a:spLocks noGrp="1"/>
          </p:cNvSpPr>
          <p:nvPr>
            <p:ph idx="1"/>
          </p:nvPr>
        </p:nvSpPr>
        <p:spPr/>
        <p:txBody>
          <a:bodyPr>
            <a:normAutofit/>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（1）、与二分法类似，先取整个区间的中间值mid。</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（2）、再取右侧区间的中间值midmid，从而把区间分为三个小区间。</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 （3）、我们mid比midmid更靠近最值，我们就舍弃右区间，否则我们舍弃左区间。</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比较mid与midmid谁最靠近最值，只需要确定mid所在的函数值与midmid所在的函数值的大小。当最值为最大值时，mid与midmid中较大的那个自然更为靠近最值。最值为最小值时同理。 </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（4）、重复（1）（2）（3）直至找到最值。</a:t>
            </a:r>
            <a:endParaRPr lang="zh-CN" altLang="en-US"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eps 1e-9</a:t>
            </a:r>
            <a:endParaRPr lang="en-US" altLang="zh-CN" dirty="0" smtClean="0">
              <a:solidFill>
                <a:schemeClr val="tx1"/>
              </a:solidFill>
              <a:effectLst>
                <a:outerShdw blurRad="38100" dist="19050" dir="2700000" algn="tl" rotWithShape="0">
                  <a:schemeClr val="dk1">
                    <a:alpha val="40000"/>
                  </a:schemeClr>
                </a:outerShdw>
              </a:effectLst>
            </a:endParaRPr>
          </a:p>
          <a:p>
            <a:endParaRPr lang="en-US" altLang="zh-CN" dirty="0" smtClean="0">
              <a:solidFill>
                <a:schemeClr val="tx1"/>
              </a:solidFill>
              <a:effectLst>
                <a:outerShdw blurRad="38100" dist="19050" dir="2700000" algn="tl" rotWithShape="0">
                  <a:schemeClr val="dk1">
                    <a:alpha val="40000"/>
                  </a:schemeClr>
                </a:outerShdw>
              </a:effectLst>
            </a:endParaRPr>
          </a:p>
          <a:p>
            <a:pPr marL="0" indent="0">
              <a:buNone/>
            </a:pPr>
            <a:endParaRPr lang="zh-CN" altLang="en-US" dirty="0" smtClean="0">
              <a:solidFill>
                <a:schemeClr val="tx1"/>
              </a:solidFill>
              <a:effectLst>
                <a:outerShdw blurRad="38100" dist="19050" dir="2700000" algn="tl" rotWithShape="0">
                  <a:schemeClr val="dk1">
                    <a:alpha val="40000"/>
                  </a:schemeClr>
                </a:outerShdw>
              </a:effectLst>
            </a:endParaRPr>
          </a:p>
        </p:txBody>
      </p:sp>
      <p:pic>
        <p:nvPicPr>
          <p:cNvPr id="4" name="图片 3"/>
          <p:cNvPicPr>
            <a:picLocks noChangeAspect="1"/>
          </p:cNvPicPr>
          <p:nvPr/>
        </p:nvPicPr>
        <p:blipFill>
          <a:blip r:embed="rId1"/>
          <a:stretch>
            <a:fillRect/>
          </a:stretch>
        </p:blipFill>
        <p:spPr>
          <a:xfrm>
            <a:off x="7155180" y="188595"/>
            <a:ext cx="2894965" cy="202120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离散化</a:t>
            </a:r>
            <a:endParaRPr lang="zh-CN" altLang="en-US">
              <a:sym typeface="+mn-ea"/>
            </a:endParaRPr>
          </a:p>
        </p:txBody>
      </p:sp>
      <p:sp>
        <p:nvSpPr>
          <p:cNvPr id="3" name="内容占位符 2"/>
          <p:cNvSpPr>
            <a:spLocks noGrp="1"/>
          </p:cNvSpPr>
          <p:nvPr>
            <p:ph idx="1"/>
          </p:nvPr>
        </p:nvSpPr>
        <p:spPr/>
        <p:txBody>
          <a:bodyPr>
            <a:normAutofit lnSpcReduction="2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对于一个序列 其元素之间的差很大 影响到了我们的处理过程</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我们只关心它的相对大小关系 而对其绝对大小不关心</a:t>
            </a:r>
            <a:endParaRPr lang="zh-CN" altLang="en-US"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1	35679	65456498465165		165498456165455</a:t>
            </a:r>
            <a:endParaRPr lang="en-US" altLang="zh-CN" dirty="0" smtClean="0">
              <a:solidFill>
                <a:schemeClr val="tx1"/>
              </a:solidFill>
              <a:effectLst>
                <a:outerShdw blurRad="38100" dist="19050" dir="2700000" algn="tl" rotWithShape="0">
                  <a:schemeClr val="dk1">
                    <a:alpha val="40000"/>
                  </a:schemeClr>
                </a:outerShdw>
              </a:effectLst>
            </a:endParaRPr>
          </a:p>
          <a:p>
            <a:endParaRPr lang="en-US" altLang="zh-CN" dirty="0" smtClean="0">
              <a:effectLst>
                <a:outerShdw blurRad="38100" dist="19050" dir="2700000" algn="tl" rotWithShape="0">
                  <a:schemeClr val="dk1">
                    <a:alpha val="40000"/>
                  </a:schemeClr>
                </a:outerShdw>
              </a:effectLst>
              <a:sym typeface="+mn-ea"/>
            </a:endParaRPr>
          </a:p>
          <a:p>
            <a:r>
              <a:rPr lang="en-US" altLang="zh-CN" dirty="0" smtClean="0">
                <a:effectLst>
                  <a:outerShdw blurRad="38100" dist="19050" dir="2700000" algn="tl" rotWithShape="0">
                    <a:schemeClr val="dk1">
                      <a:alpha val="40000"/>
                    </a:schemeClr>
                  </a:outerShdw>
                </a:effectLst>
                <a:sym typeface="+mn-ea"/>
              </a:rPr>
              <a:t>1	2			3							4</a:t>
            </a:r>
            <a:endParaRPr lang="zh-CN" altLang="en-US" dirty="0" smtClean="0">
              <a:solidFill>
                <a:schemeClr val="tx1"/>
              </a:solidFill>
              <a:effectLst>
                <a:outerShdw blurRad="38100" dist="19050" dir="2700000" algn="tl" rotWithShape="0">
                  <a:schemeClr val="dk1">
                    <a:alpha val="40000"/>
                  </a:schemeClr>
                </a:outerShdw>
              </a:effectLst>
            </a:endParaRPr>
          </a:p>
          <a:p>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effectLst>
                  <a:outerShdw blurRad="38100" dist="19050" dir="2700000" algn="tl" rotWithShape="0">
                    <a:schemeClr val="dk1">
                      <a:alpha val="40000"/>
                    </a:schemeClr>
                  </a:outerShdw>
                </a:effectLst>
                <a:sym typeface="+mn-ea"/>
              </a:rPr>
              <a:t>这种思想一般不会单独出现，往往结合其他的算法或者结构出现</a:t>
            </a:r>
            <a:endParaRPr lang="en-US" altLang="zh-CN" dirty="0" smtClean="0">
              <a:solidFill>
                <a:schemeClr val="tx1"/>
              </a:solidFill>
              <a:effectLst>
                <a:outerShdw blurRad="38100" dist="19050" dir="2700000" algn="tl" rotWithShape="0">
                  <a:schemeClr val="dk1">
                    <a:alpha val="40000"/>
                  </a:schemeClr>
                </a:outerShdw>
              </a:effectLst>
            </a:endParaRPr>
          </a:p>
          <a:p>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离散化</a:t>
            </a:r>
            <a:endParaRPr lang="zh-CN" altLang="en-US">
              <a:sym typeface="+mn-ea"/>
            </a:endParaRPr>
          </a:p>
        </p:txBody>
      </p:sp>
      <p:sp>
        <p:nvSpPr>
          <p:cNvPr id="3" name="内容占位符 2"/>
          <p:cNvSpPr>
            <a:spLocks noGrp="1"/>
          </p:cNvSpPr>
          <p:nvPr>
            <p:ph idx="1"/>
          </p:nvPr>
        </p:nvSpPr>
        <p:spPr/>
        <p:txBody>
          <a:bodyPr>
            <a:normAutofit lnSpcReduction="10000"/>
          </a:bodyPr>
          <a:lstStyle/>
          <a:p>
            <a:pPr marL="0" indent="0">
              <a:buNone/>
            </a:pPr>
            <a:endParaRPr lang="en-US" altLang="zh-CN" dirty="0" smtClean="0">
              <a:sym typeface="+mn-ea"/>
            </a:endParaRPr>
          </a:p>
          <a:p>
            <a:r>
              <a:rPr lang="zh-CN" altLang="en-US" dirty="0" smtClean="0">
                <a:solidFill>
                  <a:schemeClr val="tx1"/>
                </a:solidFill>
                <a:effectLst>
                  <a:outerShdw blurRad="38100" dist="19050" dir="2700000" algn="tl" rotWithShape="0">
                    <a:schemeClr val="dk1">
                      <a:alpha val="40000"/>
                    </a:schemeClr>
                  </a:outerShdw>
                </a:effectLst>
              </a:rPr>
              <a:t>比较直观的做法是直接排个序</a:t>
            </a:r>
            <a:endParaRPr lang="zh-CN" altLang="en-US"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然后一个个赋值</a:t>
            </a:r>
            <a:r>
              <a:rPr lang="en-US" altLang="zh-CN" dirty="0" smtClean="0">
                <a:solidFill>
                  <a:schemeClr val="tx1"/>
                </a:solidFill>
                <a:effectLst>
                  <a:outerShdw blurRad="38100" dist="19050" dir="2700000" algn="tl" rotWithShape="0">
                    <a:schemeClr val="dk1">
                      <a:alpha val="40000"/>
                    </a:schemeClr>
                  </a:outerShdw>
                </a:effectLst>
              </a:rPr>
              <a:t>	f(a</a:t>
            </a:r>
            <a:r>
              <a:rPr lang="en-US" altLang="zh-CN" baseline="-25000" dirty="0" smtClean="0">
                <a:solidFill>
                  <a:schemeClr val="tx1"/>
                </a:solidFill>
                <a:effectLst>
                  <a:outerShdw blurRad="38100" dist="19050" dir="2700000" algn="tl" rotWithShape="0">
                    <a:schemeClr val="dk1">
                      <a:alpha val="40000"/>
                    </a:schemeClr>
                  </a:outerShdw>
                </a:effectLst>
              </a:rPr>
              <a:t>i</a:t>
            </a:r>
            <a:r>
              <a:rPr lang="en-US" altLang="zh-CN" dirty="0" smtClean="0">
                <a:solidFill>
                  <a:schemeClr val="tx1"/>
                </a:solidFill>
                <a:effectLst>
                  <a:outerShdw blurRad="38100" dist="19050" dir="2700000" algn="tl" rotWithShape="0">
                    <a:schemeClr val="dk1">
                      <a:alpha val="40000"/>
                    </a:schemeClr>
                  </a:outerShdw>
                </a:effectLst>
              </a:rPr>
              <a:t>)=x</a:t>
            </a:r>
            <a:r>
              <a:rPr lang="en-US" altLang="zh-CN" baseline="-25000" dirty="0" smtClean="0">
                <a:solidFill>
                  <a:schemeClr val="tx1"/>
                </a:solidFill>
                <a:effectLst>
                  <a:outerShdw blurRad="38100" dist="19050" dir="2700000" algn="tl" rotWithShape="0">
                    <a:schemeClr val="dk1">
                      <a:alpha val="40000"/>
                    </a:schemeClr>
                  </a:outerShdw>
                </a:effectLst>
              </a:rPr>
              <a:t>i			</a:t>
            </a:r>
            <a:r>
              <a:rPr lang="en-US" altLang="zh-CN" dirty="0" smtClean="0">
                <a:solidFill>
                  <a:schemeClr val="tx1"/>
                </a:solidFill>
                <a:effectLst>
                  <a:outerShdw blurRad="38100" dist="19050" dir="2700000" algn="tl" rotWithShape="0">
                    <a:schemeClr val="dk1">
                      <a:alpha val="40000"/>
                    </a:schemeClr>
                  </a:outerShdw>
                </a:effectLst>
              </a:rPr>
              <a:t>x</a:t>
            </a:r>
            <a:r>
              <a:rPr lang="en-US" altLang="zh-CN" baseline="-25000" dirty="0" smtClean="0">
                <a:solidFill>
                  <a:schemeClr val="tx1"/>
                </a:solidFill>
                <a:effectLst>
                  <a:outerShdw blurRad="38100" dist="19050" dir="2700000" algn="tl" rotWithShape="0">
                    <a:schemeClr val="dk1">
                      <a:alpha val="40000"/>
                    </a:schemeClr>
                  </a:outerShdw>
                </a:effectLst>
              </a:rPr>
              <a:t>i</a:t>
            </a:r>
            <a:r>
              <a:rPr lang="en-US" altLang="zh-CN" dirty="0" smtClean="0">
                <a:solidFill>
                  <a:schemeClr val="tx1"/>
                </a:solidFill>
                <a:effectLst>
                  <a:outerShdw blurRad="38100" dist="19050" dir="2700000" algn="tl" rotWithShape="0">
                    <a:schemeClr val="dk1">
                      <a:alpha val="40000"/>
                    </a:schemeClr>
                  </a:outerShdw>
                </a:effectLst>
              </a:rPr>
              <a:t>=1,2,3……</a:t>
            </a:r>
            <a:endParaRPr lang="en-US" altLang="zh-CN" dirty="0" smtClean="0">
              <a:solidFill>
                <a:schemeClr val="tx1"/>
              </a:solidFill>
              <a:effectLst>
                <a:outerShdw blurRad="38100" dist="19050" dir="2700000" algn="tl" rotWithShape="0">
                  <a:schemeClr val="dk1">
                    <a:alpha val="40000"/>
                  </a:schemeClr>
                </a:outerShdw>
              </a:effectLst>
            </a:endParaRPr>
          </a:p>
          <a:p>
            <a:r>
              <a:rPr lang="zh-CN" altLang="en-US" dirty="0" smtClean="0">
                <a:solidFill>
                  <a:schemeClr val="tx1"/>
                </a:solidFill>
                <a:effectLst>
                  <a:outerShdw blurRad="38100" dist="19050" dir="2700000" algn="tl" rotWithShape="0">
                    <a:schemeClr val="dk1">
                      <a:alpha val="40000"/>
                    </a:schemeClr>
                  </a:outerShdw>
                </a:effectLst>
              </a:rPr>
              <a:t>离散化后</a:t>
            </a:r>
            <a:endParaRPr lang="zh-CN" altLang="en-US"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f</a:t>
            </a:r>
            <a:r>
              <a:rPr lang="en-US" altLang="zh-CN" baseline="30000" dirty="0" smtClean="0">
                <a:solidFill>
                  <a:schemeClr val="tx1"/>
                </a:solidFill>
                <a:effectLst>
                  <a:outerShdw blurRad="38100" dist="19050" dir="2700000" algn="tl" rotWithShape="0">
                    <a:schemeClr val="dk1">
                      <a:alpha val="40000"/>
                    </a:schemeClr>
                  </a:outerShdw>
                </a:effectLst>
              </a:rPr>
              <a:t>-1</a:t>
            </a:r>
            <a:r>
              <a:rPr lang="en-US" altLang="zh-CN" dirty="0" smtClean="0">
                <a:solidFill>
                  <a:schemeClr val="tx1"/>
                </a:solidFill>
                <a:effectLst>
                  <a:outerShdw blurRad="38100" dist="19050" dir="2700000" algn="tl" rotWithShape="0">
                    <a:schemeClr val="dk1">
                      <a:alpha val="40000"/>
                    </a:schemeClr>
                  </a:outerShdw>
                </a:effectLst>
              </a:rPr>
              <a:t>(x</a:t>
            </a:r>
            <a:r>
              <a:rPr lang="en-US" altLang="zh-CN" baseline="-25000" dirty="0" smtClean="0">
                <a:solidFill>
                  <a:schemeClr val="tx1"/>
                </a:solidFill>
                <a:effectLst>
                  <a:outerShdw blurRad="38100" dist="19050" dir="2700000" algn="tl" rotWithShape="0">
                    <a:schemeClr val="dk1">
                      <a:alpha val="40000"/>
                    </a:schemeClr>
                  </a:outerShdw>
                </a:effectLst>
              </a:rPr>
              <a:t>i</a:t>
            </a:r>
            <a:r>
              <a:rPr lang="en-US" altLang="zh-CN" dirty="0" smtClean="0">
                <a:solidFill>
                  <a:schemeClr val="tx1"/>
                </a:solidFill>
                <a:effectLst>
                  <a:outerShdw blurRad="38100" dist="19050" dir="2700000" algn="tl" rotWithShape="0">
                    <a:schemeClr val="dk1">
                      <a:alpha val="40000"/>
                    </a:schemeClr>
                  </a:outerShdw>
                </a:effectLst>
              </a:rPr>
              <a:t>)=?				=&gt;</a:t>
            </a:r>
            <a:r>
              <a:rPr lang="zh-CN" altLang="en-US" dirty="0" smtClean="0">
                <a:solidFill>
                  <a:schemeClr val="tx1"/>
                </a:solidFill>
                <a:effectLst>
                  <a:outerShdw blurRad="38100" dist="19050" dir="2700000" algn="tl" rotWithShape="0">
                    <a:schemeClr val="dk1">
                      <a:alpha val="40000"/>
                    </a:schemeClr>
                  </a:outerShdw>
                </a:effectLst>
              </a:rPr>
              <a:t>数组记录</a:t>
            </a:r>
            <a:endParaRPr lang="zh-CN" altLang="en-US"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f(a</a:t>
            </a:r>
            <a:r>
              <a:rPr lang="en-US" altLang="zh-CN" baseline="-25000" dirty="0" smtClean="0">
                <a:solidFill>
                  <a:schemeClr val="tx1"/>
                </a:solidFill>
                <a:effectLst>
                  <a:outerShdw blurRad="38100" dist="19050" dir="2700000" algn="tl" rotWithShape="0">
                    <a:schemeClr val="dk1">
                      <a:alpha val="40000"/>
                    </a:schemeClr>
                  </a:outerShdw>
                </a:effectLst>
              </a:rPr>
              <a:t>i</a:t>
            </a:r>
            <a:r>
              <a:rPr lang="en-US" altLang="zh-CN" dirty="0" smtClean="0">
                <a:solidFill>
                  <a:schemeClr val="tx1"/>
                </a:solidFill>
                <a:effectLst>
                  <a:outerShdw blurRad="38100" dist="19050" dir="2700000" algn="tl" rotWithShape="0">
                    <a:schemeClr val="dk1">
                      <a:alpha val="40000"/>
                    </a:schemeClr>
                  </a:outerShdw>
                </a:effectLst>
              </a:rPr>
              <a:t>)=?  				=&gt;(</a:t>
            </a:r>
            <a:r>
              <a:rPr lang="zh-CN" altLang="en-US" dirty="0" smtClean="0">
                <a:solidFill>
                  <a:schemeClr val="tx1"/>
                </a:solidFill>
                <a:effectLst>
                  <a:outerShdw blurRad="38100" dist="19050" dir="2700000" algn="tl" rotWithShape="0">
                    <a:schemeClr val="dk1">
                      <a:alpha val="40000"/>
                    </a:schemeClr>
                  </a:outerShdw>
                </a:effectLst>
              </a:rPr>
              <a:t>查询</a:t>
            </a:r>
            <a:r>
              <a:rPr lang="en-US" altLang="zh-CN" dirty="0" smtClean="0">
                <a:solidFill>
                  <a:schemeClr val="tx1"/>
                </a:solidFill>
                <a:effectLst>
                  <a:outerShdw blurRad="38100" dist="19050" dir="2700000" algn="tl" rotWithShape="0">
                    <a:schemeClr val="dk1">
                      <a:alpha val="40000"/>
                    </a:schemeClr>
                  </a:outerShdw>
                </a:effectLst>
              </a:rPr>
              <a:t>m</a:t>
            </a:r>
            <a:r>
              <a:rPr lang="zh-CN" altLang="en-US" dirty="0" smtClean="0">
                <a:solidFill>
                  <a:schemeClr val="tx1"/>
                </a:solidFill>
                <a:effectLst>
                  <a:outerShdw blurRad="38100" dist="19050" dir="2700000" algn="tl" rotWithShape="0">
                    <a:schemeClr val="dk1">
                      <a:alpha val="40000"/>
                    </a:schemeClr>
                  </a:outerShdw>
                </a:effectLst>
              </a:rPr>
              <a:t>次</a:t>
            </a:r>
            <a:r>
              <a:rPr lang="en-US" altLang="zh-CN" dirty="0" smtClean="0">
                <a:solidFill>
                  <a:schemeClr val="tx1"/>
                </a:solidFill>
                <a:effectLst>
                  <a:outerShdw blurRad="38100" dist="19050" dir="2700000" algn="tl" rotWithShape="0">
                    <a:schemeClr val="dk1">
                      <a:alpha val="40000"/>
                    </a:schemeClr>
                  </a:outerShdw>
                </a:effectLst>
              </a:rPr>
              <a:t>)</a:t>
            </a:r>
            <a:endParaRPr lang="en-US" altLang="zh-CN" dirty="0" smtClean="0">
              <a:solidFill>
                <a:schemeClr val="tx1"/>
              </a:solidFill>
              <a:effectLst>
                <a:outerShdw blurRad="38100" dist="19050" dir="2700000" algn="tl" rotWithShape="0">
                  <a:schemeClr val="dk1">
                    <a:alpha val="40000"/>
                  </a:schemeClr>
                </a:outerShdw>
              </a:effectLst>
            </a:endParaRPr>
          </a:p>
          <a:p>
            <a:pPr lvl="1"/>
            <a:r>
              <a:rPr lang="zh-CN" altLang="en-US" dirty="0" smtClean="0">
                <a:solidFill>
                  <a:schemeClr val="tx1"/>
                </a:solidFill>
                <a:effectLst>
                  <a:outerShdw blurRad="38100" dist="19050" dir="2700000" algn="tl" rotWithShape="0">
                    <a:schemeClr val="dk1">
                      <a:alpha val="40000"/>
                    </a:schemeClr>
                  </a:outerShdw>
                </a:effectLst>
              </a:rPr>
              <a:t>①数组记录？下标太大，会爆</a:t>
            </a:r>
            <a:endParaRPr lang="zh-CN" altLang="en-US" dirty="0" smtClean="0">
              <a:solidFill>
                <a:schemeClr val="tx1"/>
              </a:solidFill>
              <a:effectLst>
                <a:outerShdw blurRad="38100" dist="19050" dir="2700000" algn="tl" rotWithShape="0">
                  <a:schemeClr val="dk1">
                    <a:alpha val="40000"/>
                  </a:schemeClr>
                </a:outerShdw>
              </a:effectLst>
            </a:endParaRPr>
          </a:p>
          <a:p>
            <a:pPr lvl="1"/>
            <a:r>
              <a:rPr lang="zh-CN" altLang="en-US" dirty="0" smtClean="0">
                <a:solidFill>
                  <a:schemeClr val="tx1"/>
                </a:solidFill>
                <a:effectLst>
                  <a:outerShdw blurRad="38100" dist="19050" dir="2700000" algn="tl" rotWithShape="0">
                    <a:schemeClr val="dk1">
                      <a:alpha val="40000"/>
                    </a:schemeClr>
                  </a:outerShdw>
                </a:effectLst>
              </a:rPr>
              <a:t>②对排序后的数组二分</a:t>
            </a:r>
            <a:r>
              <a:rPr lang="en-US" altLang="zh-CN" dirty="0" smtClean="0">
                <a:solidFill>
                  <a:schemeClr val="tx1"/>
                </a:solidFill>
                <a:effectLst>
                  <a:outerShdw blurRad="38100" dist="19050" dir="2700000" algn="tl" rotWithShape="0">
                    <a:schemeClr val="dk1">
                      <a:alpha val="40000"/>
                    </a:schemeClr>
                  </a:outerShdw>
                </a:effectLst>
              </a:rPr>
              <a:t>? 	mlogn</a:t>
            </a:r>
            <a:endParaRPr lang="en-US" altLang="zh-CN" dirty="0" smtClean="0">
              <a:solidFill>
                <a:schemeClr val="tx1"/>
              </a:solidFill>
              <a:effectLst>
                <a:outerShdw blurRad="38100" dist="19050" dir="2700000" algn="tl" rotWithShape="0">
                  <a:schemeClr val="dk1">
                    <a:alpha val="40000"/>
                  </a:schemeClr>
                </a:outerShdw>
              </a:effectLst>
            </a:endParaRPr>
          </a:p>
          <a:p>
            <a:pPr lvl="1"/>
            <a:r>
              <a:rPr lang="zh-CN" altLang="en-US" dirty="0" smtClean="0">
                <a:solidFill>
                  <a:schemeClr val="tx1"/>
                </a:solidFill>
                <a:effectLst>
                  <a:outerShdw blurRad="38100" dist="19050" dir="2700000" algn="tl" rotWithShape="0">
                    <a:schemeClr val="dk1">
                      <a:alpha val="40000"/>
                    </a:schemeClr>
                  </a:outerShdw>
                </a:effectLst>
              </a:rPr>
              <a:t>③</a:t>
            </a:r>
            <a:r>
              <a:rPr lang="en-US" altLang="zh-CN" dirty="0" smtClean="0">
                <a:solidFill>
                  <a:schemeClr val="tx1"/>
                </a:solidFill>
                <a:effectLst>
                  <a:outerShdw blurRad="38100" dist="19050" dir="2700000" algn="tl" rotWithShape="0">
                    <a:schemeClr val="dk1">
                      <a:alpha val="40000"/>
                    </a:schemeClr>
                  </a:outerShdw>
                </a:effectLst>
              </a:rPr>
              <a:t>hash</a:t>
            </a:r>
            <a:r>
              <a:rPr lang="zh-CN" altLang="en-US" dirty="0" smtClean="0">
                <a:solidFill>
                  <a:schemeClr val="tx1"/>
                </a:solidFill>
                <a:effectLst>
                  <a:outerShdw blurRad="38100" dist="19050" dir="2700000" algn="tl" rotWithShape="0">
                    <a:schemeClr val="dk1">
                      <a:alpha val="40000"/>
                    </a:schemeClr>
                  </a:outerShdw>
                </a:effectLst>
              </a:rPr>
              <a:t>表</a:t>
            </a:r>
            <a:r>
              <a:rPr lang="en-US" altLang="zh-CN" dirty="0" smtClean="0">
                <a:solidFill>
                  <a:schemeClr val="tx1"/>
                </a:solidFill>
                <a:effectLst>
                  <a:outerShdw blurRad="38100" dist="19050" dir="2700000" algn="tl" rotWithShape="0">
                    <a:schemeClr val="dk1">
                      <a:alpha val="40000"/>
                    </a:schemeClr>
                  </a:outerShdw>
                </a:effectLst>
              </a:rPr>
              <a:t>		</a:t>
            </a:r>
            <a:r>
              <a:rPr lang="zh-CN" altLang="en-US" dirty="0" smtClean="0">
                <a:solidFill>
                  <a:schemeClr val="tx1"/>
                </a:solidFill>
                <a:effectLst>
                  <a:outerShdw blurRad="38100" dist="19050" dir="2700000" algn="tl" rotWithShape="0">
                    <a:schemeClr val="dk1">
                      <a:alpha val="40000"/>
                    </a:schemeClr>
                  </a:outerShdw>
                </a:effectLst>
              </a:rPr>
              <a:t>明天会说</a:t>
            </a:r>
            <a:endParaRPr lang="zh-CN" altLang="en-US" dirty="0" smtClean="0">
              <a:solidFill>
                <a:schemeClr val="tx1"/>
              </a:solidFill>
              <a:effectLst>
                <a:outerShdw blurRad="38100" dist="19050" dir="2700000" algn="tl" rotWithShape="0">
                  <a:schemeClr val="dk1">
                    <a:alpha val="40000"/>
                  </a:schemeClr>
                </a:outerShdw>
              </a:effectLst>
            </a:endParaRPr>
          </a:p>
          <a:p>
            <a:pPr lvl="1"/>
            <a:r>
              <a:rPr lang="zh-CN" altLang="en-US" dirty="0" smtClean="0">
                <a:solidFill>
                  <a:schemeClr val="tx1"/>
                </a:solidFill>
                <a:effectLst>
                  <a:outerShdw blurRad="38100" dist="19050" dir="2700000" algn="tl" rotWithShape="0">
                    <a:schemeClr val="dk1">
                      <a:alpha val="40000"/>
                    </a:schemeClr>
                  </a:outerShdw>
                </a:effectLst>
              </a:rPr>
              <a:t>③</a:t>
            </a:r>
            <a:r>
              <a:rPr lang="en-US" altLang="zh-CN" dirty="0" smtClean="0">
                <a:solidFill>
                  <a:schemeClr val="tx1"/>
                </a:solidFill>
                <a:effectLst>
                  <a:outerShdw blurRad="38100" dist="19050" dir="2700000" algn="tl" rotWithShape="0">
                    <a:schemeClr val="dk1">
                      <a:alpha val="40000"/>
                    </a:schemeClr>
                  </a:outerShdw>
                </a:effectLst>
              </a:rPr>
              <a:t>c++ stl map</a:t>
            </a:r>
            <a:endParaRPr lang="en-US" altLang="zh-CN" dirty="0" smtClean="0">
              <a:solidFill>
                <a:schemeClr val="tx1"/>
              </a:solidFill>
              <a:effectLst>
                <a:outerShdw blurRad="38100" dist="19050" dir="2700000" algn="tl" rotWithShape="0">
                  <a:schemeClr val="dk1">
                    <a:alpha val="40000"/>
                  </a:schemeClr>
                </a:outerShdw>
              </a:effectLst>
            </a:endParaRPr>
          </a:p>
          <a:p>
            <a:pPr lvl="1"/>
            <a:endParaRPr lang="zh-CN" altLang="en-US" dirty="0" smtClean="0">
              <a:solidFill>
                <a:schemeClr val="tx1"/>
              </a:solidFill>
              <a:effectLst>
                <a:outerShdw blurRad="38100" dist="19050" dir="2700000" algn="tl" rotWithShape="0">
                  <a:schemeClr val="dk1">
                    <a:alpha val="40000"/>
                  </a:schemeClr>
                </a:outerShdw>
              </a:effectLst>
            </a:endParaRPr>
          </a:p>
          <a:p>
            <a:endParaRPr lang="zh-CN" altLang="en-US" dirty="0" smtClean="0">
              <a:solidFill>
                <a:schemeClr val="tx1"/>
              </a:solidFill>
              <a:effectLst>
                <a:outerShdw blurRad="38100" dist="19050" dir="2700000" algn="tl" rotWithShape="0">
                  <a:schemeClr val="dk1">
                    <a:alpha val="40000"/>
                  </a:schemeClr>
                </a:outerShdw>
              </a:effectLst>
            </a:endParaRPr>
          </a:p>
          <a:p>
            <a:pPr marL="0" indent="0">
              <a:buNone/>
            </a:pPr>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离散化</a:t>
            </a:r>
            <a:endParaRPr lang="zh-CN" altLang="en-US">
              <a:sym typeface="+mn-ea"/>
            </a:endParaRPr>
          </a:p>
        </p:txBody>
      </p:sp>
      <p:sp>
        <p:nvSpPr>
          <p:cNvPr id="3" name="内容占位符 2"/>
          <p:cNvSpPr>
            <a:spLocks noGrp="1"/>
          </p:cNvSpPr>
          <p:nvPr>
            <p:ph idx="1"/>
          </p:nvPr>
        </p:nvSpPr>
        <p:spPr/>
        <p:txBody>
          <a:bodyPr>
            <a:normAutofit lnSpcReduction="10000"/>
          </a:bodyPr>
          <a:lstStyle/>
          <a:p>
            <a:pPr marL="0" indent="0">
              <a:buNone/>
            </a:pPr>
            <a:endParaRPr lang="en-US" altLang="zh-CN" dirty="0" smtClean="0">
              <a:sym typeface="+mn-ea"/>
            </a:endParaRPr>
          </a:p>
          <a:p>
            <a:r>
              <a:rPr lang="en-US" altLang="zh-CN" dirty="0" smtClean="0">
                <a:solidFill>
                  <a:schemeClr val="tx1"/>
                </a:solidFill>
                <a:effectLst>
                  <a:outerShdw blurRad="38100" dist="19050" dir="2700000" algn="tl" rotWithShape="0">
                    <a:schemeClr val="dk1">
                      <a:alpha val="40000"/>
                    </a:schemeClr>
                  </a:outerShdw>
                </a:effectLst>
              </a:rPr>
              <a:t>#include&lt;map&gt;</a:t>
            </a:r>
            <a:endParaRPr lang="en-US" altLang="zh-CN" dirty="0" smtClean="0">
              <a:solidFill>
                <a:schemeClr val="tx1"/>
              </a:solidFill>
              <a:effectLst>
                <a:outerShdw blurRad="38100" dist="19050" dir="2700000" algn="tl" rotWithShape="0">
                  <a:schemeClr val="dk1">
                    <a:alpha val="40000"/>
                  </a:schemeClr>
                </a:outerShdw>
              </a:effectLst>
            </a:endParaRPr>
          </a:p>
          <a:p>
            <a:endParaRPr lang="en-US" altLang="zh-CN"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map&lt;int,int&gt; ma;</a:t>
            </a:r>
            <a:endParaRPr lang="en-US" altLang="zh-CN" dirty="0" smtClean="0">
              <a:solidFill>
                <a:schemeClr val="tx1"/>
              </a:solidFill>
              <a:effectLst>
                <a:outerShdw blurRad="38100" dist="19050" dir="2700000" algn="tl" rotWithShape="0">
                  <a:schemeClr val="dk1">
                    <a:alpha val="40000"/>
                  </a:schemeClr>
                </a:outerShdw>
              </a:effectLst>
            </a:endParaRPr>
          </a:p>
          <a:p>
            <a:endParaRPr lang="en-US" altLang="zh-CN" dirty="0" smtClean="0">
              <a:solidFill>
                <a:schemeClr val="tx1"/>
              </a:solidFill>
              <a:effectLst>
                <a:outerShdw blurRad="38100" dist="19050" dir="2700000" algn="tl" rotWithShape="0">
                  <a:schemeClr val="dk1">
                    <a:alpha val="40000"/>
                  </a:schemeClr>
                </a:outerShdw>
              </a:effectLst>
            </a:endParaRPr>
          </a:p>
          <a:p>
            <a:r>
              <a:rPr lang="en-US" altLang="zh-CN" dirty="0" smtClean="0">
                <a:solidFill>
                  <a:schemeClr val="tx1"/>
                </a:solidFill>
                <a:effectLst>
                  <a:outerShdw blurRad="38100" dist="19050" dir="2700000" algn="tl" rotWithShape="0">
                    <a:schemeClr val="dk1">
                      <a:alpha val="40000"/>
                    </a:schemeClr>
                  </a:outerShdw>
                </a:effectLst>
              </a:rPr>
              <a:t>ma[a</a:t>
            </a:r>
            <a:r>
              <a:rPr lang="en-US" altLang="zh-CN" baseline="-25000" dirty="0" smtClean="0">
                <a:solidFill>
                  <a:schemeClr val="tx1"/>
                </a:solidFill>
                <a:effectLst>
                  <a:outerShdw blurRad="38100" dist="19050" dir="2700000" algn="tl" rotWithShape="0">
                    <a:schemeClr val="dk1">
                      <a:alpha val="40000"/>
                    </a:schemeClr>
                  </a:outerShdw>
                </a:effectLst>
              </a:rPr>
              <a:t>i</a:t>
            </a:r>
            <a:r>
              <a:rPr lang="en-US" altLang="zh-CN" dirty="0" smtClean="0">
                <a:solidFill>
                  <a:schemeClr val="tx1"/>
                </a:solidFill>
                <a:effectLst>
                  <a:outerShdw blurRad="38100" dist="19050" dir="2700000" algn="tl" rotWithShape="0">
                    <a:schemeClr val="dk1">
                      <a:alpha val="40000"/>
                    </a:schemeClr>
                  </a:outerShdw>
                </a:effectLst>
              </a:rPr>
              <a:t>]=x</a:t>
            </a:r>
            <a:r>
              <a:rPr lang="en-US" altLang="zh-CN" baseline="-25000" dirty="0" smtClean="0">
                <a:solidFill>
                  <a:schemeClr val="tx1"/>
                </a:solidFill>
                <a:effectLst>
                  <a:outerShdw blurRad="38100" dist="19050" dir="2700000" algn="tl" rotWithShape="0">
                    <a:schemeClr val="dk1">
                      <a:alpha val="40000"/>
                    </a:schemeClr>
                  </a:outerShdw>
                </a:effectLst>
              </a:rPr>
              <a:t>i</a:t>
            </a:r>
            <a:r>
              <a:rPr lang="en-US" altLang="zh-CN" dirty="0" smtClean="0">
                <a:solidFill>
                  <a:schemeClr val="tx1"/>
                </a:solidFill>
                <a:effectLst>
                  <a:outerShdw blurRad="38100" dist="19050" dir="2700000" algn="tl" rotWithShape="0">
                    <a:schemeClr val="dk1">
                      <a:alpha val="40000"/>
                    </a:schemeClr>
                  </a:outerShdw>
                </a:effectLst>
              </a:rPr>
              <a:t>;</a:t>
            </a:r>
            <a:endParaRPr lang="en-US" altLang="zh-CN" dirty="0" smtClean="0">
              <a:solidFill>
                <a:schemeClr val="tx1"/>
              </a:solidFill>
              <a:effectLst>
                <a:outerShdw blurRad="38100" dist="19050" dir="2700000" algn="tl" rotWithShape="0">
                  <a:schemeClr val="dk1">
                    <a:alpha val="40000"/>
                  </a:schemeClr>
                </a:outerShdw>
              </a:effectLst>
            </a:endParaRPr>
          </a:p>
          <a:p>
            <a:endParaRPr lang="en-US" altLang="zh-CN" dirty="0" smtClean="0">
              <a:effectLst>
                <a:outerShdw blurRad="38100" dist="19050" dir="2700000" algn="tl" rotWithShape="0">
                  <a:schemeClr val="dk1">
                    <a:alpha val="40000"/>
                  </a:schemeClr>
                </a:outerShdw>
              </a:effectLst>
              <a:sym typeface="+mn-ea"/>
            </a:endParaRPr>
          </a:p>
          <a:p>
            <a:r>
              <a:rPr lang="en-US" altLang="zh-CN" dirty="0" smtClean="0">
                <a:effectLst>
                  <a:outerShdw blurRad="38100" dist="19050" dir="2700000" algn="tl" rotWithShape="0">
                    <a:schemeClr val="dk1">
                      <a:alpha val="40000"/>
                    </a:schemeClr>
                  </a:outerShdw>
                </a:effectLst>
                <a:sym typeface="+mn-ea"/>
              </a:rPr>
              <a:t>f(a</a:t>
            </a:r>
            <a:r>
              <a:rPr lang="en-US" altLang="zh-CN" baseline="-25000" dirty="0" smtClean="0">
                <a:effectLst>
                  <a:outerShdw blurRad="38100" dist="19050" dir="2700000" algn="tl" rotWithShape="0">
                    <a:schemeClr val="dk1">
                      <a:alpha val="40000"/>
                    </a:schemeClr>
                  </a:outerShdw>
                </a:effectLst>
                <a:sym typeface="+mn-ea"/>
              </a:rPr>
              <a:t>i</a:t>
            </a:r>
            <a:r>
              <a:rPr lang="en-US" altLang="zh-CN" dirty="0" smtClean="0">
                <a:effectLst>
                  <a:outerShdw blurRad="38100" dist="19050" dir="2700000" algn="tl" rotWithShape="0">
                    <a:schemeClr val="dk1">
                      <a:alpha val="40000"/>
                    </a:schemeClr>
                  </a:outerShdw>
                </a:effectLst>
                <a:sym typeface="+mn-ea"/>
              </a:rPr>
              <a:t>)=? 			=&gt;	ma[a</a:t>
            </a:r>
            <a:r>
              <a:rPr lang="en-US" altLang="zh-CN" baseline="-25000" dirty="0" smtClean="0">
                <a:effectLst>
                  <a:outerShdw blurRad="38100" dist="19050" dir="2700000" algn="tl" rotWithShape="0">
                    <a:schemeClr val="dk1">
                      <a:alpha val="40000"/>
                    </a:schemeClr>
                  </a:outerShdw>
                </a:effectLst>
                <a:sym typeface="+mn-ea"/>
              </a:rPr>
              <a:t>i</a:t>
            </a:r>
            <a:r>
              <a:rPr lang="en-US" altLang="zh-CN" dirty="0" smtClean="0">
                <a:effectLst>
                  <a:outerShdw blurRad="38100" dist="19050" dir="2700000" algn="tl" rotWithShape="0">
                    <a:schemeClr val="dk1">
                      <a:alpha val="40000"/>
                    </a:schemeClr>
                  </a:outerShdw>
                </a:effectLst>
                <a:sym typeface="+mn-ea"/>
              </a:rPr>
              <a:t>]</a:t>
            </a:r>
            <a:endParaRPr lang="zh-CN" altLang="en-US" dirty="0" smtClean="0">
              <a:solidFill>
                <a:schemeClr val="tx1"/>
              </a:solidFill>
              <a:effectLst>
                <a:outerShdw blurRad="38100" dist="19050" dir="2700000" algn="tl" rotWithShape="0">
                  <a:schemeClr val="dk1">
                    <a:alpha val="40000"/>
                  </a:schemeClr>
                </a:outerShdw>
              </a:effectLst>
            </a:endParaRPr>
          </a:p>
          <a:p>
            <a:pPr marL="0" indent="0">
              <a:buNone/>
            </a:pPr>
            <a:endParaRPr lang="zh-CN" altLang="en-US" dirty="0" smtClean="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离子">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0</TotalTime>
  <Words>3870</Words>
  <Application>WPS 演示</Application>
  <PresentationFormat>宽屏</PresentationFormat>
  <Paragraphs>277</Paragraphs>
  <Slides>32</Slides>
  <Notes>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32</vt:i4>
      </vt:variant>
    </vt:vector>
  </HeadingPairs>
  <TitlesOfParts>
    <vt:vector size="44" baseType="lpstr">
      <vt:lpstr>Arial</vt:lpstr>
      <vt:lpstr>宋体</vt:lpstr>
      <vt:lpstr>Wingdings</vt:lpstr>
      <vt:lpstr>Wingdings 3</vt:lpstr>
      <vt:lpstr>Arial</vt:lpstr>
      <vt:lpstr>Century Gothic</vt:lpstr>
      <vt:lpstr>Segoe Print</vt:lpstr>
      <vt:lpstr>微软雅黑</vt:lpstr>
      <vt:lpstr>Arial Unicode MS</vt:lpstr>
      <vt:lpstr>Symbol</vt:lpstr>
      <vt:lpstr>Calibri</vt:lpstr>
      <vt:lpstr>离子</vt:lpstr>
      <vt:lpstr>DAY1		常识、思想</vt:lpstr>
      <vt:lpstr>竞赛基本知识</vt:lpstr>
      <vt:lpstr>赛制</vt:lpstr>
      <vt:lpstr>赛制</vt:lpstr>
      <vt:lpstr>赛制</vt:lpstr>
      <vt:lpstr>提交状态</vt:lpstr>
      <vt:lpstr>时间复杂度</vt:lpstr>
      <vt:lpstr>时间复杂度</vt:lpstr>
      <vt:lpstr>时间复杂度</vt:lpstr>
      <vt:lpstr>时间复杂度</vt:lpstr>
      <vt:lpstr>时间复杂度</vt:lpstr>
      <vt:lpstr>空间复杂度</vt:lpstr>
      <vt:lpstr>空间复杂度</vt:lpstr>
      <vt:lpstr>输入输出</vt:lpstr>
      <vt:lpstr>输入输出</vt:lpstr>
      <vt:lpstr>输入输出</vt:lpstr>
      <vt:lpstr>思想和技巧</vt:lpstr>
      <vt:lpstr>模拟</vt:lpstr>
      <vt:lpstr>暴力</vt:lpstr>
      <vt:lpstr>贪心</vt:lpstr>
      <vt:lpstr>贪心算法原理</vt:lpstr>
      <vt:lpstr>贪心算法设计过程</vt:lpstr>
      <vt:lpstr>Huffman编码</vt:lpstr>
      <vt:lpstr>二分</vt:lpstr>
      <vt:lpstr>二分查找</vt:lpstr>
      <vt:lpstr>二分查找</vt:lpstr>
      <vt:lpstr>二分答案</vt:lpstr>
      <vt:lpstr>三分</vt:lpstr>
      <vt:lpstr>三分过程</vt:lpstr>
      <vt:lpstr>离散化</vt:lpstr>
      <vt:lpstr>离散化</vt:lpstr>
      <vt:lpstr>离散化</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如何做题</dc:title>
  <dc:creator>陈立杰</dc:creator>
  <cp:lastModifiedBy>Administrator</cp:lastModifiedBy>
  <cp:revision>346</cp:revision>
  <dcterms:created xsi:type="dcterms:W3CDTF">2013-05-23T14:29:00Z</dcterms:created>
  <dcterms:modified xsi:type="dcterms:W3CDTF">2018-01-19T18:29:59Z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2052-10.1.0.6877</vt:lpwstr>
  </property>
</Properties>
</file>